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6.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68.xml" ContentType="application/vnd.openxmlformats-officedocument.presentationml.slide+xml"/>
  <Override PartName="/ppt/slides/slide67.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17.xml" ContentType="application/vnd.openxmlformats-officedocument.presentationml.slide+xml"/>
  <Override PartName="/ppt/slides/slide61.xml" ContentType="application/vnd.openxmlformats-officedocument.presentationml.slide+xml"/>
  <Override PartName="/ppt/slides/slide59.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60.xml" ContentType="application/vnd.openxmlformats-officedocument.presentationml.slide+xml"/>
  <Override PartName="/ppt/slides/slide50.xml" ContentType="application/vnd.openxmlformats-officedocument.presentationml.slide+xml"/>
  <Override PartName="/ppt/slides/slide52.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1.xml" ContentType="application/vnd.openxmlformats-officedocument.presentationml.slide+xml"/>
  <Override PartName="/ppt/slides/slide56.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5.xml" ContentType="application/vnd.openxmlformats-officedocument.presentationml.slide+xml"/>
  <Override PartName="/ppt/slideMasters/slideMaster1.xml" ContentType="application/vnd.openxmlformats-officedocument.presentationml.slideMaster+xml"/>
  <Override PartName="/ppt/notesSlides/notesSlide47.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30.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6.xml" ContentType="application/vnd.openxmlformats-officedocument.presentationml.notesSlide+xml"/>
  <Override PartName="/ppt/notesSlides/notesSlide33.xml" ContentType="application/vnd.openxmlformats-officedocument.presentationml.notesSlide+xml"/>
  <Override PartName="/ppt/notesSlides/notesSlide3.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34.xml" ContentType="application/vnd.openxmlformats-officedocument.presentationml.notesSlide+xml"/>
  <Override PartName="/ppt/notesSlides/notesSlide5.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24.xml" ContentType="application/vnd.openxmlformats-officedocument.presentationml.notesSlide+xml"/>
  <Override PartName="/ppt/notesSlides/notesSlide18.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15.xml" ContentType="application/vnd.openxmlformats-officedocument.presentationml.notesSlide+xml"/>
  <Override PartName="/ppt/notesSlides/notesSlide12.xml" ContentType="application/vnd.openxmlformats-officedocument.presentationml.notesSlide+xml"/>
  <Override PartName="/ppt/notesSlides/notesSlide27.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6.xml" ContentType="application/vnd.openxmlformats-officedocument.presentationml.notesSlide+xml"/>
  <Override PartName="/ppt/notesSlides/notesSlide21.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slideLayouts/slideLayout13.xml" ContentType="application/vnd.openxmlformats-officedocument.presentationml.slideLayout+xml"/>
  <Override PartName="/ppt/notesSlides/notesSlide46.xml" ContentType="application/vnd.openxmlformats-officedocument.presentationml.notesSlide+xml"/>
  <Override PartName="/ppt/slideLayouts/slideLayout14.xml" ContentType="application/vnd.openxmlformats-officedocument.presentationml.slideLayout+xml"/>
  <Override PartName="/ppt/slideLayouts/slideLayout3.xml" ContentType="application/vnd.openxmlformats-officedocument.presentationml.slideLayout+xml"/>
  <Override PartName="/ppt/notesSlides/notesSlide45.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notesSlides/notesSlide44.xml" ContentType="application/vnd.openxmlformats-officedocument.presentationml.notesSlide+xml"/>
  <Override PartName="/ppt/slideLayouts/slideLayout15.xml" ContentType="application/vnd.openxmlformats-officedocument.presentationml.slideLayout+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4.xml" ContentType="application/vnd.openxmlformats-officedocument.presentationml.slideLayout+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notesSlides/notesSlide41.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ags/tag40.xml" ContentType="application/vnd.openxmlformats-officedocument.presentationml.tags+xml"/>
  <Override PartName="/ppt/tags/tag11.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12.xml" ContentType="application/vnd.openxmlformats-officedocument.presentationml.tags+xml"/>
  <Override PartName="/ppt/tags/tag8.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3.xml" ContentType="application/vnd.openxmlformats-officedocument.presentationml.tags+xml"/>
  <Override PartName="/ppt/tags/tag18.xml" ContentType="application/vnd.openxmlformats-officedocument.presentationml.tags+xml"/>
  <Override PartName="/ppt/tags/tag6.xml" ContentType="application/vnd.openxmlformats-officedocument.presentationml.tags+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6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7.xml" ContentType="application/vnd.openxmlformats-officedocument.presentationml.tags+xml"/>
  <Override PartName="/ppt/tags/tag19.xml" ContentType="application/vnd.openxmlformats-officedocument.presentationml.tags+xml"/>
  <Override PartName="/ppt/tags/tag58.xml" ContentType="application/vnd.openxmlformats-officedocument.presentationml.tags+xml"/>
  <Override PartName="/ppt/tags/tag32.xml" ContentType="application/vnd.openxmlformats-officedocument.presentationml.tags+xml"/>
  <Override PartName="/ppt/tags/tag45.xml" ContentType="application/vnd.openxmlformats-officedocument.presentationml.tags+xml"/>
  <Override PartName="/ppt/tags/tag31.xml" ContentType="application/vnd.openxmlformats-officedocument.presentationml.tags+xml"/>
  <Override PartName="/ppt/tags/tag30.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29.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34.xml" ContentType="application/vnd.openxmlformats-officedocument.presentationml.tags+xml"/>
  <Override PartName="/ppt/tags/tag38.xml" ContentType="application/vnd.openxmlformats-officedocument.presentationml.tags+xml"/>
  <Override PartName="/ppt/tags/tag41.xml" ContentType="application/vnd.openxmlformats-officedocument.presentationml.tags+xml"/>
  <Override PartName="/ppt/tags/tag37.xml" ContentType="application/vnd.openxmlformats-officedocument.presentationml.tags+xml"/>
  <Override PartName="/ppt/tags/tag42.xml" ContentType="application/vnd.openxmlformats-officedocument.presentationml.tags+xml"/>
  <Override PartName="/ppt/tags/tag36.xml" ContentType="application/vnd.openxmlformats-officedocument.presentationml.tags+xml"/>
  <Override PartName="/ppt/tags/tag35.xml" ContentType="application/vnd.openxmlformats-officedocument.presentationml.tags+xml"/>
  <Override PartName="/ppt/tags/tag43.xml" ContentType="application/vnd.openxmlformats-officedocument.presentationml.tags+xml"/>
  <Override PartName="/ppt/tags/tag48.xml" ContentType="application/vnd.openxmlformats-officedocument.presentationml.tags+xml"/>
  <Override PartName="/ppt/tags/tag28.xml" ContentType="application/vnd.openxmlformats-officedocument.presentationml.tags+xml"/>
  <Override PartName="/ppt/tags/tag27.xml" ContentType="application/vnd.openxmlformats-officedocument.presentationml.tags+xml"/>
  <Override PartName="/ppt/tags/tag54.xml" ContentType="application/vnd.openxmlformats-officedocument.presentationml.tags+xml"/>
  <Override PartName="/ppt/tags/tag21.xml" ContentType="application/vnd.openxmlformats-officedocument.presentationml.tags+xml"/>
  <Override PartName="/ppt/tags/tag55.xml" ContentType="application/vnd.openxmlformats-officedocument.presentationml.tags+xml"/>
  <Override PartName="/ppt/tags/tag20.xml" ContentType="application/vnd.openxmlformats-officedocument.presentationml.tags+xml"/>
  <Override PartName="/ppt/tags/tag56.xml" ContentType="application/vnd.openxmlformats-officedocument.presentationml.tags+xml"/>
  <Override PartName="/ppt/tags/tag39.xml" ContentType="application/vnd.openxmlformats-officedocument.presentationml.tags+xml"/>
  <Override PartName="/ppt/tags/tag57.xml" ContentType="application/vnd.openxmlformats-officedocument.presentationml.tags+xml"/>
  <Override PartName="/ppt/tags/tag22.xml" ContentType="application/vnd.openxmlformats-officedocument.presentationml.tags+xml"/>
  <Override PartName="/ppt/tags/tag53.xml" ContentType="application/vnd.openxmlformats-officedocument.presentationml.tags+xml"/>
  <Override PartName="/ppt/tags/tag23.xml" ContentType="application/vnd.openxmlformats-officedocument.presentationml.tags+xml"/>
  <Override PartName="/ppt/tags/tag49.xml" ContentType="application/vnd.openxmlformats-officedocument.presentationml.tags+xml"/>
  <Override PartName="/ppt/tags/tag26.xml" ContentType="application/vnd.openxmlformats-officedocument.presentationml.tags+xml"/>
  <Override PartName="/ppt/tags/tag50.xml" ContentType="application/vnd.openxmlformats-officedocument.presentationml.tags+xml"/>
  <Override PartName="/ppt/tags/tag25.xml" ContentType="application/vnd.openxmlformats-officedocument.presentationml.tags+xml"/>
  <Override PartName="/ppt/tags/tag51.xml" ContentType="application/vnd.openxmlformats-officedocument.presentationml.tags+xml"/>
  <Override PartName="/ppt/tags/tag24.xml" ContentType="application/vnd.openxmlformats-officedocument.presentationml.tags+xml"/>
  <Override PartName="/ppt/tags/tag52.xml" ContentType="application/vnd.openxmlformats-officedocument.presentationml.tags+xml"/>
  <Override PartName="/ppt/tags/tag59.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80"/>
  </p:notesMasterIdLst>
  <p:handoutMasterIdLst>
    <p:handoutMasterId r:id="rId81"/>
  </p:handoutMasterIdLst>
  <p:sldIdLst>
    <p:sldId id="312" r:id="rId2"/>
    <p:sldId id="327" r:id="rId3"/>
    <p:sldId id="314" r:id="rId4"/>
    <p:sldId id="328" r:id="rId5"/>
    <p:sldId id="341" r:id="rId6"/>
    <p:sldId id="342" r:id="rId7"/>
    <p:sldId id="372" r:id="rId8"/>
    <p:sldId id="343" r:id="rId9"/>
    <p:sldId id="344" r:id="rId10"/>
    <p:sldId id="345" r:id="rId11"/>
    <p:sldId id="346" r:id="rId12"/>
    <p:sldId id="347" r:id="rId13"/>
    <p:sldId id="348" r:id="rId14"/>
    <p:sldId id="349" r:id="rId15"/>
    <p:sldId id="350" r:id="rId16"/>
    <p:sldId id="351" r:id="rId17"/>
    <p:sldId id="352" r:id="rId18"/>
    <p:sldId id="353" r:id="rId19"/>
    <p:sldId id="373" r:id="rId20"/>
    <p:sldId id="374" r:id="rId21"/>
    <p:sldId id="354" r:id="rId22"/>
    <p:sldId id="455" r:id="rId23"/>
    <p:sldId id="356" r:id="rId24"/>
    <p:sldId id="357" r:id="rId25"/>
    <p:sldId id="359" r:id="rId26"/>
    <p:sldId id="376" r:id="rId27"/>
    <p:sldId id="360" r:id="rId28"/>
    <p:sldId id="361" r:id="rId29"/>
    <p:sldId id="377" r:id="rId30"/>
    <p:sldId id="362" r:id="rId31"/>
    <p:sldId id="363" r:id="rId32"/>
    <p:sldId id="378" r:id="rId33"/>
    <p:sldId id="379" r:id="rId34"/>
    <p:sldId id="364" r:id="rId35"/>
    <p:sldId id="365" r:id="rId36"/>
    <p:sldId id="366" r:id="rId37"/>
    <p:sldId id="367" r:id="rId38"/>
    <p:sldId id="431" r:id="rId39"/>
    <p:sldId id="368" r:id="rId40"/>
    <p:sldId id="369" r:id="rId41"/>
    <p:sldId id="423" r:id="rId42"/>
    <p:sldId id="394" r:id="rId43"/>
    <p:sldId id="395" r:id="rId44"/>
    <p:sldId id="446" r:id="rId45"/>
    <p:sldId id="453" r:id="rId46"/>
    <p:sldId id="447" r:id="rId47"/>
    <p:sldId id="448" r:id="rId48"/>
    <p:sldId id="449" r:id="rId49"/>
    <p:sldId id="450" r:id="rId50"/>
    <p:sldId id="454" r:id="rId51"/>
    <p:sldId id="456" r:id="rId52"/>
    <p:sldId id="457" r:id="rId53"/>
    <p:sldId id="458" r:id="rId54"/>
    <p:sldId id="459" r:id="rId55"/>
    <p:sldId id="460" r:id="rId56"/>
    <p:sldId id="461" r:id="rId57"/>
    <p:sldId id="462" r:id="rId58"/>
    <p:sldId id="463" r:id="rId59"/>
    <p:sldId id="464" r:id="rId60"/>
    <p:sldId id="465" r:id="rId61"/>
    <p:sldId id="467" r:id="rId62"/>
    <p:sldId id="468" r:id="rId63"/>
    <p:sldId id="469" r:id="rId64"/>
    <p:sldId id="484" r:id="rId65"/>
    <p:sldId id="470" r:id="rId66"/>
    <p:sldId id="471" r:id="rId67"/>
    <p:sldId id="472" r:id="rId68"/>
    <p:sldId id="473" r:id="rId69"/>
    <p:sldId id="474" r:id="rId70"/>
    <p:sldId id="475" r:id="rId71"/>
    <p:sldId id="476" r:id="rId72"/>
    <p:sldId id="477" r:id="rId73"/>
    <p:sldId id="478" r:id="rId74"/>
    <p:sldId id="479" r:id="rId75"/>
    <p:sldId id="480" r:id="rId76"/>
    <p:sldId id="481" r:id="rId77"/>
    <p:sldId id="482" r:id="rId78"/>
    <p:sldId id="483" r:id="rId79"/>
  </p:sldIdLst>
  <p:sldSz cx="9144000" cy="5143500" type="screen16x9"/>
  <p:notesSz cx="6858000" cy="9144000"/>
  <p:custDataLst>
    <p:tags r:id="rId8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2">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3131"/>
    <a:srgbClr val="CDDDF2"/>
    <a:srgbClr val="E8EFF9"/>
    <a:srgbClr val="339933"/>
    <a:srgbClr val="BA3030"/>
    <a:srgbClr val="8E908F"/>
    <a:srgbClr val="9D9FA2"/>
    <a:srgbClr val="828381"/>
    <a:srgbClr val="A5A6A5"/>
    <a:srgbClr val="71707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07" autoAdjust="0"/>
    <p:restoredTop sz="66977" autoAdjust="0"/>
  </p:normalViewPr>
  <p:slideViewPr>
    <p:cSldViewPr showGuides="1">
      <p:cViewPr varScale="1">
        <p:scale>
          <a:sx n="102" d="100"/>
          <a:sy n="102" d="100"/>
        </p:scale>
        <p:origin x="2172" y="90"/>
      </p:cViewPr>
      <p:guideLst>
        <p:guide orient="horz" pos="912"/>
        <p:guide orient="horz" pos="229"/>
        <p:guide pos="2879"/>
      </p:guideLst>
    </p:cSldViewPr>
  </p:slideViewPr>
  <p:notesTextViewPr>
    <p:cViewPr>
      <p:scale>
        <a:sx n="100" d="100"/>
        <a:sy n="100" d="100"/>
      </p:scale>
      <p:origin x="0" y="0"/>
    </p:cViewPr>
  </p:notesTextViewPr>
  <p:sorterViewPr>
    <p:cViewPr>
      <p:scale>
        <a:sx n="158" d="100"/>
        <a:sy n="158" d="100"/>
      </p:scale>
      <p:origin x="0" y="45876"/>
    </p:cViewPr>
  </p:sorterViewPr>
  <p:notesViewPr>
    <p:cSldViewPr snapToObjects="1" showGuides="1">
      <p:cViewPr varScale="1">
        <p:scale>
          <a:sx n="57" d="100"/>
          <a:sy n="57" d="100"/>
        </p:scale>
        <p:origin x="2808" y="42"/>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89" Type="http://schemas.openxmlformats.org/officeDocument/2006/relationships/customXml" Target="../customXml/item3.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ustomXml" Target="../customXml/item1.xml"/><Relationship Id="rId61" Type="http://schemas.openxmlformats.org/officeDocument/2006/relationships/slide" Target="slides/slide60.xml"/><Relationship Id="rId82" Type="http://schemas.openxmlformats.org/officeDocument/2006/relationships/tags" Target="tags/tag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a:solidFill>
                  <a:srgbClr val="000000"/>
                </a:solidFill>
              </a:rPr>
              <a:t>TITLE</a:t>
            </a: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58333" y="685800"/>
            <a:ext cx="4741333" cy="2667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581400"/>
            <a:ext cx="5943600" cy="526517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p:cNvSpPr txBox="1"/>
          <p:nvPr/>
        </p:nvSpPr>
        <p:spPr>
          <a:xfrm>
            <a:off x="6420403" y="8915400"/>
            <a:ext cx="360997"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en-US" sz="800" smtClean="0"/>
              <a:pPr marL="0" marR="0" indent="0" algn="ctr" defTabSz="457200" rtl="0" eaLnBrk="1" fontAlgn="auto" latinLnBrk="0" hangingPunct="1">
                <a:lnSpc>
                  <a:spcPct val="100000"/>
                </a:lnSpc>
                <a:spcBef>
                  <a:spcPts val="0"/>
                </a:spcBef>
                <a:spcAft>
                  <a:spcPts val="0"/>
                </a:spcAft>
                <a:buClrTx/>
                <a:buSzTx/>
                <a:buFontTx/>
                <a:buNone/>
                <a:tabLst/>
                <a:defRPr/>
              </a:pPr>
              <a:t>‹#›</a:t>
            </a:fld>
            <a:endParaRPr lang="en-US" sz="800" dirty="0"/>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Copyright 2014 EMC Corporation. All rights reserved.</a:t>
            </a:r>
          </a:p>
        </p:txBody>
      </p:sp>
      <p:sp>
        <p:nvSpPr>
          <p:cNvPr id="9" name="Footer Placeholder 5"/>
          <p:cNvSpPr>
            <a:spLocks noGrp="1"/>
          </p:cNvSpPr>
          <p:nvPr>
            <p:ph type="ftr" sz="quarter" idx="4"/>
          </p:nvPr>
        </p:nvSpPr>
        <p:spPr>
          <a:xfrm>
            <a:off x="3124200" y="8980820"/>
            <a:ext cx="3276600" cy="189708"/>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dirty="0"/>
              <a:t>Module: Security</a:t>
            </a:r>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0" dirty="0"/>
              <a:t>This</a:t>
            </a:r>
            <a:r>
              <a:rPr lang="en-US" b="0" baseline="0" dirty="0"/>
              <a:t> module focuses security cross-layer function of </a:t>
            </a:r>
            <a:r>
              <a:rPr lang="en-US" baseline="0" dirty="0"/>
              <a:t>the cloud computing reference model. </a:t>
            </a:r>
            <a:r>
              <a:rPr lang="en-US" b="0" dirty="0"/>
              <a:t>This</a:t>
            </a:r>
            <a:r>
              <a:rPr lang="en-US" b="0" baseline="0" dirty="0"/>
              <a:t> module focuses on key</a:t>
            </a:r>
            <a:r>
              <a:rPr lang="en-US" b="0" dirty="0"/>
              <a:t> </a:t>
            </a:r>
            <a:r>
              <a:rPr lang="en-US" b="0" baseline="0" dirty="0"/>
              <a:t>security threats to a cloud</a:t>
            </a:r>
            <a:r>
              <a:rPr lang="en-US" b="0" dirty="0"/>
              <a:t> infrastructure</a:t>
            </a:r>
            <a:r>
              <a:rPr lang="en-US" b="0" baseline="0" dirty="0"/>
              <a:t>. It focuses on the various security mechanisms that enables the cloud service providers to mitigate these threats.  For Infrastructure security refer Chapter 3 from Page number 35 of textbook written by Tim Mather (54/335). For Data security and storage refer to Chapter 4 from Page number 61 of the same book (80/335).</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710988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Although, cloud computing offers several benefits, such as flexibility, scalability, and agility, </a:t>
            </a:r>
            <a:r>
              <a:rPr lang="en-US" dirty="0">
                <a:solidFill>
                  <a:srgbClr val="FF0000"/>
                </a:solidFill>
              </a:rPr>
              <a:t> </a:t>
            </a:r>
            <a:r>
              <a:rPr lang="en-US" dirty="0"/>
              <a:t>security is one of the key factors that consumers are concerned about while adopting cloud. Therefore, it is important for a service provider to deploy the required security tools and mechanisms to offer a secure cloud environment to their consumers. The fundamental requirements of information security and compliance pertain to both non-cloud and cloud infrastructure management. In both the environments, there are some common security requirements. However, in a cloud environment there are important additional factors, which a service provider must consider, that arise from information ownership, responsibility and accountability for information security, and the cloud infrastructure’s </a:t>
            </a:r>
            <a:r>
              <a:rPr lang="en-US" i="1" dirty="0"/>
              <a:t>multi-tenancy</a:t>
            </a:r>
            <a:r>
              <a:rPr lang="en-US" dirty="0"/>
              <a:t> characteristic.</a:t>
            </a:r>
            <a:r>
              <a:rPr lang="en-US" dirty="0">
                <a:solidFill>
                  <a:srgbClr val="FF0000"/>
                </a:solidFill>
              </a:rPr>
              <a:t> </a:t>
            </a:r>
            <a:r>
              <a:rPr lang="en-US" dirty="0"/>
              <a:t>Therefore, providing secure multi-tenancy is a key requirement for building a cloud infrastructure. </a:t>
            </a:r>
          </a:p>
          <a:p>
            <a:r>
              <a:rPr lang="en-US" dirty="0"/>
              <a:t>Apart from multi-tenancy, cloud infrastructure provides rapid elasticity, a feature rarely found in traditional data centers. Therefore, tools used to provide information security must have the ability to detect newly provisioned resources and integrate with these scaled resources to provide security. Without these capabilities, it is difficult to monitor and manage the security of such an environment. </a:t>
            </a:r>
          </a:p>
          <a:p>
            <a:r>
              <a:rPr lang="en-US" dirty="0"/>
              <a:t>The security mechanisms deployed in the cloud environment not only provide protection to the five layers (physical, virtual, control, service orchestration, and service layers), but it also provides protection to the two cross layer functions (service management and business continuity).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872142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defRPr/>
            </a:pPr>
            <a:r>
              <a:rPr lang="en-US" dirty="0"/>
              <a:t>Today, many organizations (consumers) run their applications in a cloud environment to take advantage of the capabilities discussed throughout this course. As organizations (consumers) adopt cloud, one of the key concerns they have is trust. Trust depends on the degree of control and visibility available to the information’s owner. </a:t>
            </a:r>
          </a:p>
          <a:p>
            <a:pPr>
              <a:defRPr/>
            </a:pPr>
            <a:r>
              <a:rPr lang="en-US" kern="1200" dirty="0">
                <a:effectLst/>
              </a:rPr>
              <a:t>Information is an organization’s most valuable asset. Traditionally, organizations deploy various tools within their infrastructure to protect the asset. These tools must be deployed on various infrastructure assets, such as compute (processes information), storage (stores information), and network (carries information) to protect the information. In a cloud environment, s</a:t>
            </a:r>
            <a:r>
              <a:rPr lang="en-US" dirty="0"/>
              <a:t>ecurity management enables cloud service providers to protect vital information of the consumers stored in the cloud. M</a:t>
            </a:r>
            <a:r>
              <a:rPr lang="en-US" kern="1200" dirty="0">
                <a:effectLst/>
              </a:rPr>
              <a:t>anaging the security of the infrastructure, which is an on-going effort that has become increasingly important for cloud service providers.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Security</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Aft>
                <a:spcPct val="0"/>
              </a:spcAft>
              <a:buClrTx/>
              <a:buSzTx/>
              <a:buFontTx/>
              <a:buNone/>
              <a:tabLst/>
              <a:defRPr/>
            </a:pPr>
            <a:r>
              <a:rPr lang="en-US" sz="1000" i="1" kern="1200" dirty="0">
                <a:solidFill>
                  <a:schemeClr val="tx1"/>
                </a:solidFill>
                <a:effectLst/>
              </a:rPr>
              <a:t>Information security </a:t>
            </a:r>
            <a:r>
              <a:rPr lang="en-US" sz="1000" kern="1200" dirty="0">
                <a:solidFill>
                  <a:schemeClr val="tx1"/>
                </a:solidFill>
                <a:effectLst/>
              </a:rPr>
              <a:t>is a term that includes a set of practices that protect information and information systems from unauthorized access, </a:t>
            </a:r>
            <a:r>
              <a:rPr lang="en-US" sz="1000" kern="1200" dirty="0">
                <a:effectLst/>
              </a:rPr>
              <a:t>use,</a:t>
            </a:r>
            <a:r>
              <a:rPr lang="en-US" sz="1000" kern="1200" dirty="0">
                <a:solidFill>
                  <a:srgbClr val="FF0000"/>
                </a:solidFill>
                <a:effectLst/>
              </a:rPr>
              <a:t> </a:t>
            </a:r>
            <a:r>
              <a:rPr lang="en-US" sz="1000" kern="1200" dirty="0">
                <a:effectLst/>
              </a:rPr>
              <a:t>information disclosure</a:t>
            </a:r>
            <a:r>
              <a:rPr lang="en-US" sz="1000" kern="1200" dirty="0">
                <a:solidFill>
                  <a:schemeClr val="tx1"/>
                </a:solidFill>
                <a:effectLst/>
              </a:rPr>
              <a:t>, disruption, modification, or destruction. </a:t>
            </a:r>
            <a:endParaRPr lang="en-US" dirty="0"/>
          </a:p>
          <a:p>
            <a:pPr marL="0" marR="0" indent="0" algn="l" defTabSz="914400" rtl="0" eaLnBrk="0" fontAlgn="base" latinLnBrk="0" hangingPunct="0">
              <a:lnSpc>
                <a:spcPct val="100000"/>
              </a:lnSpc>
              <a:spcAft>
                <a:spcPct val="0"/>
              </a:spcAft>
              <a:buClrTx/>
              <a:buSzTx/>
              <a:buFontTx/>
              <a:buNone/>
              <a:tabLst/>
              <a:defRPr/>
            </a:pPr>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63748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US" dirty="0"/>
              <a:t>According to the </a:t>
            </a:r>
            <a:r>
              <a:rPr lang="en-US" i="1" dirty="0"/>
              <a:t>Cloud Security Alliance (CSA)</a:t>
            </a:r>
            <a:r>
              <a:rPr lang="en-US" dirty="0"/>
              <a:t> and </a:t>
            </a:r>
            <a:r>
              <a:rPr lang="en-US" i="1" dirty="0"/>
              <a:t>European Network and Information Security Agency (ENISA)</a:t>
            </a:r>
            <a:r>
              <a:rPr lang="en-US" dirty="0"/>
              <a:t>, the key threats in a cloud environment are: data leakage, data loss, account hijacking, insecure APIs, denial of service, malicious insiders, abuse of cloud services, insufficient due diligence, shared technology vulnerabilities, and loss of governance and compliance. Apart from describing these threats, this lesson also recommends various control mechanisms that a cloud service provider must consider while building cloud infrastructure to mitigate the threats.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1291739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i="1" dirty="0"/>
              <a:t>Data leakage</a:t>
            </a:r>
            <a:r>
              <a:rPr lang="en-US" dirty="0"/>
              <a:t> occurs when an unauthorized entity (an attacker) gains access to a cloud consumer’s confidential data stored on the cloud infrastructure. An attacker may gain unauthorized access to consumers’ confidential data in a variety of ways, such as a compromised password database, poor application design, poor segregation of network traffic, poor encryption implementation, or through a malicious insider. Consider an example in which an attacker compromises the database that stores consumers’ passwords. It allows the attacker to impersonate a consumer or other legitimate user, thus exposing the consumer’s data. To mitigate the risk of such data leakage, providers may deploy a multi-factor authentication technique. When multi-factor authentication is used, a compromised password database will expose only a part of the authorization credential set, thus reducing the likelihood of a breach or attack. </a:t>
            </a:r>
          </a:p>
          <a:p>
            <a:r>
              <a:rPr lang="en-US" dirty="0"/>
              <a:t>Consider the example of </a:t>
            </a:r>
            <a:r>
              <a:rPr lang="en-US" i="1" dirty="0"/>
              <a:t>cross-VM side channel attack</a:t>
            </a:r>
            <a:r>
              <a:rPr lang="en-US" dirty="0"/>
              <a:t> to gain access to the consumer’s information. This attack is carried out in two steps: VM placement and information extraction. </a:t>
            </a:r>
          </a:p>
          <a:p>
            <a:pPr marL="228600" lvl="0" indent="-228600">
              <a:buFont typeface="+mj-lt"/>
              <a:buAutoNum type="arabicPeriod"/>
            </a:pPr>
            <a:r>
              <a:rPr lang="en-US" dirty="0"/>
              <a:t>In the VM placement step, a malicious VM is placed on a compute system on which the target virtual machine is running. One of the ways to accomplish that is by creating multiple virtual machines. Due to load balancing techniques employed by the hypervisor, new virtual machines may be placed on different compute systems. The attacker then probes each virtual machine created to identify its neighbors. The process is repeated until the target virtual machine is identified, allowing for the second step to be carried out. </a:t>
            </a:r>
          </a:p>
          <a:p>
            <a:pPr algn="r"/>
            <a:r>
              <a:rPr lang="en-US" dirty="0"/>
              <a:t>(Cont'd)</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1142865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6344"/>
            <a:ext cx="5943600" cy="8375904"/>
          </a:xfrm>
        </p:spPr>
        <p:txBody>
          <a:bodyPr/>
          <a:lstStyle/>
          <a:p>
            <a:pPr marL="228600" lvl="0" indent="-228600">
              <a:buFont typeface="+mj-lt"/>
              <a:buAutoNum type="arabicPeriod" startAt="2"/>
            </a:pPr>
            <a:r>
              <a:rPr lang="en-US" dirty="0"/>
              <a:t>In the information extraction step, information about the target virtual machine is extracted by monitoring activity, such as keystrokes, cache data, and network traffic. This type of attack could reveal information related to a consumers’ critical business activity. The risks associated with this form of attack can be minimized by encrypting data, which reduces the exposure of confidential data of the consumers. </a:t>
            </a:r>
          </a:p>
          <a:p>
            <a:r>
              <a:rPr lang="en-US" dirty="0"/>
              <a:t>Additionally, an attacker may exploit multi-tenancy to gain visibility to the residual data or traces of operations of a consumer. This kind of attack may also provide access to consumer’s confidential information. Further, providers may also use data shredding capability to delete the residual data after a consumer has discontinued a cloud service. Encrypting and shredding data helps to prevent exposure of consumers’ confidential data to an attacker.</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1142865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lvl="1" indent="0">
              <a:spcBef>
                <a:spcPts val="1200"/>
              </a:spcBef>
              <a:buFontTx/>
              <a:buNone/>
              <a:defRPr/>
            </a:pPr>
            <a:r>
              <a:rPr lang="en-US" i="1" dirty="0"/>
              <a:t>Data loss</a:t>
            </a:r>
            <a:r>
              <a:rPr lang="en-US" dirty="0"/>
              <a:t> can occur in the cloud due to various reasons other than malicious attacks. Some of the causes of data loss may include accidental deletion by the provider or destruction resulting from natural disasters. The provider is often responsible for data loss resulting from these causes and appropriate measures such as data backup can reduce the impact of such events. Providers must publish the protection mechanisms deployed to protect the data stored in cloud. Also, providers must ensure appropriate terms and conditions related to data loss and the associated penalties as part of the service contract. The service contract should also include various BC/DR options, such as backup and replication, offered to the consumers.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3018387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Account hijacking refers to a scenario in which an attacker gains access to consumers’ accounts using methods such as phishing or installing keystroke-logging malware on consumers’ virtual machines. </a:t>
            </a:r>
          </a:p>
          <a:p>
            <a:r>
              <a:rPr lang="en-US" i="1" dirty="0"/>
              <a:t>Phishing</a:t>
            </a:r>
            <a:r>
              <a:rPr lang="en-US" dirty="0"/>
              <a:t> is an example of a social engineering attack that is used to deceive users. Phishing attacks are typically carried out by spoofing email – an email with a fake but genuine-appearing address, which provides a link to a website that masquerades as a legitimate website. After opening the website, users are asked to enter details such as their login credentials. These details are then captured by the attacker to take over the user’s account. For example, a consumer may receive an email that is designed to appear as if the provider has sent it. This email may ask the consumer to click the link provided in the email and update their details. After clicking the email, the user is directed to a malicious website where their details are captured.  </a:t>
            </a:r>
          </a:p>
          <a:p>
            <a:r>
              <a:rPr lang="en-US" dirty="0"/>
              <a:t>Another way to gain access to a user’s credentials is by installing keystroke-logging malware. In this attack, the attacker installs malware in the consumer’s virtual machine which captures user credentials and sends them to the attacker. After capturing the credentials, an attacker can use them to gain access to the consumer’s account. The attacker may then eavesdrop on the user’s activities and transactions, manipulate data, return falsified information, and redirect the clients to illegitimate sites. The attacker may also use the identity of the stolen account to launch subsequent attacks. </a:t>
            </a:r>
          </a:p>
          <a:p>
            <a:r>
              <a:rPr lang="en-US" dirty="0"/>
              <a:t>A “man-in-the-middle” attack is another way to hack users’ credentials. In this attack, the attacker eavesdrops—overhears the conversation—on the network channel between the consumer and the VM, and captures the credentials transmitted over the network. Use of multi-factor authentication and </a:t>
            </a:r>
            <a:r>
              <a:rPr lang="en-US" dirty="0" err="1"/>
              <a:t>IPSec</a:t>
            </a:r>
            <a:r>
              <a:rPr lang="en-US" dirty="0"/>
              <a:t>  (a suite of algorithms, protocols, and procedures used for securing IP communications by authenticating and/or encrypting each packet in a data stream) can prevent this type of attack. </a:t>
            </a:r>
          </a:p>
          <a:p>
            <a:r>
              <a:rPr lang="en-US" dirty="0"/>
              <a:t>Intrusion detection and prevention systems and firewalls, which will be discussed later in this module are additional controls that may reduce the risk of such attacks.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375288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4100" y="685800"/>
            <a:ext cx="4745038" cy="2670175"/>
          </a:xfrm>
        </p:spPr>
      </p:sp>
      <p:sp>
        <p:nvSpPr>
          <p:cNvPr id="3" name="Notes Placeholder 2"/>
          <p:cNvSpPr>
            <a:spLocks noGrp="1"/>
          </p:cNvSpPr>
          <p:nvPr>
            <p:ph type="body" idx="1"/>
          </p:nvPr>
        </p:nvSpPr>
        <p:spPr/>
        <p:txBody>
          <a:bodyPr/>
          <a:lstStyle/>
          <a:p>
            <a:r>
              <a:rPr lang="en-US" dirty="0"/>
              <a:t>Application programming interfaces (APIs) are used extensively in cloud infrastructures to perform activities such as resource provisioning, configuration, monitoring, management, and orchestration. These APIs may be open or proprietary. The security of cloud services depends upon the security of these APIs. An attacker may exploit vulnerability in an API to breach a cloud infrastructure’s perimeter and carry out an attack. Therefore, APIs must be designed and developed following security best practices such as requiring authentication and authorization, and avoiding buffer overflows. Security review of the APIs must be performed by providers. Also, access to the APIs must be restricted to authorized users. These practices provide protection against both accidental and malicious attempts to bypass security.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1199547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a:effectLst/>
              </a:rPr>
              <a:t>A </a:t>
            </a:r>
            <a:r>
              <a:rPr lang="en-US" sz="1000" i="1" kern="1200" dirty="0">
                <a:effectLst/>
              </a:rPr>
              <a:t>Denial of Service (</a:t>
            </a:r>
            <a:r>
              <a:rPr lang="en-US" sz="1000" i="1" kern="1200" dirty="0" err="1">
                <a:effectLst/>
              </a:rPr>
              <a:t>DoS</a:t>
            </a:r>
            <a:r>
              <a:rPr lang="en-US" sz="1000" i="1" kern="1200" dirty="0">
                <a:effectLst/>
              </a:rPr>
              <a:t>) </a:t>
            </a:r>
            <a:r>
              <a:rPr lang="en-US" sz="1000" kern="1200" dirty="0">
                <a:solidFill>
                  <a:schemeClr val="tx1"/>
                </a:solidFill>
                <a:effectLst/>
              </a:rPr>
              <a:t>attack prevents legitimate users from accessing resources or services. </a:t>
            </a:r>
            <a:r>
              <a:rPr lang="en-IN" sz="1000" kern="1200" dirty="0" err="1">
                <a:solidFill>
                  <a:schemeClr val="tx1"/>
                </a:solidFill>
                <a:effectLst/>
              </a:rPr>
              <a:t>DoS</a:t>
            </a:r>
            <a:r>
              <a:rPr lang="en-IN" sz="1000" kern="1200" dirty="0">
                <a:solidFill>
                  <a:schemeClr val="tx1"/>
                </a:solidFill>
                <a:effectLst/>
              </a:rPr>
              <a:t> attacks can be targeted against compute systems, networks, or storage resources.  In all cases, the intent of </a:t>
            </a:r>
            <a:r>
              <a:rPr lang="en-IN" sz="1000" kern="1200" dirty="0" err="1">
                <a:solidFill>
                  <a:schemeClr val="tx1"/>
                </a:solidFill>
                <a:effectLst/>
              </a:rPr>
              <a:t>DoS</a:t>
            </a:r>
            <a:r>
              <a:rPr lang="en-IN" sz="1000" kern="1200" dirty="0">
                <a:solidFill>
                  <a:schemeClr val="tx1"/>
                </a:solidFill>
                <a:effectLst/>
              </a:rPr>
              <a:t> is to exhaust key resources, such as network bandwidth or CPU cycles, thereby preventing production use. For example, an attacker may send massive quantities of data to the target with the intention of consuming bandwidth. This prevents legitimate consumers from using the bandwidth. Such an attack may also be carried out by </a:t>
            </a:r>
            <a:r>
              <a:rPr lang="en-IN" sz="1000" kern="1200" dirty="0">
                <a:effectLst/>
              </a:rPr>
              <a:t>exploiting weaknesses of a communications protocol. For example, an attacker may cause </a:t>
            </a:r>
            <a:r>
              <a:rPr lang="en-IN" sz="1000" kern="1200" dirty="0" err="1">
                <a:effectLst/>
              </a:rPr>
              <a:t>DoS</a:t>
            </a:r>
            <a:r>
              <a:rPr lang="en-IN" sz="1000" kern="1200" dirty="0">
                <a:effectLst/>
              </a:rPr>
              <a:t> to a legitimate consumer by resetting TCP sessions or corrupting the DNS server cache. </a:t>
            </a:r>
            <a:endParaRPr lang="en-US" sz="1000" kern="1200" dirty="0">
              <a:effectLst/>
            </a:endParaRPr>
          </a:p>
          <a:p>
            <a:r>
              <a:rPr lang="en-IN" sz="1000" kern="1200" dirty="0">
                <a:solidFill>
                  <a:schemeClr val="tx1"/>
                </a:solidFill>
                <a:effectLst/>
              </a:rPr>
              <a:t>Consider another example of </a:t>
            </a:r>
            <a:r>
              <a:rPr lang="en-IN" sz="1000" kern="1200" dirty="0" err="1">
                <a:solidFill>
                  <a:schemeClr val="tx1"/>
                </a:solidFill>
                <a:effectLst/>
              </a:rPr>
              <a:t>DoS</a:t>
            </a:r>
            <a:r>
              <a:rPr lang="en-IN" sz="1000" kern="1200" dirty="0">
                <a:solidFill>
                  <a:schemeClr val="tx1"/>
                </a:solidFill>
                <a:effectLst/>
              </a:rPr>
              <a:t> attack specific to cloud environments where consumers are billed based on resource utilization.  </a:t>
            </a:r>
            <a:r>
              <a:rPr lang="en-IN" sz="1000" kern="1200" dirty="0">
                <a:effectLst/>
              </a:rPr>
              <a:t>While conducting a network based </a:t>
            </a:r>
            <a:r>
              <a:rPr lang="en-IN" sz="1000" kern="1200" dirty="0" err="1">
                <a:effectLst/>
              </a:rPr>
              <a:t>DoS</a:t>
            </a:r>
            <a:r>
              <a:rPr lang="en-IN" sz="1000" kern="1200" dirty="0">
                <a:effectLst/>
              </a:rPr>
              <a:t> attack to prevent the consumer from using cloud services, the </a:t>
            </a:r>
            <a:r>
              <a:rPr lang="en-US" sz="1000" kern="1200" dirty="0">
                <a:effectLst/>
              </a:rPr>
              <a:t>attacker can consume CPU cycles and storage capacity, resulting in non-productive expenses for the legitimate consumer. Apart from </a:t>
            </a:r>
            <a:r>
              <a:rPr lang="en-US" sz="1000" kern="1200" dirty="0" err="1">
                <a:effectLst/>
              </a:rPr>
              <a:t>DoS</a:t>
            </a:r>
            <a:r>
              <a:rPr lang="en-US" sz="1000" kern="1200" dirty="0">
                <a:effectLst/>
              </a:rPr>
              <a:t> attack, an attacker may also carry out Distributed </a:t>
            </a:r>
            <a:r>
              <a:rPr lang="en-US" sz="1000" kern="1200" dirty="0" err="1">
                <a:effectLst/>
              </a:rPr>
              <a:t>DoS</a:t>
            </a:r>
            <a:r>
              <a:rPr lang="en-US" sz="1000" kern="1200" dirty="0">
                <a:effectLst/>
              </a:rPr>
              <a:t> attack.</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661587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 Distributed </a:t>
            </a:r>
            <a:r>
              <a:rPr lang="en-US" dirty="0" err="1"/>
              <a:t>DoS</a:t>
            </a:r>
            <a:r>
              <a:rPr lang="en-US" dirty="0"/>
              <a:t> (</a:t>
            </a:r>
            <a:r>
              <a:rPr lang="en-US" dirty="0" err="1"/>
              <a:t>DDoS</a:t>
            </a:r>
            <a:r>
              <a:rPr lang="en-US" dirty="0"/>
              <a:t>) attack is a variant of </a:t>
            </a:r>
            <a:r>
              <a:rPr lang="en-US" dirty="0" err="1"/>
              <a:t>DoS</a:t>
            </a:r>
            <a:r>
              <a:rPr lang="en-US" dirty="0"/>
              <a:t> attack in which several systems launch a coordinated, simultaneous </a:t>
            </a:r>
            <a:r>
              <a:rPr lang="en-US" dirty="0" err="1"/>
              <a:t>DoS</a:t>
            </a:r>
            <a:r>
              <a:rPr lang="en-US" dirty="0"/>
              <a:t> attack on their target(s), thereby causing denial of service to the users of the targeted system(s). In a </a:t>
            </a:r>
            <a:r>
              <a:rPr lang="en-US" dirty="0" err="1"/>
              <a:t>DDoS</a:t>
            </a:r>
            <a:r>
              <a:rPr lang="en-US" dirty="0"/>
              <a:t> attack, the attacker is able to multiply the effectiveness of the </a:t>
            </a:r>
            <a:r>
              <a:rPr lang="en-US" dirty="0" err="1"/>
              <a:t>DoS</a:t>
            </a:r>
            <a:r>
              <a:rPr lang="en-US" dirty="0"/>
              <a:t> attack by harnessing the resources of multiple collaborating systems which serve as attack platforms. Typically, a </a:t>
            </a:r>
            <a:r>
              <a:rPr lang="en-US" dirty="0" err="1"/>
              <a:t>DDoS</a:t>
            </a:r>
            <a:r>
              <a:rPr lang="en-US" dirty="0"/>
              <a:t> master program is installed on one compute system. Then, at a designated time, the master program communicates to a number of "agent" programs installed on compute systems. When the agents receive the command, they initiate the attack. </a:t>
            </a:r>
          </a:p>
          <a:p>
            <a:r>
              <a:rPr lang="en-US" dirty="0"/>
              <a:t>The principal control mechanism that can minimize the impact of </a:t>
            </a:r>
            <a:r>
              <a:rPr lang="en-US" dirty="0" err="1"/>
              <a:t>DoS</a:t>
            </a:r>
            <a:r>
              <a:rPr lang="en-US" dirty="0"/>
              <a:t> and </a:t>
            </a:r>
            <a:r>
              <a:rPr lang="en-US" dirty="0" err="1"/>
              <a:t>DDoS</a:t>
            </a:r>
            <a:r>
              <a:rPr lang="en-US" dirty="0"/>
              <a:t> attack is to impose restrictions and limits on network resource consumption. For example, when it is identified that the amount of data being sent from a given IP address exceeds the configured limits, the traffic from that IP address may be blocked. This provides a first line of defense. Further, restrictions and limits may be imposed on resources consumed by each compute system, providing an additional line of defense.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920720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a:effectLst/>
                <a:ea typeface="+mn-ea"/>
                <a:cs typeface="Calibri" panose="020F0502020204030204" pitchFamily="34" charset="0"/>
              </a:rPr>
              <a:t>Today, most cloud service providers are aware of the security threats posed by outsiders. Countermeasures such as firewalls, malware protection software, and intrusion detection systems can minimize the risk of attacks from outsiders. However, these measures do not reduce the risk of attacks from malicious insiders. According to Computer Emergency Response Team (CERT), a </a:t>
            </a:r>
            <a:r>
              <a:rPr lang="en-US" sz="1000" i="1" kern="1200" dirty="0">
                <a:effectLst/>
                <a:ea typeface="+mn-ea"/>
                <a:cs typeface="Calibri" panose="020F0502020204030204" pitchFamily="34" charset="0"/>
              </a:rPr>
              <a:t>malicious insider</a:t>
            </a:r>
            <a:r>
              <a:rPr lang="en-US" sz="1000" kern="1200" dirty="0">
                <a:effectLst/>
                <a:ea typeface="+mn-ea"/>
                <a:cs typeface="Calibri" panose="020F0502020204030204" pitchFamily="34" charset="0"/>
              </a:rPr>
              <a:t> could be a organization’s (cloud service provider’s) current or former employee, contractor, or other business partner who has or had authorized access to a cloud service provider's compute systems, network, or storage. These malicious insiders may intentionally misuse that access in ways that negatively impact the confidentiality (data leakage), integrity, or availability of the cloud service provider’s information or resources.</a:t>
            </a:r>
          </a:p>
          <a:p>
            <a:r>
              <a:rPr lang="en-US" sz="1000" kern="1200" dirty="0">
                <a:effectLst/>
                <a:ea typeface="+mn-ea"/>
                <a:cs typeface="Calibri" panose="020F0502020204030204" pitchFamily="34" charset="0"/>
              </a:rPr>
              <a:t>For example, consider a former employee of a cloud service provider who had access to the cloud resources. This malicious insider may be aware of security weaknesses in that cloud infrastructure. This is a serious threat because the malicious insider may exploit the security weakness and can impact confidentiality, integrity, and availability. Control measures that can minimize the risk due to malicious insiders include strict access control policies, disabling employee accounts immediately after separation from the company, security audit, encryption, and segregation of duties (role-based access control, which is discussed later in this module). Also, a background investigation of a candidate before hiring is another key measure that can reduce the risk due to malicious insiders.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38002287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4100" y="685800"/>
            <a:ext cx="4745038" cy="2670175"/>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US" dirty="0"/>
              <a:t>As discussed throughout this course, cloud computing offers several advantages to service providers and consumers. However, these cloud resources can be misused to perform unauthorized or illicit activities. For example, an attacker might require years to crack an encryption key using a personal compute system. However, the same key might be cracked in minutes or hours by using the extensive computing resources available from a cloud-based infrastructure. Alternately, an attacker may use cloud computing resources to perform illegal activities such as distributing pirated software. This could place providers and consumers in legal jeopardy. These types of threats are difficult to mitigate merely with the help of tools. However, service providers can establish an agreement with consumers that have guidelines for acceptable use of cloud resources.</a:t>
            </a:r>
            <a:endParaRPr lang="en-US" sz="1000" kern="1200" dirty="0">
              <a:effectLst/>
              <a:latin typeface="Calibri" pitchFamily="34" charset="0"/>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42563209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Cloud service provider</a:t>
            </a:r>
            <a:r>
              <a:rPr lang="en-US" baseline="0" dirty="0"/>
              <a:t> should pay due diligence towards u</a:t>
            </a:r>
            <a:r>
              <a:rPr lang="en-US" dirty="0"/>
              <a:t>nderstanding full scope of the undertaking while offering cloud services.</a:t>
            </a:r>
            <a:r>
              <a:rPr lang="en-US" baseline="0" dirty="0"/>
              <a:t> For example, in a hybrid cloud environment, where</a:t>
            </a:r>
            <a:r>
              <a:rPr lang="en-US" dirty="0"/>
              <a:t> cloud service provider connects to one or more cloud infrastructure(s) to leverage their capabilities, complete understanding of operational responsibilities is required. These responsibilities include incident response, encryption, governance, compliance, and security monitoring. Insufficient due diligence towards understanding these responsibilities may increase risk levels. </a:t>
            </a:r>
          </a:p>
          <a:p>
            <a:r>
              <a:rPr lang="en-US" dirty="0"/>
              <a:t>Similarly, understanding operational responsibilities are essential when a service provider may act as a broker by connecting to multiple cloud service providers to integrate their capabilities and offer services to the consumers. For example, if a cloud service broker offers services using resources from multiple cloud service providers that do not meet the security requirements of the consumers may expose consumers’ data to increased risk. This risk can be minimized by thoroughly understanding and evaluating the cloud providers’ services and their terms, ensuring that they provide security controls that can meet the consumer’s security requirements. Further, it is important to understand the consumers’ risk profile to ensure that the risks involved are within acceptable levels. </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2442517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US" dirty="0"/>
              <a:t>Technologies that are used to build a cloud infrastructure provide a multi-tenant environment enabling the sharing of resources. Multi-tenancy is achieved by using mechanisms that provide separation of computing resources such as memory and storage for each consumer. Failure of these mechanisms may expose consumer’s data to other consumers, raising security risks. Compromising a hypervisor is a serious event because it exposes the entire environment to potential attacks.  </a:t>
            </a:r>
            <a:r>
              <a:rPr lang="en-US" i="1" dirty="0" err="1"/>
              <a:t>Hyperjacking</a:t>
            </a:r>
            <a:r>
              <a:rPr lang="en-US" dirty="0"/>
              <a:t> is an example of this type of attack in which the attacker installs a rogue hypervisor that takes control of the compute system. The attacker now can use this hypervisor to run unauthorized virtual machines in the cloud and carry out further attacks.  Detecting this attack is difficult and involves examining components such as program memory and the processor core registers for anomalies. It may be possible to prevent </a:t>
            </a:r>
            <a:r>
              <a:rPr lang="en-US" dirty="0" err="1"/>
              <a:t>hyperjacking</a:t>
            </a:r>
            <a:r>
              <a:rPr lang="en-US" dirty="0"/>
              <a:t> by securing components that are part of the trusted computing base.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876730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Loss of compliance may occur when a cloud service provider or cloud broker does not adhere to, and demonstrating adherence to, external laws and regulations as well as corporate policies and procedures. </a:t>
            </a:r>
          </a:p>
          <a:p>
            <a:r>
              <a:rPr lang="en-US" dirty="0"/>
              <a:t>For example, t</a:t>
            </a:r>
            <a:r>
              <a:rPr lang="en-US" sz="1000" kern="1200" dirty="0">
                <a:solidFill>
                  <a:schemeClr val="tx1"/>
                </a:solidFill>
                <a:effectLst/>
              </a:rPr>
              <a:t>here are regulations </a:t>
            </a:r>
            <a:r>
              <a:rPr lang="en-US" sz="1000" kern="1200" dirty="0">
                <a:effectLst/>
              </a:rPr>
              <a:t>that mandate businesses to </a:t>
            </a:r>
            <a:r>
              <a:rPr lang="en-US" sz="1000" kern="1200" dirty="0">
                <a:solidFill>
                  <a:schemeClr val="tx1"/>
                </a:solidFill>
                <a:effectLst/>
              </a:rPr>
              <a:t>perform vulnerability assessment when dealing with certain types of data. Vulnerability assessment is aimed at discovering potential security vulnerabilities in the environment by “scanning” the compute, storage, and network resources. Payment Card Industry (PCI) compliance is an example that governs the guidelines for handling credit card data. A </a:t>
            </a:r>
            <a:r>
              <a:rPr lang="en-US" dirty="0"/>
              <a:t>cloud broker offers services using resources from multiple cloud service providers may not allow a consumer to perform vulnerability assessment. This is because performing vulnerability assessment may be prohibited by the cloud providers, participating in the broker service, through their contract terms, since any scan employed has the potential to disrupt services to other consumers. </a:t>
            </a:r>
            <a:r>
              <a:rPr lang="en-US" sz="1000" kern="1200" dirty="0">
                <a:solidFill>
                  <a:schemeClr val="tx1"/>
                </a:solidFill>
                <a:effectLst/>
              </a:rPr>
              <a:t>In such a scenario</a:t>
            </a:r>
            <a:r>
              <a:rPr lang="en-US" sz="1000" kern="1200" dirty="0">
                <a:effectLst/>
              </a:rPr>
              <a:t>, the </a:t>
            </a:r>
            <a:r>
              <a:rPr lang="en-US" dirty="0"/>
              <a:t>cloud broker</a:t>
            </a:r>
            <a:r>
              <a:rPr lang="en-US" sz="1000" kern="1200" dirty="0">
                <a:effectLst/>
              </a:rPr>
              <a:t> and consumers have to rely on the results of the vulnerability assessment </a:t>
            </a:r>
            <a:r>
              <a:rPr lang="en-US" sz="1000" kern="1200" dirty="0">
                <a:solidFill>
                  <a:schemeClr val="tx1"/>
                </a:solidFill>
                <a:effectLst/>
              </a:rPr>
              <a:t>performed by the cloud service providers.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043015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effectiveness of governance processes (which determines the purpose, strategy and operational rules by which companies are directed and managed) may be diminished when the cloud provider outsources some or all of its services to third-parties</a:t>
            </a:r>
            <a:r>
              <a:rPr lang="en-US" dirty="0">
                <a:solidFill>
                  <a:srgbClr val="FF0000"/>
                </a:solidFill>
              </a:rPr>
              <a:t>, </a:t>
            </a:r>
            <a:r>
              <a:rPr lang="en-US" dirty="0"/>
              <a:t>including cloud brokers. In such a scenario, provider may not have control over many aspect that have been outsourced and therefore may impact the commitments given by the provider. Also, the security controls of the third-party may change, which may impact the terms and conditions of the provider. Further, if a third party is unable to supply the evidence of meeting the providers' compliance requirements, this may put the provider at risk. </a:t>
            </a:r>
          </a:p>
          <a:p>
            <a:r>
              <a:rPr lang="en-US" dirty="0"/>
              <a:t>To better prepare for the threats discussed in this lesson, cloud service providers deploy various security mechanisms. These security mechanisms are discussed in the following lessons.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887144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 key security threats</a:t>
            </a:r>
            <a:r>
              <a:rPr lang="en-US" baseline="0" dirty="0"/>
              <a:t> in a cloud environment</a:t>
            </a:r>
            <a:r>
              <a:rPr lang="en-US" dirty="0"/>
              <a:t>. These threats are d</a:t>
            </a:r>
            <a:r>
              <a:rPr lang="en-US" baseline="0" dirty="0"/>
              <a:t>ata leakage, data loss, account hijacking, insecure APIs, malicious insiders, denial of service, abuse of cloud services, shared technology vulnerabilities, insufficient due diligence, loss of compliance, and loss of governance.</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Security</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a:t>
            </a:r>
            <a:r>
              <a:rPr lang="en-US" baseline="0" dirty="0"/>
              <a:t> physical security and identity and access management deployed in cloud environment.</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Security</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Any security mechanism should account for three aspects: people, process, and technology, and the relationships among them. Security mechanisms can be administrative or technical. Administrative mechanisms include security and personnel policies or standard procedures to direct the safe execution of various operations. Technical mechanisms are usually implemented through tools or devices deployed on the IT infrastructure.</a:t>
            </a:r>
            <a:endParaRPr lang="en-US" sz="1000" kern="1200" dirty="0">
              <a:solidFill>
                <a:schemeClr val="tx1"/>
              </a:solidFill>
              <a:effectLst/>
            </a:endParaRPr>
          </a:p>
          <a:p>
            <a:r>
              <a:rPr lang="en-US" dirty="0"/>
              <a:t>To protect cloud infrastructure, various technical security mechanisms must be deployed at the compute, network, and storage levels.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87187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6625" cy="2670175"/>
          </a:xfrm>
        </p:spPr>
      </p:sp>
      <p:sp>
        <p:nvSpPr>
          <p:cNvPr id="3" name="Notes Placeholder 2"/>
          <p:cNvSpPr>
            <a:spLocks noGrp="1"/>
          </p:cNvSpPr>
          <p:nvPr>
            <p:ph type="body" idx="1"/>
          </p:nvPr>
        </p:nvSpPr>
        <p:spPr/>
        <p:txBody>
          <a:bodyPr/>
          <a:lstStyle/>
          <a:p>
            <a:r>
              <a:rPr lang="en-US" dirty="0"/>
              <a:t>Physical security is the foundation of any overall IT security strategy. Strict enforcement of policies, processes, and procedures by cloud service providers are critical elements of successful physical security. To secure the cloud infrastructure, the following physical security measures may be deployed: </a:t>
            </a:r>
          </a:p>
          <a:p>
            <a:pPr marL="171450" lvl="0" indent="-171450">
              <a:buFont typeface="Arial" panose="020B0604020202020204" pitchFamily="34" charset="0"/>
              <a:buChar char="•"/>
            </a:pPr>
            <a:r>
              <a:rPr lang="en-US" dirty="0"/>
              <a:t>Disable all unused IT infrastructure devices and ports</a:t>
            </a:r>
          </a:p>
          <a:p>
            <a:pPr marL="171450" lvl="0" indent="-171450">
              <a:buFont typeface="Arial" panose="020B0604020202020204" pitchFamily="34" charset="0"/>
              <a:buChar char="•"/>
            </a:pPr>
            <a:r>
              <a:rPr lang="en-US" dirty="0"/>
              <a:t>24/7/365 onsite security </a:t>
            </a:r>
          </a:p>
          <a:p>
            <a:pPr marL="171450" lvl="0" indent="-171450">
              <a:buFont typeface="Arial" panose="020B0604020202020204" pitchFamily="34" charset="0"/>
              <a:buChar char="•"/>
            </a:pPr>
            <a:r>
              <a:rPr lang="en-US" dirty="0"/>
              <a:t>Biometric or security badge-based authentication to grant access to the facilities</a:t>
            </a:r>
          </a:p>
          <a:p>
            <a:pPr marL="171450" lvl="0" indent="-171450">
              <a:buFont typeface="Arial" panose="020B0604020202020204" pitchFamily="34" charset="0"/>
              <a:buChar char="•"/>
            </a:pPr>
            <a:r>
              <a:rPr lang="en-US" dirty="0"/>
              <a:t>Surveillance cameras [CCTV] to monitor activity throughout the  facility</a:t>
            </a:r>
          </a:p>
          <a:p>
            <a:pPr marL="171450" marR="0" lvl="0" indent="-171450" algn="l" defTabSz="914400" rtl="0" eaLnBrk="0" fontAlgn="base" latinLnBrk="0" hangingPunct="0">
              <a:lnSpc>
                <a:spcPct val="100000"/>
              </a:lnSpc>
              <a:spcAft>
                <a:spcPct val="0"/>
              </a:spcAft>
              <a:buClrTx/>
              <a:buSzTx/>
              <a:buFont typeface="Arial" panose="020B0604020202020204" pitchFamily="34" charset="0"/>
              <a:buChar char="•"/>
              <a:tabLst/>
              <a:defRPr/>
            </a:pPr>
            <a:r>
              <a:rPr lang="en-US" dirty="0"/>
              <a:t>Sensors and alarms to detect motion and fire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40589212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i="1" dirty="0"/>
              <a:t>Identity and access management</a:t>
            </a:r>
            <a:r>
              <a:rPr lang="en-US" dirty="0"/>
              <a:t> is the process of managing consumers’ identifiers and their authentication and authorization to access cloud resources. It also controls access to resources by placing restrictions based on consumer identities. In today’s cloud environment, an organization may collaborate with multiple cloud service providers to access various cloud-based applications. This requires deploying multiple authentication systems to enable the organization to authenticate employees and provide access to cloud-based applications. </a:t>
            </a:r>
          </a:p>
          <a:p>
            <a:r>
              <a:rPr lang="en-US" dirty="0"/>
              <a:t>The cloud environment uses both traditional and new authentication and authorization mechanisms to provide identity and access management. The key traditional authentication and authorization mechanisms deployed in an environment are Windows ACLs, UNIX permissions, Kerberos, and Challenge-Handshake Authentication Protocol (CHAP). Alternatively, the organization can use </a:t>
            </a:r>
            <a:r>
              <a:rPr lang="en-US" i="1" dirty="0"/>
              <a:t>Federated Identity Management (FIM) </a:t>
            </a:r>
            <a:r>
              <a:rPr lang="en-US" dirty="0"/>
              <a:t>for authentication. A federation is an association of organizations and cloud service providers (referred to as trusted parties) that come together to exchange information about their users and resources to enable collaboration. Federation includes the process of managing the trust relationships among the trusted parties beyond internal networks or administrative boundaries.  FIM enables the service providers to offer services without implementing their own authentication system. The organization can choose an identity provider to authenticate their users. This involves exchanging identity attributes between the cloud service provider and the identity provider in a secure way. New identity and access management mechanisms used in cloud include </a:t>
            </a:r>
            <a:r>
              <a:rPr lang="en-US" dirty="0" err="1"/>
              <a:t>OpenID</a:t>
            </a:r>
            <a:r>
              <a:rPr lang="en-US" dirty="0"/>
              <a:t> and </a:t>
            </a:r>
            <a:r>
              <a:rPr lang="en-US" dirty="0" err="1"/>
              <a:t>OAuth</a:t>
            </a:r>
            <a:r>
              <a:rPr lang="en-US" dirty="0"/>
              <a:t>.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40165812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i="1" dirty="0" err="1"/>
              <a:t>OAuth</a:t>
            </a:r>
            <a:r>
              <a:rPr lang="en-US" i="1" dirty="0"/>
              <a:t> </a:t>
            </a:r>
            <a:r>
              <a:rPr lang="en-US" dirty="0"/>
              <a:t>is an open authorization mechanism that allows a client to access protected resources from a resource server on behalf of a resource owner. There are four entities involved in the authorization mechanism: resource owner, resource server, client, and authorization server. A resource owner is an entity capable of granting access to a protected resource. A resource server is the compute system hosting the protected resources, capable of accepting and responding to protected resource requests using access tokens. A client is an application making protected resource requests on behalf of the resource owner with the resource owner’s authorization. An authorization server is the compute system issuing access tokens to the client after successfully authenticating the resource owner and obtaining authorization. The authorization server may be the same server as the resource server or a separate entity. </a:t>
            </a:r>
          </a:p>
          <a:p>
            <a:r>
              <a:rPr lang="en-US" dirty="0"/>
              <a:t>The figure on the slide illustrates the steps involved in </a:t>
            </a:r>
            <a:r>
              <a:rPr lang="en-US" dirty="0" err="1"/>
              <a:t>OAuth</a:t>
            </a:r>
            <a:r>
              <a:rPr lang="en-US" dirty="0"/>
              <a:t> process as described in Request for Comments (RFC) 6749 published by Internet Engineering Task Force (IETF): </a:t>
            </a:r>
          </a:p>
          <a:p>
            <a:pPr marL="228600" indent="-228600">
              <a:buFont typeface="+mj-lt"/>
              <a:buAutoNum type="arabicPeriod"/>
            </a:pPr>
            <a:r>
              <a:rPr lang="en-US" dirty="0"/>
              <a:t>The client requests authorization from the resource owner. The authorization request can be made directly to the resource owner, or indirectly via the authorization server.</a:t>
            </a:r>
          </a:p>
          <a:p>
            <a:pPr marL="228600" indent="-228600">
              <a:buFont typeface="+mj-lt"/>
              <a:buAutoNum type="arabicPeriod"/>
              <a:defRPr/>
            </a:pPr>
            <a:r>
              <a:rPr lang="en-US" dirty="0"/>
              <a:t>The client receives an authorization grant, which is a credential representing the resource owner's authorization to access its protected resources. It is used by the client to obtain an access token. Access tokens are credentials used to access protected resources.  An access token is a string representing an authorization issued to the client.  The string is usually opaque to the client. Tokens represent specific scopes and durations of access, granted by the resource owner, and enforced by the resource server and authorization server.</a:t>
            </a:r>
          </a:p>
          <a:p>
            <a:pPr marL="228600" indent="-228600">
              <a:buFont typeface="+mj-lt"/>
              <a:buAutoNum type="arabicPeriod" startAt="3"/>
            </a:pPr>
            <a:r>
              <a:rPr lang="en-US" dirty="0"/>
              <a:t>The client requests an access token by authenticating with the authorization server and presenting the authorization grant.</a:t>
            </a:r>
          </a:p>
          <a:p>
            <a:pPr algn="r"/>
            <a:r>
              <a:rPr lang="en-US" dirty="0"/>
              <a:t>(Cont'd)</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30891312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6344"/>
            <a:ext cx="5943600" cy="8375904"/>
          </a:xfrm>
        </p:spPr>
        <p:txBody>
          <a:bodyPr/>
          <a:lstStyle/>
          <a:p>
            <a:pPr marL="228600" indent="-228600">
              <a:buFont typeface="+mj-lt"/>
              <a:buAutoNum type="arabicPeriod" startAt="4"/>
            </a:pPr>
            <a:r>
              <a:rPr lang="en-US" dirty="0"/>
              <a:t>The authorization server authenticates the client and validates the authorization grant, and if valid, issues an access token.</a:t>
            </a:r>
          </a:p>
          <a:p>
            <a:pPr marL="228600" indent="-228600">
              <a:buFont typeface="+mj-lt"/>
              <a:buAutoNum type="arabicPeriod" startAt="4"/>
            </a:pPr>
            <a:r>
              <a:rPr lang="en-US" dirty="0"/>
              <a:t>The client requests the protected resource from the resource server and authenticates by presenting the access token. </a:t>
            </a:r>
          </a:p>
          <a:p>
            <a:pPr marL="228600" indent="-228600">
              <a:buFont typeface="+mj-lt"/>
              <a:buAutoNum type="arabicPeriod" startAt="4"/>
            </a:pPr>
            <a:r>
              <a:rPr lang="en-US" dirty="0"/>
              <a:t>The resource server validates the access token, and if valid, serves the request.</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30891312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defRPr/>
            </a:pPr>
            <a:r>
              <a:rPr lang="en-US" i="1" dirty="0"/>
              <a:t>Multi-factor authentication</a:t>
            </a:r>
            <a:r>
              <a:rPr lang="en-US" dirty="0"/>
              <a:t> uses more than one factor to authenticate a user. </a:t>
            </a:r>
            <a:r>
              <a:rPr lang="en-US" sz="1000" kern="1200" dirty="0">
                <a:effectLst/>
              </a:rPr>
              <a:t>A commonly implemented two-factor authentication process requires the user to supply both something he or she </a:t>
            </a:r>
            <a:r>
              <a:rPr lang="en-US" sz="1000" i="1" kern="1200" dirty="0">
                <a:effectLst/>
              </a:rPr>
              <a:t>knows</a:t>
            </a:r>
            <a:r>
              <a:rPr lang="en-US" sz="1000" kern="1200" dirty="0">
                <a:effectLst/>
              </a:rPr>
              <a:t> (such as a password) and also something he or she </a:t>
            </a:r>
            <a:r>
              <a:rPr lang="en-US" sz="1000" i="1" kern="1200" dirty="0">
                <a:effectLst/>
              </a:rPr>
              <a:t>has</a:t>
            </a:r>
            <a:r>
              <a:rPr lang="en-US" sz="1000" kern="1200" dirty="0">
                <a:effectLst/>
              </a:rPr>
              <a:t> (such as a device). The second factor might also be a password generated by a physical device (known as token), which is in the user’s possession. The password generated by the token is valid for a pre-defined time. The token generates another password after the pre-defined time is over. To further enhance the authentication process, additional factors may also be considered. Examples of additional factors that may be used include unique ID number, and user’s past activity. A multi-factor authentication technique may be deployed using any combination of these factors. A user’s access to the environment is granted only when all the required factors are validated.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9188031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Aft>
                <a:spcPct val="0"/>
              </a:spcAft>
              <a:buClrTx/>
              <a:buSzTx/>
              <a:buFontTx/>
              <a:buNone/>
              <a:tabLst/>
              <a:defRPr/>
            </a:pPr>
            <a:r>
              <a:rPr lang="en-US" i="1" dirty="0"/>
              <a:t>Kerberos</a:t>
            </a:r>
            <a:r>
              <a:rPr lang="en-US" dirty="0"/>
              <a:t> is a network authentication protocol, which is designed to provide strong authentication for client/server applications by using secret-key cryptography. It uses cryptography so that a client and server can prove their identity to each other across an insecure network connection. After the client and server have proven their identities, they can choose to encrypt all their communications to ensure privacy and data integrity. In Kerberos, authentications occur between clients and servers. The client gets a ticket for a service and the server decrypts this ticket by using its secret key. Any entity, user, or compute system that gets a service ticket for a Kerberos service is called a Kerberos client. The term Kerberos server generally refers to the Key Distribution Center (KDC). The KDC implements the Authentication Service (AS) and the Ticket Granting Service (TGS). In Kerberos, users and servers for which a secret key is stored in the KDC database are known as principals. The KDC has a copy of every password associated with every principal, so it is absolutely vital that the KDC remain secure.</a:t>
            </a:r>
          </a:p>
          <a:p>
            <a:pPr marL="0" marR="0" indent="0" algn="r" defTabSz="914400" rtl="0" eaLnBrk="0" fontAlgn="base" latinLnBrk="0" hangingPunct="0">
              <a:lnSpc>
                <a:spcPct val="100000"/>
              </a:lnSpc>
              <a:spcAft>
                <a:spcPct val="0"/>
              </a:spcAft>
              <a:buClrTx/>
              <a:buSzTx/>
              <a:buFontTx/>
              <a:buNone/>
              <a:tabLst/>
              <a:defRPr/>
            </a:pPr>
            <a:r>
              <a:rPr lang="en-US" dirty="0"/>
              <a:t>(Cont'd)</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31406313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6344"/>
            <a:ext cx="5943600" cy="8375904"/>
          </a:xfrm>
        </p:spPr>
        <p:txBody>
          <a:bodyPr/>
          <a:lstStyle/>
          <a:p>
            <a:r>
              <a:rPr lang="en-US" dirty="0"/>
              <a:t>Consider an example of NAS environment in which Kerberos is primarily used when authenticating against a Microsoft Active Directory domain, although it can be used to execute security functions in UNIX environments. </a:t>
            </a:r>
          </a:p>
          <a:p>
            <a:r>
              <a:rPr lang="en-US" dirty="0"/>
              <a:t>The Kerberos authorization process includes the following steps:</a:t>
            </a:r>
          </a:p>
          <a:p>
            <a:pPr marL="228600" indent="-228600">
              <a:buFont typeface="+mj-lt"/>
              <a:buAutoNum type="arabicPeriod"/>
            </a:pPr>
            <a:r>
              <a:rPr lang="en-US" dirty="0"/>
              <a:t>The user logs on to the workstation in the AD domain using an ID and a password. The client computer sends a request to the AS running on the KDC for a Kerberos ticket. The KDC verifies the user’s login information from AD (step not shown in the figure).</a:t>
            </a:r>
          </a:p>
          <a:p>
            <a:pPr marL="228600" indent="-228600">
              <a:buFont typeface="+mj-lt"/>
              <a:buAutoNum type="arabicPeriod"/>
            </a:pPr>
            <a:r>
              <a:rPr lang="en-US" dirty="0"/>
              <a:t>The KDC responds with an encrypted Ticket Granting Ticket (TGT) and an encrypted session key. TGT has a limited validity period. TGT can be decrypted only by the KDC, and the client can decrypt only the session key.</a:t>
            </a:r>
          </a:p>
          <a:p>
            <a:pPr marL="228600" indent="-228600">
              <a:buFont typeface="+mj-lt"/>
              <a:buAutoNum type="arabicPeriod"/>
            </a:pPr>
            <a:r>
              <a:rPr lang="en-US" dirty="0"/>
              <a:t>When the client requests a service from a server, it sends a request, consisting of the previously generated TGT, encrypted with the session key and the resource information to the KDC.</a:t>
            </a:r>
          </a:p>
          <a:p>
            <a:pPr marL="228600" indent="-228600">
              <a:buFont typeface="+mj-lt"/>
              <a:buAutoNum type="arabicPeriod"/>
            </a:pPr>
            <a:r>
              <a:rPr lang="en-US" dirty="0"/>
              <a:t>The KDC checks the permissions in AD and ensures that the user is authorized to use that service.</a:t>
            </a:r>
          </a:p>
          <a:p>
            <a:pPr marL="228600" indent="-228600">
              <a:buFont typeface="+mj-lt"/>
              <a:buAutoNum type="arabicPeriod"/>
            </a:pPr>
            <a:r>
              <a:rPr lang="en-US" dirty="0"/>
              <a:t>The KDC returns a service ticket to the client. This service ticket contains fields  addressed to the client and to the server hosting the service.</a:t>
            </a:r>
          </a:p>
          <a:p>
            <a:pPr marL="228600" indent="-228600">
              <a:buFont typeface="+mj-lt"/>
              <a:buAutoNum type="arabicPeriod"/>
            </a:pPr>
            <a:r>
              <a:rPr lang="en-US" dirty="0"/>
              <a:t>The client then sends the service ticket to the server that houses the required resources.</a:t>
            </a:r>
          </a:p>
          <a:p>
            <a:pPr marL="228600" indent="-228600">
              <a:buFont typeface="+mj-lt"/>
              <a:buAutoNum type="arabicPeriod"/>
            </a:pPr>
            <a:r>
              <a:rPr lang="en-US" dirty="0"/>
              <a:t>The server, in this case the NAS device, decrypts the server portion of the ticket and stores the information in a </a:t>
            </a:r>
            <a:r>
              <a:rPr lang="en-US" dirty="0" err="1"/>
              <a:t>keytab</a:t>
            </a:r>
            <a:r>
              <a:rPr lang="en-US" dirty="0"/>
              <a:t> file. As long as the client’s Kerberos ticket is valid, this authorization process does not need to be repeated. The server automatically allows the client to access the appropriate resources.</a:t>
            </a:r>
          </a:p>
          <a:p>
            <a:pPr marL="228600" indent="-228600">
              <a:buFont typeface="+mj-lt"/>
              <a:buAutoNum type="arabicPeriod"/>
            </a:pPr>
            <a:r>
              <a:rPr lang="en-US" dirty="0"/>
              <a:t>A client/server session is now established. The server returns a session ID to the client, which is used to track the client activity as long as the session is active.</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31406313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a:solidFill>
                  <a:schemeClr val="tx1"/>
                </a:solidFill>
                <a:effectLst/>
              </a:rPr>
              <a:t>The Challenge-Handshake Authentication Protocol (CHAP) is a basic authentication me</a:t>
            </a:r>
            <a:r>
              <a:rPr lang="en-US" sz="1000" kern="1200" dirty="0">
                <a:effectLst/>
              </a:rPr>
              <a:t>chanism that has been widely adopted by network devices and compute systems. CHAP provides a method for initiators and targets to authenticate each other by utilizing a secret code or password. CHAP secrets are usually random secrets of 12 to 128 characters. The secret is never exchanged directly over the communication channel</a:t>
            </a:r>
            <a:r>
              <a:rPr lang="en-US" dirty="0"/>
              <a:t>;</a:t>
            </a:r>
            <a:r>
              <a:rPr lang="en-US" sz="1000" kern="1200" dirty="0">
                <a:effectLst/>
              </a:rPr>
              <a:t> rather, a one-way hash function converts it into a hash value, which is then exchanged. A hash function, using the MD5 algorithm, transforms data in such a way that the result is unique and cannot be changed back to its original form. </a:t>
            </a:r>
          </a:p>
          <a:p>
            <a:r>
              <a:rPr lang="en-US" sz="1000" kern="1200" dirty="0">
                <a:effectLst/>
              </a:rPr>
              <a:t>If the initiator requires reverse CHAP authentication, the initiator authenticates the target by using the same procedure. The CHAP secret must be configured on the initiator and the target. A CHAP entry, composed of the name of a node and the secret associated with the node, is maintained by the target and the initiator. The same steps are executed in a two-way CHAP authentication scenario.</a:t>
            </a:r>
          </a:p>
          <a:p>
            <a:r>
              <a:rPr lang="en-US" sz="1000" kern="1200" dirty="0">
                <a:effectLst/>
              </a:rPr>
              <a:t>After these steps are completed, the initiator authenticates the target. If both authentication steps succeed, then data access is allowed. CHAP is often used because it is a fairly simple protocol to implement and can be implemented across a number of disparate systems.</a:t>
            </a:r>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14792118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err="1">
                <a:effectLst/>
              </a:rPr>
              <a:t>OpenID</a:t>
            </a:r>
            <a:r>
              <a:rPr lang="en-US" sz="1000" kern="1200" dirty="0">
                <a:effectLst/>
              </a:rPr>
              <a:t> is an open standard for authentication in which a service provider (known as the relying party) uses authentication services from an </a:t>
            </a:r>
            <a:r>
              <a:rPr lang="en-US" sz="1000" kern="1200" dirty="0" err="1">
                <a:effectLst/>
              </a:rPr>
              <a:t>OpenID</a:t>
            </a:r>
            <a:r>
              <a:rPr lang="en-US" sz="1000" kern="1200" dirty="0">
                <a:effectLst/>
              </a:rPr>
              <a:t> provider (known as the identity provider). An </a:t>
            </a:r>
            <a:r>
              <a:rPr lang="en-US" sz="1000" kern="1200" dirty="0" err="1">
                <a:effectLst/>
              </a:rPr>
              <a:t>OpenID</a:t>
            </a:r>
            <a:r>
              <a:rPr lang="en-US" sz="1000" kern="1200" dirty="0">
                <a:effectLst/>
              </a:rPr>
              <a:t> provider maintains consumers’ credentials on their authentication system and enables relying parties to authenticate consumers requesting the use of the relying party’s services (in this case, a cloud-based service). This eliminates the need for the relying party to deploy their own authentication systems. In the </a:t>
            </a:r>
            <a:r>
              <a:rPr lang="en-US" sz="1000" kern="1200" dirty="0" err="1">
                <a:effectLst/>
              </a:rPr>
              <a:t>OpenID</a:t>
            </a:r>
            <a:r>
              <a:rPr lang="en-US" sz="1000" kern="1200" dirty="0">
                <a:effectLst/>
              </a:rPr>
              <a:t> mechanism, a consumer creates an ID with one of the </a:t>
            </a:r>
            <a:r>
              <a:rPr lang="en-US" sz="1000" kern="1200" dirty="0" err="1">
                <a:effectLst/>
              </a:rPr>
              <a:t>OpenID</a:t>
            </a:r>
            <a:r>
              <a:rPr lang="en-US" sz="1000" kern="1200" dirty="0">
                <a:effectLst/>
              </a:rPr>
              <a:t> providers. This </a:t>
            </a:r>
            <a:r>
              <a:rPr lang="en-US" sz="1000" kern="1200" dirty="0" err="1">
                <a:effectLst/>
              </a:rPr>
              <a:t>OpenID</a:t>
            </a:r>
            <a:r>
              <a:rPr lang="en-US" sz="1000" kern="1200" dirty="0">
                <a:effectLst/>
              </a:rPr>
              <a:t> then can be used to sign-on to any provider (relying party) that accepts Open ID authentication. </a:t>
            </a:r>
          </a:p>
          <a:p>
            <a:r>
              <a:rPr lang="en-US" sz="1000" kern="1200" dirty="0">
                <a:effectLst/>
              </a:rPr>
              <a:t>The figure on the slide illustrates the </a:t>
            </a:r>
            <a:r>
              <a:rPr lang="en-US" sz="1000" kern="1200" dirty="0" err="1">
                <a:effectLst/>
              </a:rPr>
              <a:t>OpenID</a:t>
            </a:r>
            <a:r>
              <a:rPr lang="en-US" sz="1000" kern="1200" dirty="0">
                <a:effectLst/>
              </a:rPr>
              <a:t> concept by considering a consumer who requires services from the relying party. For the consumer to use the services provided by the relying party an identity (user ID and password) is required. The relying party does not provide their own authentication mechanism, however they support </a:t>
            </a:r>
            <a:r>
              <a:rPr lang="en-US" sz="1000" kern="1200" dirty="0" err="1">
                <a:effectLst/>
              </a:rPr>
              <a:t>OpenID</a:t>
            </a:r>
            <a:r>
              <a:rPr lang="en-US" sz="1000" kern="1200" dirty="0">
                <a:effectLst/>
              </a:rPr>
              <a:t> from one or more </a:t>
            </a:r>
            <a:r>
              <a:rPr lang="en-US" sz="1000" kern="1200" dirty="0" err="1">
                <a:effectLst/>
              </a:rPr>
              <a:t>OpenID</a:t>
            </a:r>
            <a:r>
              <a:rPr lang="en-US" sz="1000" kern="1200" dirty="0">
                <a:effectLst/>
              </a:rPr>
              <a:t> providers. The consumer can create an ID with the identity provider and then uses this ID with the relying party. The relying party, after receiving the login request, authenticates it with the help of identity provider and then grants access to the services</a:t>
            </a:r>
            <a:r>
              <a:rPr lang="en-US" sz="1000" kern="1200" dirty="0">
                <a:solidFill>
                  <a:schemeClr val="tx1"/>
                </a:solidFill>
                <a:effectLst/>
              </a:rPr>
              <a:t>.</a:t>
            </a:r>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10682370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a:t>
            </a:r>
            <a:r>
              <a:rPr lang="en-US" baseline="0" dirty="0"/>
              <a:t> </a:t>
            </a:r>
            <a:r>
              <a:rPr lang="en-US" dirty="0"/>
              <a:t>physical security, Windows ACLs, UNIX permissions, </a:t>
            </a:r>
            <a:r>
              <a:rPr lang="en-US" dirty="0" err="1"/>
              <a:t>Oauth</a:t>
            </a:r>
            <a:r>
              <a:rPr lang="en-US" dirty="0"/>
              <a:t>, multi-factor authentication, Kerberos, CHAP,</a:t>
            </a:r>
            <a:r>
              <a:rPr lang="en-US" baseline="0" dirty="0"/>
              <a:t> and </a:t>
            </a:r>
            <a:r>
              <a:rPr lang="en-US" dirty="0" err="1"/>
              <a:t>OpenID</a:t>
            </a:r>
            <a:r>
              <a:rPr lang="en-US" dirty="0"/>
              <a:t>.</a:t>
            </a:r>
            <a:r>
              <a:rPr lang="en-US" baseline="0" dirty="0"/>
              <a:t> </a:t>
            </a:r>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Security</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a:t>
            </a:r>
            <a:r>
              <a:rPr lang="en-US" baseline="0" dirty="0"/>
              <a:t> </a:t>
            </a:r>
            <a:r>
              <a:rPr lang="en-US" dirty="0"/>
              <a:t>role-based access control, network monitoring and analysis, firewall, intrusion detection and prevention system, adaptive security, port binding and fabric binding, virtual private network, virtual LAN, virtual SAN,</a:t>
            </a:r>
            <a:r>
              <a:rPr lang="en-US" baseline="0" dirty="0"/>
              <a:t> </a:t>
            </a:r>
            <a:r>
              <a:rPr lang="en-US" dirty="0"/>
              <a:t>zoning, and </a:t>
            </a:r>
            <a:r>
              <a:rPr lang="en-US" dirty="0" err="1"/>
              <a:t>iSNS</a:t>
            </a:r>
            <a:r>
              <a:rPr lang="en-US" dirty="0"/>
              <a:t> discovery domain </a:t>
            </a:r>
            <a:r>
              <a:rPr lang="en-US" baseline="0" dirty="0"/>
              <a:t>mechanisms deployed in a cloud environment. </a:t>
            </a:r>
          </a:p>
          <a:p>
            <a:pPr marL="171450" indent="-171450">
              <a:buFont typeface="Arial" panose="020B0604020202020204" pitchFamily="34" charset="0"/>
              <a:buChar char="•"/>
            </a:pPr>
            <a:endParaRPr lang="en-US" dirty="0">
              <a:solidFill>
                <a:srgbClr val="FF0000"/>
              </a:solidFill>
            </a:endParaRP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Security</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4732618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i="1" dirty="0"/>
              <a:t>Role-based access control </a:t>
            </a:r>
            <a:r>
              <a:rPr lang="en-US" dirty="0"/>
              <a:t>(RBAC) is an approach to restricting access to authorized users based on their respective roles. A role may represent a job function, for example, a storage administrator. The only privileges assigned to the role are those required to perform the tasks associated with that role. </a:t>
            </a:r>
          </a:p>
          <a:p>
            <a:r>
              <a:rPr lang="en-US" dirty="0"/>
              <a:t>It is advisable to consider administrative controls, such as separation of duties, when defining data center security procedures. Clear separation of duties ensures that no single individual can both specify an action and carry it out. For example, the person who authorizes the creation of administrative accounts should not be the person who uses those accounts.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0209714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Monitoring and analyzing the network are important for the smooth and continuous operation of a cloud infrastructure. Network availability can be compromised by </a:t>
            </a:r>
            <a:r>
              <a:rPr lang="en-US" dirty="0" err="1"/>
              <a:t>DoS</a:t>
            </a:r>
            <a:r>
              <a:rPr lang="en-US" dirty="0"/>
              <a:t> attacks and network device failures. Proactive network monitoring and analysis can detect and prevent network failures or performance problems. </a:t>
            </a:r>
          </a:p>
          <a:p>
            <a:r>
              <a:rPr lang="en-US" dirty="0"/>
              <a:t>Network monitoring can be performed in two ways: active monitoring and passive monitoring. In active monitoring, the monitoring tools transmit data between the two endpoints that are monitored. The measurement includes parameters such as availability, delay, loss, and bandwidth. In passive monitoring, instead of transmitting data and then measuring, information about a link or device is collected by probing the link or device. As the data passes through the link or device, information is captured. This information is then used to analyze, detect, and troubleshoot any issues related to performance, availability, or security. Some of the mechanisms used to monitor, detect, and prevent attacks are firewalls, intrusion detection systems, intrusion prevention systems, and network analysis/forensics systems.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9281538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 </a:t>
            </a:r>
            <a:r>
              <a:rPr lang="en-US" i="1" dirty="0"/>
              <a:t>firewall</a:t>
            </a:r>
            <a:r>
              <a:rPr lang="en-US" dirty="0"/>
              <a:t> is a security mechanism designed to examine data packets traversing a network and compare them to a set of filtering rules. Packets that are not authorized by a filtering rule are dropped and are not allowed to continue to the requested destination. A rule may use various filtering parameters such as source address, destination address, port numbers, and protocols. Some firewalls may support filtering parameters that enable packet inspection for content. These rules can be set for both incoming and outgoing traffic. The effectiveness of a firewall depends on how robustly and extensively the security rules are defined. Firewalls can be deployed at the network, compute system, and hypervisor levels. </a:t>
            </a:r>
          </a:p>
          <a:p>
            <a:r>
              <a:rPr lang="en-US" dirty="0"/>
              <a:t>A network-level firewall is typically used as first line of defense for restricting certain type of traffic from coming in and going out from a network. This type of firewall is typically deployed at the entry point of a cloud’s network. </a:t>
            </a:r>
          </a:p>
          <a:p>
            <a:r>
              <a:rPr lang="en-US" dirty="0"/>
              <a:t>At the compute system-level, a firewall application is installed as second line of defense in a defense-in-depth strategy. This type of firewall provides protection only to the compute system on which it is installed. </a:t>
            </a:r>
          </a:p>
          <a:p>
            <a:r>
              <a:rPr lang="en-US" dirty="0"/>
              <a:t>In a virtualized environment, there is the added complexity of virtual machines running on a smaller number of compute systems. When virtual machines on the same hypervisor communicate with each other over a virtual switch, a network-level firewall cannot filter this traffic. In such situations, a virtual firewall can be used to filter virtual machine traffic. A </a:t>
            </a:r>
            <a:r>
              <a:rPr lang="en-US" i="1" dirty="0"/>
              <a:t>virtual firewall</a:t>
            </a:r>
            <a:r>
              <a:rPr lang="en-US" dirty="0"/>
              <a:t> is a software appliance that runs on a hypervisor to provide traffic filtering service. Virtual firewalls give visibility and control over virtual machine traffic and enforce policies at the virtual machine level. </a:t>
            </a:r>
          </a:p>
          <a:p>
            <a:pPr algn="r"/>
            <a:r>
              <a:rPr lang="en-US" dirty="0"/>
              <a:t>(Cont'd)</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0601748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Compute systems that are most vulnerable to attack are those that connect to an external network such as e-mail servers or web servers. These compute systems are exposed not only to the external network, but also require access to resources such as storage or end-user machines on the internal network. To reduce vulnerability, the exposed compute systems or virtual machines are placed in a demilitarized zone. A </a:t>
            </a:r>
            <a:r>
              <a:rPr lang="en-US" i="1" dirty="0"/>
              <a:t>demilitarized zone</a:t>
            </a:r>
            <a:r>
              <a:rPr lang="en-US" dirty="0"/>
              <a:t> is a mechanism to secure internal assets while allowing Internet-based access to selected resources. In a demilitarized zone environment, servers that need Internet access are placed between two sets of firewalls, as illustrated in the figure on the slide. The servers in the demilitarized zone may or may not be allowed to communicate with internal resources. Application-specific ports such as those designated for HTTP or FTP traffic are allowed through the firewall to the demilitarized zone servers. However, no Internet-based traffic is allowed to go through the second set of firewalls and gain access to the internal network.</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0601748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i="1" dirty="0"/>
              <a:t>Intrusion detection</a:t>
            </a:r>
            <a:r>
              <a:rPr lang="en-US" dirty="0"/>
              <a:t> is the process of detecting events that can compromise the confidentiality, integrity, or availability of IT resources. An </a:t>
            </a:r>
            <a:r>
              <a:rPr lang="en-US" i="1" dirty="0"/>
              <a:t>intrusion detection system (IDS) </a:t>
            </a:r>
            <a:r>
              <a:rPr lang="en-US" dirty="0"/>
              <a:t>is a security tool that automates the detection process. An IDS generates alerts, in case, anomalous activity is detected. An </a:t>
            </a:r>
            <a:r>
              <a:rPr lang="en-US" i="1" dirty="0"/>
              <a:t>intrusion prevention system</a:t>
            </a:r>
            <a:r>
              <a:rPr lang="en-US" dirty="0"/>
              <a:t> </a:t>
            </a:r>
            <a:r>
              <a:rPr lang="en-US" i="1" dirty="0"/>
              <a:t>(IPS)</a:t>
            </a:r>
            <a:r>
              <a:rPr lang="en-US" dirty="0"/>
              <a:t> is a tool that has the capability to stop the events after they have been detected by the IDS. These two mechanisms usually work together and are generally referred to as </a:t>
            </a:r>
            <a:r>
              <a:rPr lang="en-US" i="1" dirty="0"/>
              <a:t>intrusion detection and prevention system (IDPS)</a:t>
            </a:r>
            <a:r>
              <a:rPr lang="en-US" dirty="0"/>
              <a:t>. The key techniques used by an IDPS to identify intrusion in the environment are signature-based and anomaly-based detection. </a:t>
            </a:r>
          </a:p>
          <a:p>
            <a:r>
              <a:rPr lang="en-US" dirty="0"/>
              <a:t>In the </a:t>
            </a:r>
            <a:r>
              <a:rPr lang="en-US" i="1" dirty="0"/>
              <a:t>signature-based detection</a:t>
            </a:r>
            <a:r>
              <a:rPr lang="en-US" dirty="0"/>
              <a:t> technique, the IDPS relies on a database that contains known attack patterns, or signatures, and scans events against it. A signature can be an email with a specific subject or an email attachment with a specific file name that is known to contain a virus. This type of detection is effective only for known threats and is potentially circumvented if an attacker changes the signature (the email subject or the file name in the attachment, in this example). In the </a:t>
            </a:r>
            <a:r>
              <a:rPr lang="en-US" i="1" dirty="0"/>
              <a:t>anomaly-based detection</a:t>
            </a:r>
            <a:r>
              <a:rPr lang="en-US" dirty="0"/>
              <a:t> technique, the IDPS scans and analyzes events to determine whether they are statistically different from events normally occurring in the system. This technique can detect various events such as multiple login failures, excessive process failure, excessive network bandwidth consumed by an activity, or an unusual number of emails sent by a user, which could signify an attack is taking place.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34084343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IDPS can be deployed at the compute system, network, or hypervisor levels. A </a:t>
            </a:r>
            <a:r>
              <a:rPr lang="en-US" i="1" dirty="0"/>
              <a:t>compute system-based IDPS</a:t>
            </a:r>
            <a:r>
              <a:rPr lang="en-US" dirty="0"/>
              <a:t> analyzes activity that includes system logs, running processes, application activities, file access and modification, and system and application configuration changes.  Because IDPS software and malicious programs might be running on the same compute system, compute system-based IDPS is less isolated from attacks. In this scenario, the malicious program first attacks and disables IDPS and then carries out the main attack. </a:t>
            </a:r>
          </a:p>
          <a:p>
            <a:r>
              <a:rPr lang="en-US" dirty="0"/>
              <a:t>A </a:t>
            </a:r>
            <a:r>
              <a:rPr lang="en-US" i="1" dirty="0"/>
              <a:t>network-based IDPS</a:t>
            </a:r>
            <a:r>
              <a:rPr lang="en-US" b="1" dirty="0"/>
              <a:t> </a:t>
            </a:r>
            <a:r>
              <a:rPr lang="en-US" dirty="0"/>
              <a:t>monitors network traffic and network devices. It also analyzes network and application protocols behavior for unusual activities. Network-based IDPS resides on the network in the form of an appliance or software installed on a dedicated compute system, and is usually isolated from malicious applications on the compute systems. After a network-based IDPS detects an anomaly, it stops the suspicious activity by dropping the packets or blocking ports. Since a network-based IDPS operates at the network level, it cannot monitor activities happening within the compute system. </a:t>
            </a:r>
          </a:p>
          <a:p>
            <a:r>
              <a:rPr lang="en-US" dirty="0"/>
              <a:t>A </a:t>
            </a:r>
            <a:r>
              <a:rPr lang="en-US" i="1" dirty="0"/>
              <a:t>hypervisor-based IDPS</a:t>
            </a:r>
            <a:r>
              <a:rPr lang="en-US" dirty="0"/>
              <a:t> is deployed at the hypervisor level. In this type of IDPS, detection policies are typically kernel-specific. Any anomaly detected in the kernel is immediately alerted or corrected depending on the specific IDPS configuration. Hypervisor-based IDPS is typically deployed in a cloud environment.</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34969267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security hypervisor and management server, virtual machine hardening, securing operating system and applications, LUN masking, data encryption, and data shredding </a:t>
            </a:r>
            <a:r>
              <a:rPr lang="en-US" baseline="0" dirty="0"/>
              <a:t>mechanisms deployed in a cloud environment</a:t>
            </a:r>
            <a:r>
              <a:rPr lang="en-US" dirty="0"/>
              <a: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Security</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i="1" dirty="0"/>
              <a:t>Data encryption</a:t>
            </a:r>
            <a:r>
              <a:rPr lang="en-US" dirty="0"/>
              <a:t> is a cryptographic technique in which data is encoded and made indecipherable to eavesdroppers or hackers. Data encryption is one of the most important mechanisms for securing data in-flight and at-rest. </a:t>
            </a:r>
            <a:r>
              <a:rPr lang="en-US" i="1" dirty="0"/>
              <a:t>Data in-flight</a:t>
            </a:r>
            <a:r>
              <a:rPr lang="en-US" dirty="0"/>
              <a:t> refers to data that is being transferred over a network and </a:t>
            </a:r>
            <a:r>
              <a:rPr lang="en-US" i="1" dirty="0"/>
              <a:t>data at-rest</a:t>
            </a:r>
            <a:r>
              <a:rPr lang="en-US" dirty="0"/>
              <a:t> refers to data that is stored on a storage medium. Data encryption provides protection from threats such as tampering with data which violates data integrity, media theft which compromises data availability, and confidentiality and sniffing attacks which compromise confidentiality. </a:t>
            </a:r>
          </a:p>
          <a:p>
            <a:r>
              <a:rPr lang="en-US" dirty="0"/>
              <a:t>Data should be encrypted as close to its origin as possible. If it is not possible to perform encryption on the compute system, an encryption appliance can be used for encrypting data at the point of entry into the storage network. Encryption devices can be implemented on the fabric to encrypt data between the compute system and the storage media. These mechanisms can protect both the data at-rest on the destination device and data in-transit. Encryption can also be deployed at the storage-level, which can encrypt data-at-rest. </a:t>
            </a:r>
          </a:p>
          <a:p>
            <a:r>
              <a:rPr lang="en-US" dirty="0"/>
              <a:t>Another way to encrypt network traffic is to use cryptographic protocols such as Transport Layer Security (TLS) which is a successor to Secure Socket Layer (SSL). These are application layer protocols and provide an encrypted connection for client-server communication. These protocols are designed to prevent eavesdropping and tampering of data on the connection over which it is being transmitted. </a:t>
            </a:r>
          </a:p>
          <a:p>
            <a:r>
              <a:rPr lang="en-US" dirty="0"/>
              <a:t>Some cloud providers may perform data mining and analytics on consumers’ data so that they can offer new services to them based on their usage and nature of data. However, this may cause consumers to be concerned about the loss of confidentiality of their data, even if the cloud provider does not misuse the data. Therefore, a provider may offer data encryption capability to protect consumers’ data.</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26189472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i="1" dirty="0"/>
              <a:t>Data shredding</a:t>
            </a:r>
            <a:r>
              <a:rPr lang="en-US" dirty="0"/>
              <a:t> is the process of deleting data or residual representations (sometimes called </a:t>
            </a:r>
            <a:r>
              <a:rPr lang="en-US" i="1" dirty="0" err="1"/>
              <a:t>remanence</a:t>
            </a:r>
            <a:r>
              <a:rPr lang="en-US" dirty="0"/>
              <a:t>) of data and making it unrecoverable.  Typically, when data is deleted, it is not made unrecoverable from the storage and an attacker may use specialized tools to recover it. The threat of unauthorized data recovery is greater in the cloud environment as consumers do not have control over cloud resources. After consumers discontinue the cloud service, their data or residual representations may still reside in the cloud infrastructure. An attacker may perform unauthorized recovery of consumers’ data to gain confidential information. </a:t>
            </a:r>
          </a:p>
          <a:p>
            <a:r>
              <a:rPr lang="en-US" dirty="0"/>
              <a:t>Cloud service providers can deploy data shredding mechanisms in the cloud infrastructure to protect from loss of confidentiality of consumers’ data. Data may be stored on disks or on tapes. Techniques to shred data stored on tape include overwriting it with invalid data, degaussing the media (a process of decreasing or eliminating the magnetic field), and physically destroying the tape. Data stored on disk or flash drives can be shredded by using algorithms that overwrite the disks several times with invalid data. </a:t>
            </a:r>
          </a:p>
          <a:p>
            <a:r>
              <a:rPr lang="en-US" dirty="0"/>
              <a:t>Cloud service providers may create multiple copies (backups and replicas) of consumer’s data at multiple locations as part of business continuity and disaster recovery strategy. Therefore, cloud service providers must deploy data shredding mechanism at all location to ensure that all the copies are shred.</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dirty="0"/>
              <a:t>Module: Security</a:t>
            </a:r>
          </a:p>
        </p:txBody>
      </p:sp>
    </p:spTree>
    <p:extLst>
      <p:ext uri="{BB962C8B-B14F-4D97-AF65-F5344CB8AC3E}">
        <p14:creationId xmlns:p14="http://schemas.microsoft.com/office/powerpoint/2010/main" val="37433246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a:defRPr/>
            </a:pPr>
            <a:r>
              <a:rPr lang="en-US" smtClean="0"/>
              <a:t>Module: Security</a:t>
            </a:r>
            <a:endParaRPr lang="en-US" dirty="0"/>
          </a:p>
        </p:txBody>
      </p:sp>
    </p:spTree>
    <p:extLst>
      <p:ext uri="{BB962C8B-B14F-4D97-AF65-F5344CB8AC3E}">
        <p14:creationId xmlns:p14="http://schemas.microsoft.com/office/powerpoint/2010/main" val="24678990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a:defRPr/>
            </a:pPr>
            <a:r>
              <a:rPr lang="en-US" smtClean="0"/>
              <a:t>Module: Security</a:t>
            </a:r>
            <a:endParaRPr lang="en-US" dirty="0"/>
          </a:p>
        </p:txBody>
      </p:sp>
    </p:spTree>
    <p:extLst>
      <p:ext uri="{BB962C8B-B14F-4D97-AF65-F5344CB8AC3E}">
        <p14:creationId xmlns:p14="http://schemas.microsoft.com/office/powerpoint/2010/main" val="25477029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a:defRPr/>
            </a:pPr>
            <a:r>
              <a:rPr lang="en-US" smtClean="0"/>
              <a:t>Module: Security</a:t>
            </a:r>
            <a:endParaRPr lang="en-US" dirty="0"/>
          </a:p>
        </p:txBody>
      </p:sp>
    </p:spTree>
    <p:extLst>
      <p:ext uri="{BB962C8B-B14F-4D97-AF65-F5344CB8AC3E}">
        <p14:creationId xmlns:p14="http://schemas.microsoft.com/office/powerpoint/2010/main" val="5728756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a:defRPr/>
            </a:pPr>
            <a:r>
              <a:rPr lang="en-US" smtClean="0"/>
              <a:t>Module: Security</a:t>
            </a:r>
            <a:endParaRPr lang="en-US" dirty="0"/>
          </a:p>
        </p:txBody>
      </p:sp>
    </p:spTree>
    <p:extLst>
      <p:ext uri="{BB962C8B-B14F-4D97-AF65-F5344CB8AC3E}">
        <p14:creationId xmlns:p14="http://schemas.microsoft.com/office/powerpoint/2010/main" val="32544397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pPr>
              <a:defRPr/>
            </a:pPr>
            <a:r>
              <a:rPr lang="en-US" smtClean="0"/>
              <a:t>Module: Security</a:t>
            </a:r>
            <a:endParaRPr lang="en-US" dirty="0"/>
          </a:p>
        </p:txBody>
      </p:sp>
    </p:spTree>
    <p:extLst>
      <p:ext uri="{BB962C8B-B14F-4D97-AF65-F5344CB8AC3E}">
        <p14:creationId xmlns:p14="http://schemas.microsoft.com/office/powerpoint/2010/main" val="18607822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dirty="0"/>
              <a:t>Click to edit Master title style</a:t>
            </a:r>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a:t>Click to edit Master title style</a:t>
            </a:r>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Module Objectives and Summary">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a:t>Click to edit Master title style</a:t>
            </a:r>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Lesson Topics and Summary">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a:t>Click to edit Master title style</a:t>
            </a:r>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a:t>Click to edit Master title style</a:t>
            </a:r>
          </a:p>
        </p:txBody>
      </p:sp>
      <p:sp>
        <p:nvSpPr>
          <p:cNvPr id="6"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a:t>Click to edit Master title style</a:t>
            </a:r>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a:t>Click to edit Master title style</a:t>
            </a:r>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a:t>Click to edit Master title style</a:t>
            </a:r>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a:t>Click to edit Master title style</a:t>
            </a:r>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a:t>Click to edit Master title style</a:t>
            </a:r>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18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0"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a:t>Click to edit Master title style</a:t>
            </a:r>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2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dirty="0"/>
              <a:t>Click to edit Master title style</a:t>
            </a:r>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a:t>Click to edit Master title style</a:t>
            </a:r>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a:t>Click to edit Master title style</a:t>
            </a:r>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lide left blank">
    <p:spTree>
      <p:nvGrpSpPr>
        <p:cNvPr id="1" name=""/>
        <p:cNvGrpSpPr/>
        <p:nvPr/>
      </p:nvGrpSpPr>
      <p:grpSpPr>
        <a:xfrm>
          <a:off x="0" y="0"/>
          <a:ext cx="0" cy="0"/>
          <a:chOff x="0" y="0"/>
          <a:chExt cx="0" cy="0"/>
        </a:xfrm>
      </p:grpSpPr>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en-US" sz="1800" dirty="0">
                <a:solidFill>
                  <a:schemeClr val="tx1"/>
                </a:solidFill>
              </a:rPr>
              <a:t>This slide intentionally left blank.</a:t>
            </a:r>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dirty="0"/>
              <a:t>Module: Security</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801100" y="503304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en-US" smtClean="0">
                <a:solidFill>
                  <a:schemeClr val="bg2"/>
                </a:solidFill>
              </a:rPr>
              <a:pPr lvl="0" algn="r"/>
              <a:t>‹#›</a:t>
            </a:fld>
            <a:endParaRPr lang="en-US" dirty="0">
              <a:solidFill>
                <a:schemeClr val="bg2"/>
              </a:solidFill>
            </a:endParaRPr>
          </a:p>
        </p:txBody>
      </p:sp>
    </p:spTree>
    <p:custDataLst>
      <p:tags r:id="rId18"/>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1" r:id="rId15"/>
    <p:sldLayoutId id="2147483768" r:id="rId16"/>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3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4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3.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44.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45.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4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5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1.xml"/><Relationship Id="rId1" Type="http://schemas.openxmlformats.org/officeDocument/2006/relationships/tags" Target="../tags/tag5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55.xml"/><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ags" Target="../tags/tag5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5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www.geeksforgeeks.org/advanced-encryption-standard-aes/"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Module: Security</a:t>
            </a:r>
          </a:p>
        </p:txBody>
      </p:sp>
      <p:sp>
        <p:nvSpPr>
          <p:cNvPr id="5" name="Content Placeholder 4"/>
          <p:cNvSpPr>
            <a:spLocks noGrp="1"/>
          </p:cNvSpPr>
          <p:nvPr>
            <p:ph sz="quarter" idx="10"/>
          </p:nvPr>
        </p:nvSpPr>
        <p:spPr/>
        <p:txBody>
          <a:bodyPr/>
          <a:lstStyle/>
          <a:p>
            <a:pPr marL="0" indent="0">
              <a:buNone/>
              <a:defRPr/>
            </a:pPr>
            <a:r>
              <a:rPr lang="en-US" dirty="0"/>
              <a:t>Upon completion of this module, you should be able to:</a:t>
            </a:r>
          </a:p>
          <a:p>
            <a:pPr>
              <a:defRPr/>
            </a:pPr>
            <a:r>
              <a:rPr lang="en-US" dirty="0"/>
              <a:t>Describe key security threats in the cloud</a:t>
            </a:r>
          </a:p>
          <a:p>
            <a:pPr>
              <a:defRPr/>
            </a:pPr>
            <a:r>
              <a:rPr lang="en-US" dirty="0"/>
              <a:t>Discuss key security mechanisms deployed in the cloud</a:t>
            </a:r>
          </a:p>
          <a:p>
            <a:pPr>
              <a:defRPr/>
            </a:pPr>
            <a:r>
              <a:rPr lang="en-US" dirty="0"/>
              <a:t>Describe infrastructure security(network, host, application)</a:t>
            </a:r>
          </a:p>
          <a:p>
            <a:pPr>
              <a:defRPr/>
            </a:pPr>
            <a:r>
              <a:rPr lang="en-US" dirty="0"/>
              <a:t>Discuss data security and storage</a:t>
            </a:r>
          </a:p>
        </p:txBody>
      </p:sp>
      <p:sp>
        <p:nvSpPr>
          <p:cNvPr id="2" name="Footer Placeholder 1"/>
          <p:cNvSpPr>
            <a:spLocks noGrp="1"/>
          </p:cNvSpPr>
          <p:nvPr>
            <p:ph type="ftr" sz="quarter" idx="3"/>
          </p:nvPr>
        </p:nvSpPr>
        <p:spPr>
          <a:prstGeom prst="rect">
            <a:avLst/>
          </a:prstGeom>
        </p:spPr>
        <p:txBody>
          <a:bodyPr/>
          <a:lstStyle/>
          <a:p>
            <a:pPr algn="r"/>
            <a:r>
              <a:rPr lang="en-US" dirty="0"/>
              <a:t>Module: Security</a:t>
            </a:r>
          </a:p>
        </p:txBody>
      </p:sp>
    </p:spTree>
    <p:custDataLst>
      <p:tags r:id="rId1"/>
    </p:custDataLst>
    <p:extLst>
      <p:ext uri="{BB962C8B-B14F-4D97-AF65-F5344CB8AC3E}">
        <p14:creationId xmlns:p14="http://schemas.microsoft.com/office/powerpoint/2010/main" val="3776540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7" name="Picture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7320" y="1280160"/>
            <a:ext cx="6309360" cy="356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a:t>Cloud Computing Reference Model</a:t>
            </a:r>
          </a:p>
        </p:txBody>
      </p:sp>
      <p:sp>
        <p:nvSpPr>
          <p:cNvPr id="6" name="Subtitle 2"/>
          <p:cNvSpPr txBox="1">
            <a:spLocks/>
          </p:cNvSpPr>
          <p:nvPr/>
        </p:nvSpPr>
        <p:spPr>
          <a:xfrm>
            <a:off x="379413" y="703000"/>
            <a:ext cx="8449733" cy="302417"/>
          </a:xfrm>
          <a:prstGeom prst="rect">
            <a:avLst/>
          </a:prstGeom>
        </p:spPr>
        <p:txBody>
          <a:bodyPr lIns="0" tIns="0" rIns="0" bIns="0"/>
          <a:lstStyle>
            <a:lvl1pPr marL="0" indent="0" algn="l" defTabSz="457200" rtl="0" eaLnBrk="1" latinLnBrk="0" hangingPunct="1">
              <a:spcBef>
                <a:spcPct val="20000"/>
              </a:spcBef>
              <a:buFont typeface="Arial"/>
              <a:buNone/>
              <a:defRPr sz="2000" kern="1200">
                <a:solidFill>
                  <a:schemeClr val="tx1"/>
                </a:solidFill>
                <a:latin typeface="+mj-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Security Cross-layer Function</a:t>
            </a:r>
          </a:p>
        </p:txBody>
      </p:sp>
      <p:sp>
        <p:nvSpPr>
          <p:cNvPr id="7" name="Footer Placeholder 1"/>
          <p:cNvSpPr>
            <a:spLocks noGrp="1"/>
          </p:cNvSpPr>
          <p:nvPr>
            <p:ph type="ftr" sz="quarter" idx="3"/>
          </p:nvPr>
        </p:nvSpPr>
        <p:spPr>
          <a:xfrm>
            <a:off x="2590800" y="4953000"/>
            <a:ext cx="5181600" cy="133350"/>
          </a:xfrm>
          <a:prstGeom prst="rect">
            <a:avLst/>
          </a:prstGeom>
        </p:spPr>
        <p:txBody>
          <a:bodyPr/>
          <a:lstStyle/>
          <a:p>
            <a:pPr algn="r"/>
            <a:r>
              <a:rPr lang="en-US" dirty="0"/>
              <a:t>Module: Security</a:t>
            </a:r>
          </a:p>
        </p:txBody>
      </p:sp>
    </p:spTree>
    <p:custDataLst>
      <p:tags r:id="rId1"/>
    </p:custDataLst>
    <p:extLst>
      <p:ext uri="{BB962C8B-B14F-4D97-AF65-F5344CB8AC3E}">
        <p14:creationId xmlns:p14="http://schemas.microsoft.com/office/powerpoint/2010/main" val="1093842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Drivers for Securing Cloud Infrastructure</a:t>
            </a:r>
          </a:p>
        </p:txBody>
      </p:sp>
      <p:sp>
        <p:nvSpPr>
          <p:cNvPr id="5" name="Content Placeholder 4"/>
          <p:cNvSpPr>
            <a:spLocks noGrp="1"/>
          </p:cNvSpPr>
          <p:nvPr>
            <p:ph sz="quarter" idx="10"/>
          </p:nvPr>
        </p:nvSpPr>
        <p:spPr/>
        <p:txBody>
          <a:bodyPr/>
          <a:lstStyle/>
          <a:p>
            <a:r>
              <a:rPr lang="en-US" dirty="0"/>
              <a:t>Information is an organization’s most valuable asset</a:t>
            </a:r>
          </a:p>
          <a:p>
            <a:r>
              <a:rPr lang="en-US" dirty="0"/>
              <a:t>Various tools are deployed to protect the assets</a:t>
            </a:r>
          </a:p>
          <a:p>
            <a:r>
              <a:rPr lang="en-US" dirty="0"/>
              <a:t>Trust is one of the key concerns of consumers adopting cloud</a:t>
            </a:r>
          </a:p>
          <a:p>
            <a:endParaRPr lang="en-US" dirty="0"/>
          </a:p>
          <a:p>
            <a:endParaRPr lang="en-US" dirty="0"/>
          </a:p>
          <a:p>
            <a:r>
              <a:rPr lang="en-US" dirty="0"/>
              <a:t>Managing security has become increasingly important for cloud service providers</a:t>
            </a:r>
          </a:p>
        </p:txBody>
      </p:sp>
      <p:sp>
        <p:nvSpPr>
          <p:cNvPr id="3" name="Footer Placeholder 2"/>
          <p:cNvSpPr>
            <a:spLocks noGrp="1"/>
          </p:cNvSpPr>
          <p:nvPr>
            <p:ph type="ftr" sz="quarter" idx="3"/>
          </p:nvPr>
        </p:nvSpPr>
        <p:spPr>
          <a:prstGeom prst="rect">
            <a:avLst/>
          </a:prstGeom>
        </p:spPr>
        <p:txBody>
          <a:bodyPr/>
          <a:lstStyle/>
          <a:p>
            <a:pPr algn="r"/>
            <a:r>
              <a:rPr lang="en-US"/>
              <a:t>Module: Security</a:t>
            </a:r>
            <a:endParaRPr lang="en-US" dirty="0"/>
          </a:p>
        </p:txBody>
      </p:sp>
      <p:sp>
        <p:nvSpPr>
          <p:cNvPr id="6" name="TextBox 5"/>
          <p:cNvSpPr txBox="1"/>
          <p:nvPr/>
        </p:nvSpPr>
        <p:spPr>
          <a:xfrm>
            <a:off x="2891059" y="2490639"/>
            <a:ext cx="3361882"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400" dirty="0">
                <a:latin typeface="Calibri" pitchFamily="34" charset="0"/>
              </a:rPr>
              <a:t>Trust = Visibility + Control</a:t>
            </a:r>
          </a:p>
        </p:txBody>
      </p:sp>
    </p:spTree>
    <p:custDataLst>
      <p:tags r:id="rId1"/>
    </p:custDataLst>
    <p:extLst>
      <p:ext uri="{BB962C8B-B14F-4D97-AF65-F5344CB8AC3E}">
        <p14:creationId xmlns:p14="http://schemas.microsoft.com/office/powerpoint/2010/main" val="3693646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Information Security</a:t>
            </a:r>
          </a:p>
        </p:txBody>
      </p:sp>
      <p:sp>
        <p:nvSpPr>
          <p:cNvPr id="3" name="Content Placeholder 2"/>
          <p:cNvSpPr>
            <a:spLocks noGrp="1"/>
          </p:cNvSpPr>
          <p:nvPr>
            <p:ph sz="quarter" idx="10"/>
          </p:nvPr>
        </p:nvSpPr>
        <p:spPr>
          <a:xfrm>
            <a:off x="379413" y="2400300"/>
            <a:ext cx="7680960" cy="2076450"/>
          </a:xfrm>
        </p:spPr>
        <p:txBody>
          <a:bodyPr/>
          <a:lstStyle/>
          <a:p>
            <a:r>
              <a:rPr lang="en-US" dirty="0"/>
              <a:t>Goal of information security is to provide:</a:t>
            </a:r>
          </a:p>
          <a:p>
            <a:pPr lvl="1"/>
            <a:r>
              <a:rPr lang="en-US" dirty="0"/>
              <a:t>Confidentiality, integrity, and availability</a:t>
            </a:r>
          </a:p>
          <a:p>
            <a:r>
              <a:rPr lang="en-US" dirty="0"/>
              <a:t>Security mechanisms ensure right users have access to right resources at the right time</a:t>
            </a:r>
          </a:p>
          <a:p>
            <a:r>
              <a:rPr lang="en-US" dirty="0"/>
              <a:t>Auditing enables assessing effectiveness of the security mechanisms</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8" name="Group 7"/>
          <p:cNvGrpSpPr/>
          <p:nvPr/>
        </p:nvGrpSpPr>
        <p:grpSpPr>
          <a:xfrm>
            <a:off x="175740" y="853609"/>
            <a:ext cx="8495413" cy="1413341"/>
            <a:chOff x="175740" y="853609"/>
            <a:chExt cx="8495413" cy="1413341"/>
          </a:xfrm>
        </p:grpSpPr>
        <p:sp>
          <p:nvSpPr>
            <p:cNvPr id="6" name="Rectangle 5"/>
            <p:cNvSpPr/>
            <p:nvPr/>
          </p:nvSpPr>
          <p:spPr>
            <a:xfrm>
              <a:off x="441553" y="1052339"/>
              <a:ext cx="8229600" cy="12146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 term that includes a set of practices that protect information and information systems from unauthorized access, use, information disclosure, disruption, modification, or destruction. </a:t>
              </a:r>
            </a:p>
            <a:p>
              <a:pPr algn="r"/>
              <a:r>
                <a:rPr lang="en-US" sz="900" i="1" dirty="0">
                  <a:solidFill>
                    <a:schemeClr val="tx1"/>
                  </a:solidFill>
                </a:rPr>
                <a:t>— US Federal law (Title 38 Part IV, Chapter 57, Subchapter III USC 5727)</a:t>
              </a:r>
            </a:p>
            <a:p>
              <a:endParaRPr lang="en-US" dirty="0"/>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schemeClr val="bg1"/>
                  </a:solidFill>
                  <a:ea typeface="Verdana" panose="020B0604030504040204" pitchFamily="34" charset="0"/>
                  <a:cs typeface="Verdana" panose="020B0604030504040204" pitchFamily="34" charset="0"/>
                </a:rPr>
                <a:t>Information Security</a:t>
              </a:r>
            </a:p>
          </p:txBody>
        </p:sp>
      </p:grpSp>
    </p:spTree>
    <p:custDataLst>
      <p:tags r:id="rId1"/>
    </p:custDataLst>
    <p:extLst>
      <p:ext uri="{BB962C8B-B14F-4D97-AF65-F5344CB8AC3E}">
        <p14:creationId xmlns:p14="http://schemas.microsoft.com/office/powerpoint/2010/main" val="3614603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Key Security Threats in a Cloud Environment</a:t>
            </a:r>
          </a:p>
        </p:txBody>
      </p:sp>
      <p:sp>
        <p:nvSpPr>
          <p:cNvPr id="3" name="Content Placeholder 2"/>
          <p:cNvSpPr>
            <a:spLocks noGrp="1"/>
          </p:cNvSpPr>
          <p:nvPr>
            <p:ph sz="quarter" idx="10"/>
          </p:nvPr>
        </p:nvSpPr>
        <p:spPr/>
        <p:txBody>
          <a:bodyPr/>
          <a:lstStyle/>
          <a:p>
            <a:r>
              <a:rPr lang="en-US" dirty="0"/>
              <a:t>Key security threats according to CSA and ENISA</a:t>
            </a:r>
          </a:p>
          <a:p>
            <a:pPr lvl="1"/>
            <a:r>
              <a:rPr lang="en-US" dirty="0"/>
              <a:t>Data leakage</a:t>
            </a:r>
          </a:p>
          <a:p>
            <a:pPr lvl="1"/>
            <a:r>
              <a:rPr lang="en-US" dirty="0"/>
              <a:t>Data loss</a:t>
            </a:r>
          </a:p>
          <a:p>
            <a:pPr lvl="1"/>
            <a:r>
              <a:rPr lang="en-US" dirty="0"/>
              <a:t>Account hijacking</a:t>
            </a:r>
          </a:p>
          <a:p>
            <a:pPr lvl="1"/>
            <a:r>
              <a:rPr lang="en-US" dirty="0"/>
              <a:t>Insecure APIs</a:t>
            </a:r>
          </a:p>
          <a:p>
            <a:pPr lvl="1"/>
            <a:r>
              <a:rPr lang="en-US" dirty="0"/>
              <a:t>Malicious insiders</a:t>
            </a:r>
          </a:p>
          <a:p>
            <a:pPr lvl="1"/>
            <a:r>
              <a:rPr lang="en-US" dirty="0"/>
              <a:t>Denial of service</a:t>
            </a:r>
          </a:p>
          <a:p>
            <a:pPr lvl="1"/>
            <a:r>
              <a:rPr lang="en-US" dirty="0"/>
              <a:t>Abuse of cloud services</a:t>
            </a:r>
          </a:p>
          <a:p>
            <a:pPr lvl="1"/>
            <a:r>
              <a:rPr lang="en-US" dirty="0"/>
              <a:t>Shared technology vulnerabilities</a:t>
            </a:r>
          </a:p>
          <a:p>
            <a:pPr lvl="1"/>
            <a:r>
              <a:rPr lang="en-US" dirty="0"/>
              <a:t>Insufficient due diligence</a:t>
            </a:r>
          </a:p>
          <a:p>
            <a:pPr lvl="1"/>
            <a:r>
              <a:rPr lang="en-US" dirty="0"/>
              <a:t>Loss of governance and compliance</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3867362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Leakage</a:t>
            </a:r>
          </a:p>
        </p:txBody>
      </p:sp>
      <p:sp>
        <p:nvSpPr>
          <p:cNvPr id="3" name="Content Placeholder 2"/>
          <p:cNvSpPr>
            <a:spLocks noGrp="1"/>
          </p:cNvSpPr>
          <p:nvPr>
            <p:ph sz="quarter" idx="10"/>
          </p:nvPr>
        </p:nvSpPr>
        <p:spPr/>
        <p:txBody>
          <a:bodyPr/>
          <a:lstStyle/>
          <a:p>
            <a:r>
              <a:rPr lang="en-US" dirty="0"/>
              <a:t>Occurs when an attacker gains access to a cloud consumer’s confidential data</a:t>
            </a:r>
          </a:p>
          <a:p>
            <a:r>
              <a:rPr lang="en-US" dirty="0"/>
              <a:t>Unauthorized access to confidential data may be gained by:</a:t>
            </a:r>
          </a:p>
          <a:p>
            <a:pPr lvl="1"/>
            <a:r>
              <a:rPr lang="en-US" dirty="0"/>
              <a:t>Compromising password database</a:t>
            </a:r>
          </a:p>
          <a:p>
            <a:pPr lvl="1"/>
            <a:r>
              <a:rPr lang="en-US" dirty="0"/>
              <a:t>Exploiting poor application design</a:t>
            </a:r>
          </a:p>
          <a:p>
            <a:pPr lvl="1"/>
            <a:r>
              <a:rPr lang="en-US" dirty="0"/>
              <a:t>Exploiting poor segregation of network traffic</a:t>
            </a:r>
          </a:p>
          <a:p>
            <a:pPr lvl="1"/>
            <a:r>
              <a:rPr lang="en-US" dirty="0"/>
              <a:t>Exploiting poor encryption implementation</a:t>
            </a:r>
          </a:p>
          <a:p>
            <a:pPr lvl="1"/>
            <a:r>
              <a:rPr lang="en-US" dirty="0"/>
              <a:t>Through a malicious insider</a:t>
            </a:r>
          </a:p>
          <a:p>
            <a:r>
              <a:rPr lang="en-US" dirty="0"/>
              <a:t>Control measure</a:t>
            </a:r>
          </a:p>
          <a:p>
            <a:pPr lvl="1"/>
            <a:r>
              <a:rPr lang="en-US" dirty="0"/>
              <a:t>Data encryption (both data at-rest and in-transit)</a:t>
            </a:r>
          </a:p>
          <a:p>
            <a:pPr lvl="1"/>
            <a:r>
              <a:rPr lang="en-US" dirty="0"/>
              <a:t>Data shredding and multi-factor authentication</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3381490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Leakage</a:t>
            </a:r>
          </a:p>
        </p:txBody>
      </p:sp>
      <p:sp>
        <p:nvSpPr>
          <p:cNvPr id="3" name="Content Placeholder 2"/>
          <p:cNvSpPr>
            <a:spLocks noGrp="1"/>
          </p:cNvSpPr>
          <p:nvPr>
            <p:ph sz="quarter" idx="10"/>
          </p:nvPr>
        </p:nvSpPr>
        <p:spPr/>
        <p:txBody>
          <a:bodyPr/>
          <a:lstStyle/>
          <a:p>
            <a:r>
              <a:rPr lang="en-US" dirty="0"/>
              <a:t>Occurs when an attacker gains access to a cloud consumer’s confidential data</a:t>
            </a:r>
          </a:p>
          <a:p>
            <a:r>
              <a:rPr lang="en-US" dirty="0"/>
              <a:t>Unauthorized access to confidential data may be gained by:</a:t>
            </a:r>
          </a:p>
          <a:p>
            <a:pPr lvl="1"/>
            <a:r>
              <a:rPr lang="en-US" dirty="0"/>
              <a:t>Compromising password database</a:t>
            </a:r>
          </a:p>
          <a:p>
            <a:pPr lvl="1"/>
            <a:r>
              <a:rPr lang="en-US" dirty="0"/>
              <a:t>Exploiting poor application design</a:t>
            </a:r>
          </a:p>
          <a:p>
            <a:pPr lvl="1"/>
            <a:r>
              <a:rPr lang="en-US" dirty="0"/>
              <a:t>Exploiting poor segregation of network traffic</a:t>
            </a:r>
          </a:p>
          <a:p>
            <a:pPr lvl="1"/>
            <a:r>
              <a:rPr lang="en-US" dirty="0"/>
              <a:t>Exploiting poor encryption implementation</a:t>
            </a:r>
          </a:p>
          <a:p>
            <a:pPr lvl="1"/>
            <a:r>
              <a:rPr lang="en-US" dirty="0"/>
              <a:t>Through a malicious insider</a:t>
            </a:r>
          </a:p>
          <a:p>
            <a:r>
              <a:rPr lang="en-US" dirty="0"/>
              <a:t>Control measure</a:t>
            </a:r>
          </a:p>
          <a:p>
            <a:pPr lvl="1"/>
            <a:r>
              <a:rPr lang="en-US" dirty="0"/>
              <a:t>Data encryption (both data at-rest and in-transit)</a:t>
            </a:r>
          </a:p>
          <a:p>
            <a:pPr lvl="1"/>
            <a:r>
              <a:rPr lang="en-US" dirty="0"/>
              <a:t>Data shredding and multi-factor authentication</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23990559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Loss</a:t>
            </a:r>
          </a:p>
        </p:txBody>
      </p:sp>
      <p:sp>
        <p:nvSpPr>
          <p:cNvPr id="3" name="Content Placeholder 2"/>
          <p:cNvSpPr>
            <a:spLocks noGrp="1"/>
          </p:cNvSpPr>
          <p:nvPr>
            <p:ph sz="quarter" idx="10"/>
          </p:nvPr>
        </p:nvSpPr>
        <p:spPr/>
        <p:txBody>
          <a:bodyPr/>
          <a:lstStyle/>
          <a:p>
            <a:r>
              <a:rPr lang="en-US" dirty="0"/>
              <a:t>Occurs due to various reasons other than malicious attacks</a:t>
            </a:r>
          </a:p>
          <a:p>
            <a:r>
              <a:rPr lang="en-US" dirty="0"/>
              <a:t>Causes of data loss in the cloud include:</a:t>
            </a:r>
          </a:p>
          <a:p>
            <a:pPr lvl="1"/>
            <a:r>
              <a:rPr lang="en-US" dirty="0"/>
              <a:t>Accidental deletion by the provider </a:t>
            </a:r>
          </a:p>
          <a:p>
            <a:pPr lvl="1"/>
            <a:r>
              <a:rPr lang="en-US" dirty="0"/>
              <a:t>Destruction resulting from natural disasters</a:t>
            </a:r>
          </a:p>
          <a:p>
            <a:r>
              <a:rPr lang="en-US" dirty="0"/>
              <a:t>Providers are often responsible for data loss</a:t>
            </a:r>
          </a:p>
          <a:p>
            <a:r>
              <a:rPr lang="en-US" dirty="0"/>
              <a:t>Control measure</a:t>
            </a:r>
          </a:p>
          <a:p>
            <a:pPr lvl="1"/>
            <a:r>
              <a:rPr lang="en-US" dirty="0"/>
              <a:t>Data backup and replication</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2212840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Account Hijacking</a:t>
            </a:r>
          </a:p>
        </p:txBody>
      </p:sp>
      <p:sp>
        <p:nvSpPr>
          <p:cNvPr id="3" name="Content Placeholder 2"/>
          <p:cNvSpPr>
            <a:spLocks noGrp="1"/>
          </p:cNvSpPr>
          <p:nvPr>
            <p:ph sz="quarter" idx="10"/>
          </p:nvPr>
        </p:nvSpPr>
        <p:spPr/>
        <p:txBody>
          <a:bodyPr/>
          <a:lstStyle/>
          <a:p>
            <a:r>
              <a:rPr lang="en-US" dirty="0"/>
              <a:t>Occurs when an attacker gains access to consumers’ accounts</a:t>
            </a:r>
          </a:p>
          <a:p>
            <a:endParaRPr lang="en-US" dirty="0"/>
          </a:p>
          <a:p>
            <a:endParaRPr lang="en-US" dirty="0"/>
          </a:p>
          <a:p>
            <a:endParaRPr lang="en-US" dirty="0"/>
          </a:p>
          <a:p>
            <a:endParaRPr lang="en-US" dirty="0"/>
          </a:p>
          <a:p>
            <a:endParaRPr lang="en-US" dirty="0"/>
          </a:p>
          <a:p>
            <a:r>
              <a:rPr lang="en-US" dirty="0"/>
              <a:t>Controls measures: multi-factor authentication, </a:t>
            </a:r>
            <a:r>
              <a:rPr lang="en-US" dirty="0" err="1"/>
              <a:t>IPSec</a:t>
            </a:r>
            <a:r>
              <a:rPr lang="en-US" dirty="0"/>
              <a:t>, IDPS, and firewall</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774873580"/>
              </p:ext>
            </p:extLst>
          </p:nvPr>
        </p:nvGraphicFramePr>
        <p:xfrm>
          <a:off x="838200" y="1428750"/>
          <a:ext cx="7239000" cy="218186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pPr algn="l"/>
                      <a:r>
                        <a:rPr lang="en-US" sz="1200" dirty="0">
                          <a:latin typeface="+mn-lt"/>
                        </a:rPr>
                        <a:t>Types of attack</a:t>
                      </a:r>
                    </a:p>
                  </a:txBody>
                  <a:tcPr anchor="ctr"/>
                </a:tc>
                <a:tc>
                  <a:txBody>
                    <a:bodyPr/>
                    <a:lstStyle/>
                    <a:p>
                      <a:pPr algn="l"/>
                      <a:r>
                        <a:rPr lang="en-US" sz="1200" dirty="0">
                          <a:latin typeface="+mn-lt"/>
                        </a:rPr>
                        <a:t>Description</a:t>
                      </a:r>
                    </a:p>
                  </a:txBody>
                  <a:tcPr anchor="ctr"/>
                </a:tc>
                <a:extLst>
                  <a:ext uri="{0D108BD9-81ED-4DB2-BD59-A6C34878D82A}">
                    <a16:rowId xmlns:a16="http://schemas.microsoft.com/office/drawing/2014/main" val="10000"/>
                  </a:ext>
                </a:extLst>
              </a:tr>
              <a:tr h="370840">
                <a:tc>
                  <a:txBody>
                    <a:bodyPr/>
                    <a:lstStyle/>
                    <a:p>
                      <a:r>
                        <a:rPr lang="en-US" sz="1100" dirty="0">
                          <a:latin typeface="+mn-lt"/>
                        </a:rPr>
                        <a:t>Phishing</a:t>
                      </a:r>
                    </a:p>
                  </a:txBody>
                  <a:tcPr anchor="ctr"/>
                </a:tc>
                <a:tc>
                  <a:txBody>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100" kern="1200" dirty="0">
                          <a:solidFill>
                            <a:schemeClr val="dk1"/>
                          </a:solidFill>
                          <a:latin typeface="+mn-lt"/>
                          <a:ea typeface="+mn-ea"/>
                          <a:cs typeface="+mn-cs"/>
                        </a:rPr>
                        <a:t>Social engineering attack used to deceive users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100" kern="1200" dirty="0">
                          <a:solidFill>
                            <a:schemeClr val="dk1"/>
                          </a:solidFill>
                          <a:latin typeface="+mn-lt"/>
                          <a:ea typeface="+mn-ea"/>
                          <a:cs typeface="+mn-cs"/>
                        </a:rPr>
                        <a:t>Carried out by spoofing email containing link to a fake website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100" kern="1200" dirty="0">
                          <a:solidFill>
                            <a:schemeClr val="tx1"/>
                          </a:solidFill>
                          <a:latin typeface="+mn-lt"/>
                          <a:ea typeface="+mn-ea"/>
                          <a:cs typeface="+mn-cs"/>
                        </a:rPr>
                        <a:t>Users credentials </a:t>
                      </a:r>
                      <a:r>
                        <a:rPr lang="en-US" sz="1100" kern="1200" dirty="0">
                          <a:solidFill>
                            <a:schemeClr val="dk1"/>
                          </a:solidFill>
                          <a:latin typeface="+mn-lt"/>
                          <a:ea typeface="+mn-ea"/>
                          <a:cs typeface="+mn-cs"/>
                        </a:rPr>
                        <a:t>entered on the fake site are captured</a:t>
                      </a:r>
                    </a:p>
                  </a:txBody>
                  <a:tcPr anchor="ctr"/>
                </a:tc>
                <a:extLst>
                  <a:ext uri="{0D108BD9-81ED-4DB2-BD59-A6C34878D82A}">
                    <a16:rowId xmlns:a16="http://schemas.microsoft.com/office/drawing/2014/main" val="10001"/>
                  </a:ext>
                </a:extLst>
              </a:tr>
              <a:tr h="370840">
                <a:tc>
                  <a:txBody>
                    <a:bodyPr/>
                    <a:lstStyle/>
                    <a:p>
                      <a:r>
                        <a:rPr lang="en-US" sz="1100" dirty="0">
                          <a:latin typeface="+mn-lt"/>
                        </a:rPr>
                        <a:t>Installing keystroke-logging malware</a:t>
                      </a:r>
                    </a:p>
                  </a:txBody>
                  <a:tcPr anchor="ctr"/>
                </a:tc>
                <a:tc>
                  <a:txBody>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100" kern="1200" dirty="0">
                          <a:solidFill>
                            <a:schemeClr val="dk1"/>
                          </a:solidFill>
                          <a:latin typeface="+mn-lt"/>
                          <a:ea typeface="+mn-ea"/>
                          <a:cs typeface="+mn-cs"/>
                        </a:rPr>
                        <a:t>Attacker installs malware in a consumer’s VM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100" kern="1200" dirty="0">
                          <a:solidFill>
                            <a:schemeClr val="dk1"/>
                          </a:solidFill>
                          <a:latin typeface="+mn-lt"/>
                          <a:ea typeface="+mn-ea"/>
                          <a:cs typeface="+mn-cs"/>
                        </a:rPr>
                        <a:t>Malware captures </a:t>
                      </a:r>
                      <a:r>
                        <a:rPr lang="en-US" sz="1100" kern="1200" dirty="0">
                          <a:solidFill>
                            <a:schemeClr val="tx1"/>
                          </a:solidFill>
                          <a:latin typeface="+mn-lt"/>
                          <a:ea typeface="+mn-ea"/>
                          <a:cs typeface="+mn-cs"/>
                        </a:rPr>
                        <a:t>users </a:t>
                      </a:r>
                      <a:r>
                        <a:rPr lang="en-US" sz="1100" kern="1200" dirty="0">
                          <a:solidFill>
                            <a:schemeClr val="dk1"/>
                          </a:solidFill>
                          <a:latin typeface="+mn-lt"/>
                          <a:ea typeface="+mn-ea"/>
                          <a:cs typeface="+mn-cs"/>
                        </a:rPr>
                        <a:t>credentials and sends to the attacker</a:t>
                      </a:r>
                    </a:p>
                  </a:txBody>
                  <a:tcPr anchor="ctr"/>
                </a:tc>
                <a:extLst>
                  <a:ext uri="{0D108BD9-81ED-4DB2-BD59-A6C34878D82A}">
                    <a16:rowId xmlns:a16="http://schemas.microsoft.com/office/drawing/2014/main" val="10002"/>
                  </a:ext>
                </a:extLst>
              </a:tr>
              <a:tr h="370840">
                <a:tc>
                  <a:txBody>
                    <a:bodyPr/>
                    <a:lstStyle/>
                    <a:p>
                      <a:r>
                        <a:rPr lang="en-US" sz="1100" dirty="0">
                          <a:latin typeface="+mn-lt"/>
                        </a:rPr>
                        <a:t>Man-in</a:t>
                      </a:r>
                      <a:r>
                        <a:rPr lang="en-US" sz="1100" baseline="0" dirty="0">
                          <a:latin typeface="+mn-lt"/>
                        </a:rPr>
                        <a:t>-the-middle</a:t>
                      </a:r>
                      <a:endParaRPr lang="en-US" sz="1100" dirty="0">
                        <a:latin typeface="+mn-lt"/>
                      </a:endParaRPr>
                    </a:p>
                  </a:txBody>
                  <a:tcPr anchor="ctr"/>
                </a:tc>
                <a:tc>
                  <a:txBody>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100" kern="1200" dirty="0">
                          <a:solidFill>
                            <a:schemeClr val="dk1"/>
                          </a:solidFill>
                          <a:latin typeface="+mn-lt"/>
                          <a:ea typeface="+mn-ea"/>
                          <a:cs typeface="+mn-cs"/>
                        </a:rPr>
                        <a:t>Attacker eavesdrops on the network to capture credential</a:t>
                      </a:r>
                    </a:p>
                  </a:txBody>
                  <a:tcPr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757736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Insecure APIs</a:t>
            </a:r>
          </a:p>
        </p:txBody>
      </p:sp>
      <p:sp>
        <p:nvSpPr>
          <p:cNvPr id="3" name="Content Placeholder 2"/>
          <p:cNvSpPr>
            <a:spLocks noGrp="1"/>
          </p:cNvSpPr>
          <p:nvPr>
            <p:ph sz="quarter" idx="10"/>
          </p:nvPr>
        </p:nvSpPr>
        <p:spPr/>
        <p:txBody>
          <a:bodyPr/>
          <a:lstStyle/>
          <a:p>
            <a:r>
              <a:rPr lang="en-US" dirty="0"/>
              <a:t>APIs are used to perform activities such as:</a:t>
            </a:r>
          </a:p>
          <a:p>
            <a:pPr lvl="1"/>
            <a:r>
              <a:rPr lang="en-US" dirty="0"/>
              <a:t>Resource provisioning and configuration</a:t>
            </a:r>
          </a:p>
          <a:p>
            <a:pPr lvl="1"/>
            <a:r>
              <a:rPr lang="en-US" dirty="0"/>
              <a:t>Resource monitoring and management</a:t>
            </a:r>
          </a:p>
          <a:p>
            <a:pPr lvl="1"/>
            <a:r>
              <a:rPr lang="en-US" dirty="0"/>
              <a:t>Orchestration</a:t>
            </a:r>
          </a:p>
          <a:p>
            <a:r>
              <a:rPr lang="en-US" dirty="0"/>
              <a:t>APIs may be open or proprietary</a:t>
            </a:r>
          </a:p>
          <a:p>
            <a:r>
              <a:rPr lang="en-US" dirty="0"/>
              <a:t>Security of cloud services depends on security of APIs</a:t>
            </a:r>
          </a:p>
          <a:p>
            <a:r>
              <a:rPr lang="en-US" dirty="0"/>
              <a:t>Control measures</a:t>
            </a:r>
          </a:p>
          <a:p>
            <a:pPr lvl="1"/>
            <a:r>
              <a:rPr lang="en-US" dirty="0"/>
              <a:t>Design and develop APIs following security best practices</a:t>
            </a:r>
          </a:p>
          <a:p>
            <a:pPr lvl="1"/>
            <a:r>
              <a:rPr lang="en-US" dirty="0"/>
              <a:t>Perform security review of APIs </a:t>
            </a:r>
          </a:p>
          <a:p>
            <a:pPr lvl="1"/>
            <a:r>
              <a:rPr lang="en-US" dirty="0"/>
              <a:t>Access to APIs must be restricted to authorized users</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2575736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Denial of Service (</a:t>
            </a:r>
            <a:r>
              <a:rPr lang="en-US" dirty="0" err="1"/>
              <a:t>DoS</a:t>
            </a:r>
            <a:r>
              <a:rPr lang="en-US" dirty="0"/>
              <a:t>) Attack</a:t>
            </a:r>
          </a:p>
        </p:txBody>
      </p:sp>
      <p:sp>
        <p:nvSpPr>
          <p:cNvPr id="3" name="Content Placeholder 2"/>
          <p:cNvSpPr>
            <a:spLocks noGrp="1"/>
          </p:cNvSpPr>
          <p:nvPr>
            <p:ph sz="quarter" idx="10"/>
          </p:nvPr>
        </p:nvSpPr>
        <p:spPr/>
        <p:txBody>
          <a:bodyPr/>
          <a:lstStyle/>
          <a:p>
            <a:r>
              <a:rPr lang="en-US" dirty="0"/>
              <a:t>Prevents legitimate users from accessing resources or services</a:t>
            </a:r>
          </a:p>
          <a:p>
            <a:r>
              <a:rPr lang="en-IN" dirty="0"/>
              <a:t>Could be targeted against compute systems, networks, or storage resources</a:t>
            </a:r>
            <a:endParaRPr lang="en-US" dirty="0"/>
          </a:p>
          <a:p>
            <a:r>
              <a:rPr lang="en-US" dirty="0"/>
              <a:t>Exhaust key resources, preventing production use by </a:t>
            </a:r>
            <a:r>
              <a:rPr lang="en-IN" dirty="0"/>
              <a:t>legitimate consumers</a:t>
            </a:r>
            <a:endParaRPr lang="en-US" dirty="0"/>
          </a:p>
          <a:p>
            <a:pPr lvl="1"/>
            <a:r>
              <a:rPr lang="en-US" dirty="0"/>
              <a:t>Example 1: Exhausting network bandwidth or CPU cycles</a:t>
            </a:r>
          </a:p>
          <a:p>
            <a:pPr lvl="1"/>
            <a:r>
              <a:rPr lang="en-US" dirty="0"/>
              <a:t>Example 2: Exploiting weaknesses in communication protocols </a:t>
            </a:r>
          </a:p>
          <a:p>
            <a:pPr lvl="1"/>
            <a:r>
              <a:rPr lang="en-US" dirty="0"/>
              <a:t>Example 3: Corrupting domain name server’s cache</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4193836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Distributed Denial of Service (</a:t>
            </a:r>
            <a:r>
              <a:rPr lang="en-US" dirty="0" err="1"/>
              <a:t>DoS</a:t>
            </a:r>
            <a:r>
              <a:rPr lang="en-US" dirty="0"/>
              <a:t>) Attack</a:t>
            </a:r>
          </a:p>
        </p:txBody>
      </p:sp>
      <p:sp>
        <p:nvSpPr>
          <p:cNvPr id="3" name="Content Placeholder 2"/>
          <p:cNvSpPr>
            <a:spLocks noGrp="1"/>
          </p:cNvSpPr>
          <p:nvPr>
            <p:ph sz="quarter" idx="10"/>
          </p:nvPr>
        </p:nvSpPr>
        <p:spPr/>
        <p:txBody>
          <a:bodyPr/>
          <a:lstStyle/>
          <a:p>
            <a:r>
              <a:rPr lang="en-US" dirty="0" err="1"/>
              <a:t>DDoS</a:t>
            </a:r>
            <a:r>
              <a:rPr lang="en-US" dirty="0"/>
              <a:t> is a variant of </a:t>
            </a:r>
            <a:r>
              <a:rPr lang="en-US" dirty="0" err="1"/>
              <a:t>DoS</a:t>
            </a:r>
            <a:r>
              <a:rPr lang="en-US" dirty="0"/>
              <a:t> attack </a:t>
            </a:r>
          </a:p>
          <a:p>
            <a:r>
              <a:rPr lang="en-US" dirty="0"/>
              <a:t>Several systems launch a coordinated </a:t>
            </a:r>
            <a:r>
              <a:rPr lang="en-US" dirty="0" err="1"/>
              <a:t>DoS</a:t>
            </a:r>
            <a:r>
              <a:rPr lang="en-US" dirty="0"/>
              <a:t> attack on target(s)</a:t>
            </a:r>
          </a:p>
          <a:p>
            <a:pPr lvl="1"/>
            <a:r>
              <a:rPr lang="en-US" dirty="0" err="1"/>
              <a:t>DDoS</a:t>
            </a:r>
            <a:r>
              <a:rPr lang="en-US" dirty="0"/>
              <a:t> master program is installed on a compute system</a:t>
            </a:r>
          </a:p>
          <a:p>
            <a:pPr lvl="1"/>
            <a:r>
              <a:rPr lang="en-US" dirty="0"/>
              <a:t>Master program communicates to agents at designated time</a:t>
            </a:r>
          </a:p>
          <a:p>
            <a:pPr lvl="1"/>
            <a:r>
              <a:rPr lang="en-US" dirty="0"/>
              <a:t>Agents initiate the attack on receiving the command</a:t>
            </a:r>
          </a:p>
          <a:p>
            <a:r>
              <a:rPr lang="en-US" dirty="0"/>
              <a:t>Attacker is able to multiply the effectiveness of the </a:t>
            </a:r>
            <a:r>
              <a:rPr lang="en-US" dirty="0" err="1"/>
              <a:t>DoS</a:t>
            </a:r>
            <a:r>
              <a:rPr lang="en-US" dirty="0"/>
              <a:t> attack</a:t>
            </a:r>
          </a:p>
          <a:p>
            <a:r>
              <a:rPr lang="en-US" dirty="0"/>
              <a:t>Control measure</a:t>
            </a:r>
          </a:p>
          <a:p>
            <a:pPr lvl="1"/>
            <a:r>
              <a:rPr lang="en-US" dirty="0"/>
              <a:t>Impose restrictions and limits on resource consumption</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4256046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Malicious Insiders</a:t>
            </a:r>
          </a:p>
        </p:txBody>
      </p:sp>
      <p:sp>
        <p:nvSpPr>
          <p:cNvPr id="3" name="Content Placeholder 2"/>
          <p:cNvSpPr>
            <a:spLocks noGrp="1"/>
          </p:cNvSpPr>
          <p:nvPr>
            <p:ph sz="quarter" idx="10"/>
          </p:nvPr>
        </p:nvSpPr>
        <p:spPr>
          <a:xfrm>
            <a:off x="379413" y="2400300"/>
            <a:ext cx="7680960" cy="2076450"/>
          </a:xfrm>
        </p:spPr>
        <p:txBody>
          <a:bodyPr/>
          <a:lstStyle/>
          <a:p>
            <a:r>
              <a:rPr lang="en-US" sz="1800" dirty="0"/>
              <a:t>Intentional misuse of access to negatively impact CIA </a:t>
            </a:r>
          </a:p>
          <a:p>
            <a:r>
              <a:rPr lang="en-US" sz="1800" dirty="0"/>
              <a:t>Control measures:</a:t>
            </a:r>
          </a:p>
          <a:p>
            <a:pPr lvl="1"/>
            <a:r>
              <a:rPr lang="en-US" sz="1600" dirty="0"/>
              <a:t>Strict access control policies </a:t>
            </a:r>
          </a:p>
          <a:p>
            <a:pPr lvl="1"/>
            <a:r>
              <a:rPr lang="en-US" sz="1600" dirty="0"/>
              <a:t>Security audit and data encryption</a:t>
            </a:r>
          </a:p>
          <a:p>
            <a:pPr lvl="1"/>
            <a:r>
              <a:rPr lang="en-US" sz="1600" dirty="0"/>
              <a:t>Disable employee accounts immediately after separation</a:t>
            </a:r>
          </a:p>
          <a:p>
            <a:pPr lvl="1"/>
            <a:r>
              <a:rPr lang="en-US" sz="1600" dirty="0"/>
              <a:t>Segregation of duties (role-based access control) </a:t>
            </a:r>
          </a:p>
          <a:p>
            <a:pPr lvl="1"/>
            <a:r>
              <a:rPr lang="en-US" sz="1600" dirty="0"/>
              <a:t>Background investigation of candidates before hiring</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latin typeface="+mj-lt"/>
            </a:endParaRPr>
          </a:p>
        </p:txBody>
      </p:sp>
      <p:grpSp>
        <p:nvGrpSpPr>
          <p:cNvPr id="8" name="Group 7"/>
          <p:cNvGrpSpPr/>
          <p:nvPr/>
        </p:nvGrpSpPr>
        <p:grpSpPr>
          <a:xfrm>
            <a:off x="175740" y="853609"/>
            <a:ext cx="8495413" cy="1413341"/>
            <a:chOff x="175740" y="853609"/>
            <a:chExt cx="8495413" cy="1413341"/>
          </a:xfrm>
        </p:grpSpPr>
        <p:sp>
          <p:nvSpPr>
            <p:cNvPr id="6" name="Rectangle 5"/>
            <p:cNvSpPr/>
            <p:nvPr/>
          </p:nvSpPr>
          <p:spPr>
            <a:xfrm>
              <a:off x="441553" y="1052339"/>
              <a:ext cx="8229600" cy="12146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latin typeface="+mj-lt"/>
                </a:rPr>
                <a:t>An organization’s current or former employee, contractor, or other business partner who has or had authorized access to an organization's compute systems, network, or storage. </a:t>
              </a:r>
            </a:p>
            <a:p>
              <a:pPr algn="r"/>
              <a:r>
                <a:rPr lang="en-US" sz="1000" i="1" dirty="0">
                  <a:solidFill>
                    <a:schemeClr val="tx1"/>
                  </a:solidFill>
                  <a:latin typeface="+mj-lt"/>
                </a:rPr>
                <a:t>— Computer Emergency Response Team (CERT)</a:t>
              </a: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a:solidFill>
                    <a:schemeClr val="bg1"/>
                  </a:solidFill>
                  <a:latin typeface="+mj-lt"/>
                  <a:ea typeface="Verdana" panose="020B0604030504040204" pitchFamily="34" charset="0"/>
                  <a:cs typeface="Verdana" panose="020B0604030504040204" pitchFamily="34" charset="0"/>
                </a:rPr>
                <a:t>Malicious Insiders</a:t>
              </a:r>
            </a:p>
          </p:txBody>
        </p:sp>
      </p:grpSp>
    </p:spTree>
    <p:custDataLst>
      <p:tags r:id="rId1"/>
    </p:custDataLst>
    <p:extLst>
      <p:ext uri="{BB962C8B-B14F-4D97-AF65-F5344CB8AC3E}">
        <p14:creationId xmlns:p14="http://schemas.microsoft.com/office/powerpoint/2010/main" val="1434265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Abuse of Cloud Services</a:t>
            </a:r>
          </a:p>
        </p:txBody>
      </p:sp>
      <p:sp>
        <p:nvSpPr>
          <p:cNvPr id="3" name="Content Placeholder 2"/>
          <p:cNvSpPr>
            <a:spLocks noGrp="1"/>
          </p:cNvSpPr>
          <p:nvPr>
            <p:ph sz="quarter" idx="10"/>
          </p:nvPr>
        </p:nvSpPr>
        <p:spPr/>
        <p:txBody>
          <a:bodyPr/>
          <a:lstStyle/>
          <a:p>
            <a:r>
              <a:rPr lang="en-US" dirty="0"/>
              <a:t>Cloud resources can be misused to perform unauthorized activities such as</a:t>
            </a:r>
          </a:p>
          <a:p>
            <a:pPr lvl="1"/>
            <a:r>
              <a:rPr lang="en-US" dirty="0"/>
              <a:t>Cracking an encryption key in minutes or hours</a:t>
            </a:r>
          </a:p>
          <a:p>
            <a:pPr lvl="1"/>
            <a:r>
              <a:rPr lang="en-US" dirty="0"/>
              <a:t>Distributing pirated software</a:t>
            </a:r>
          </a:p>
          <a:p>
            <a:r>
              <a:rPr lang="en-US" dirty="0"/>
              <a:t>Control measures</a:t>
            </a:r>
          </a:p>
          <a:p>
            <a:pPr lvl="1"/>
            <a:r>
              <a:rPr lang="en-US" dirty="0"/>
              <a:t>Difficult to mitigate merely with the help of tools</a:t>
            </a:r>
          </a:p>
          <a:p>
            <a:pPr lvl="1"/>
            <a:r>
              <a:rPr lang="en-US" dirty="0"/>
              <a:t>Establish agreement with consumers that have guidelines for acceptable use of cloud resources</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517328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Insufficient Due Diligence</a:t>
            </a:r>
          </a:p>
        </p:txBody>
      </p:sp>
      <p:sp>
        <p:nvSpPr>
          <p:cNvPr id="3" name="Content Placeholder 2"/>
          <p:cNvSpPr>
            <a:spLocks noGrp="1"/>
          </p:cNvSpPr>
          <p:nvPr>
            <p:ph sz="quarter" idx="10"/>
          </p:nvPr>
        </p:nvSpPr>
        <p:spPr/>
        <p:txBody>
          <a:bodyPr/>
          <a:lstStyle/>
          <a:p>
            <a:r>
              <a:rPr lang="en-US" dirty="0"/>
              <a:t>Understanding the full scope of the undertaking while offering cloud services</a:t>
            </a:r>
          </a:p>
          <a:p>
            <a:r>
              <a:rPr lang="en-US" dirty="0"/>
              <a:t>Increase risks if services are offered without complete understanding of operational responsibilities such as: </a:t>
            </a:r>
          </a:p>
          <a:p>
            <a:pPr lvl="1"/>
            <a:r>
              <a:rPr lang="en-US" dirty="0"/>
              <a:t>Incident response</a:t>
            </a:r>
          </a:p>
          <a:p>
            <a:pPr lvl="1"/>
            <a:r>
              <a:rPr lang="en-US" dirty="0"/>
              <a:t>Encryption</a:t>
            </a:r>
          </a:p>
          <a:p>
            <a:pPr lvl="1"/>
            <a:r>
              <a:rPr lang="en-US" dirty="0"/>
              <a:t>Governance and compliance</a:t>
            </a:r>
          </a:p>
          <a:p>
            <a:pPr lvl="1"/>
            <a:r>
              <a:rPr lang="en-US" dirty="0"/>
              <a:t>Security monitoring</a:t>
            </a:r>
          </a:p>
          <a:p>
            <a:endParaRPr lang="en-US" dirty="0"/>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3665659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Shared Technology Vulnerabilities</a:t>
            </a:r>
          </a:p>
        </p:txBody>
      </p:sp>
      <p:sp>
        <p:nvSpPr>
          <p:cNvPr id="3" name="Content Placeholder 2"/>
          <p:cNvSpPr>
            <a:spLocks noGrp="1"/>
          </p:cNvSpPr>
          <p:nvPr>
            <p:ph sz="quarter" idx="10"/>
          </p:nvPr>
        </p:nvSpPr>
        <p:spPr/>
        <p:txBody>
          <a:bodyPr/>
          <a:lstStyle/>
          <a:p>
            <a:r>
              <a:rPr lang="en-US" dirty="0"/>
              <a:t>An attacker may exploit the vulnerabilities of tools used to enable multi-tenant environments</a:t>
            </a:r>
          </a:p>
          <a:p>
            <a:r>
              <a:rPr lang="en-US" dirty="0"/>
              <a:t>Examples of threats:</a:t>
            </a:r>
          </a:p>
          <a:p>
            <a:pPr lvl="1"/>
            <a:r>
              <a:rPr lang="en-US" dirty="0"/>
              <a:t>Failure of mechanisms that provide separation of memory and storage</a:t>
            </a:r>
          </a:p>
          <a:p>
            <a:pPr lvl="1"/>
            <a:r>
              <a:rPr lang="en-US" dirty="0" err="1"/>
              <a:t>Hyperjacking</a:t>
            </a:r>
            <a:r>
              <a:rPr lang="en-US" dirty="0"/>
              <a:t> attack involves installing a rogue hypervisor that takes control of compute system</a:t>
            </a:r>
          </a:p>
          <a:p>
            <a:r>
              <a:rPr lang="en-US" dirty="0"/>
              <a:t>Control measure</a:t>
            </a:r>
          </a:p>
          <a:p>
            <a:pPr lvl="1"/>
            <a:r>
              <a:rPr lang="en-US" dirty="0"/>
              <a:t>Securing components that are part of trusted computing base</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1259533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Loss of Compliance</a:t>
            </a:r>
          </a:p>
        </p:txBody>
      </p:sp>
      <p:sp>
        <p:nvSpPr>
          <p:cNvPr id="3" name="Content Placeholder 2"/>
          <p:cNvSpPr>
            <a:spLocks noGrp="1"/>
          </p:cNvSpPr>
          <p:nvPr>
            <p:ph sz="quarter" idx="10"/>
          </p:nvPr>
        </p:nvSpPr>
        <p:spPr>
          <a:xfrm>
            <a:off x="379413" y="2247900"/>
            <a:ext cx="8458200" cy="2152650"/>
          </a:xfrm>
        </p:spPr>
        <p:txBody>
          <a:bodyPr/>
          <a:lstStyle/>
          <a:p>
            <a:r>
              <a:rPr lang="en-US" dirty="0"/>
              <a:t>Regulations mandate vulnerability assessment when using certain type of data</a:t>
            </a:r>
          </a:p>
          <a:p>
            <a:pPr lvl="1"/>
            <a:r>
              <a:rPr lang="en-US" dirty="0"/>
              <a:t>Aimed at discovering potential security vulnerabilities</a:t>
            </a:r>
          </a:p>
          <a:p>
            <a:pPr lvl="2"/>
            <a:r>
              <a:rPr lang="en-US" dirty="0"/>
              <a:t>Example: PCI compliance for handling credit card data</a:t>
            </a:r>
          </a:p>
          <a:p>
            <a:pPr lvl="1"/>
            <a:r>
              <a:rPr lang="en-US" dirty="0"/>
              <a:t>Participating cloud provider may prohibit through contract terms</a:t>
            </a:r>
          </a:p>
          <a:p>
            <a:pPr lvl="1"/>
            <a:r>
              <a:rPr lang="en-US" dirty="0"/>
              <a:t>Cloud brokers and consumers have to rely on provider’s vulnerability assessment results</a:t>
            </a:r>
          </a:p>
          <a:p>
            <a:endParaRPr lang="en-US" dirty="0"/>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8" name="Group 7"/>
          <p:cNvGrpSpPr/>
          <p:nvPr/>
        </p:nvGrpSpPr>
        <p:grpSpPr>
          <a:xfrm>
            <a:off x="175740" y="853609"/>
            <a:ext cx="8495413" cy="1260941"/>
            <a:chOff x="175740" y="853609"/>
            <a:chExt cx="8495413" cy="1260941"/>
          </a:xfrm>
        </p:grpSpPr>
        <p:sp>
          <p:nvSpPr>
            <p:cNvPr id="6" name="Rectangle 5"/>
            <p:cNvSpPr/>
            <p:nvPr/>
          </p:nvSpPr>
          <p:spPr>
            <a:xfrm>
              <a:off x="441553" y="1052339"/>
              <a:ext cx="8229600" cy="10622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Occur when a cloud service provider or cloud broker does not adhere to, and demonstrating adherence to external laws and regulations as well as corporate policies and procedures.</a:t>
              </a:r>
              <a:endParaRPr lang="en-US" sz="1200" i="1" dirty="0">
                <a:solidFill>
                  <a:schemeClr val="tx1"/>
                </a:solidFill>
              </a:endParaRP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a:solidFill>
                    <a:schemeClr val="bg1"/>
                  </a:solidFill>
                  <a:ea typeface="Verdana" panose="020B0604030504040204" pitchFamily="34" charset="0"/>
                  <a:cs typeface="Verdana" panose="020B0604030504040204" pitchFamily="34" charset="0"/>
                </a:rPr>
                <a:t>Loss of Compliance</a:t>
              </a:r>
            </a:p>
          </p:txBody>
        </p:sp>
      </p:grpSp>
    </p:spTree>
    <p:custDataLst>
      <p:tags r:id="rId1"/>
    </p:custDataLst>
    <p:extLst>
      <p:ext uri="{BB962C8B-B14F-4D97-AF65-F5344CB8AC3E}">
        <p14:creationId xmlns:p14="http://schemas.microsoft.com/office/powerpoint/2010/main" val="2111363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Loss of Governance</a:t>
            </a:r>
          </a:p>
        </p:txBody>
      </p:sp>
      <p:sp>
        <p:nvSpPr>
          <p:cNvPr id="3" name="Content Placeholder 2"/>
          <p:cNvSpPr>
            <a:spLocks noGrp="1"/>
          </p:cNvSpPr>
          <p:nvPr>
            <p:ph sz="quarter" idx="10"/>
          </p:nvPr>
        </p:nvSpPr>
        <p:spPr/>
        <p:txBody>
          <a:bodyPr/>
          <a:lstStyle/>
          <a:p>
            <a:r>
              <a:rPr lang="en-US" dirty="0"/>
              <a:t>Causes of loss of governance:</a:t>
            </a:r>
          </a:p>
          <a:p>
            <a:pPr lvl="1"/>
            <a:r>
              <a:rPr lang="en-US" dirty="0"/>
              <a:t>Provider outsource its services to third-parties</a:t>
            </a:r>
          </a:p>
          <a:p>
            <a:r>
              <a:rPr lang="en-US" dirty="0"/>
              <a:t>Impact of outsourcing services to third-parties:</a:t>
            </a:r>
          </a:p>
          <a:p>
            <a:pPr lvl="1"/>
            <a:r>
              <a:rPr lang="en-US" dirty="0"/>
              <a:t>No control over third-parties, and may impact commitments of the provider</a:t>
            </a:r>
          </a:p>
          <a:p>
            <a:pPr lvl="1"/>
            <a:r>
              <a:rPr lang="en-US" dirty="0"/>
              <a:t>Security controls of provider may change impacting terms and conditions of provider</a:t>
            </a:r>
          </a:p>
          <a:p>
            <a:pPr lvl="1"/>
            <a:r>
              <a:rPr lang="en-US" dirty="0"/>
              <a:t>Provider may not be able to supply evidence of meeting their providers’ compliance requirements</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1993760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Data leakage and data loss</a:t>
            </a:r>
          </a:p>
          <a:p>
            <a:r>
              <a:rPr lang="en-US" dirty="0"/>
              <a:t>Account hijacking and insecure APIs</a:t>
            </a:r>
          </a:p>
          <a:p>
            <a:r>
              <a:rPr lang="en-US" dirty="0"/>
              <a:t>Malicious insiders and denial of service</a:t>
            </a:r>
          </a:p>
          <a:p>
            <a:r>
              <a:rPr lang="en-US" dirty="0"/>
              <a:t>Abuse of cloud services and shared technology vulnerabilities</a:t>
            </a:r>
          </a:p>
          <a:p>
            <a:r>
              <a:rPr lang="en-US" dirty="0"/>
              <a:t>Insufficient due diligence</a:t>
            </a:r>
          </a:p>
          <a:p>
            <a:r>
              <a:rPr lang="en-US" dirty="0"/>
              <a:t>Loss of compliance and governance </a:t>
            </a:r>
          </a:p>
        </p:txBody>
      </p:sp>
      <p:sp>
        <p:nvSpPr>
          <p:cNvPr id="3" name="Footer Placeholder 2"/>
          <p:cNvSpPr>
            <a:spLocks noGrp="1"/>
          </p:cNvSpPr>
          <p:nvPr>
            <p:ph type="ftr" sz="quarter" idx="3"/>
          </p:nvPr>
        </p:nvSpPr>
        <p:spPr>
          <a:prstGeom prst="rect">
            <a:avLst/>
          </a:prstGeom>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2628521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Security Mechanisms – I</a:t>
            </a:r>
            <a:br>
              <a:rPr lang="en-US" dirty="0"/>
            </a:br>
            <a:endParaRPr lang="en-US" dirty="0"/>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Physical </a:t>
            </a:r>
            <a:r>
              <a:rPr lang="en-US" dirty="0" smtClean="0"/>
              <a:t>security</a:t>
            </a:r>
          </a:p>
          <a:p>
            <a:pPr>
              <a:defRPr/>
            </a:pPr>
            <a:r>
              <a:rPr lang="en-US" dirty="0" smtClean="0"/>
              <a:t>IAM concepts</a:t>
            </a:r>
          </a:p>
        </p:txBody>
      </p:sp>
      <p:sp>
        <p:nvSpPr>
          <p:cNvPr id="2" name="Footer Placeholder 1"/>
          <p:cNvSpPr>
            <a:spLocks noGrp="1"/>
          </p:cNvSpPr>
          <p:nvPr>
            <p:ph type="ftr" sz="quarter" idx="3"/>
          </p:nvPr>
        </p:nvSpPr>
        <p:spPr>
          <a:prstGeom prst="rect">
            <a:avLst/>
          </a:prstGeom>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3345619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Security Mechanisms</a:t>
            </a:r>
          </a:p>
        </p:txBody>
      </p:sp>
      <p:sp>
        <p:nvSpPr>
          <p:cNvPr id="3" name="Content Placeholder 2"/>
          <p:cNvSpPr>
            <a:spLocks noGrp="1"/>
          </p:cNvSpPr>
          <p:nvPr>
            <p:ph sz="quarter" idx="10"/>
          </p:nvPr>
        </p:nvSpPr>
        <p:spPr/>
        <p:txBody>
          <a:bodyPr/>
          <a:lstStyle/>
          <a:p>
            <a:r>
              <a:rPr lang="en-US" dirty="0"/>
              <a:t>Security mechanisms can be classified as:</a:t>
            </a:r>
          </a:p>
          <a:p>
            <a:endParaRPr lang="en-US" dirty="0"/>
          </a:p>
          <a:p>
            <a:endParaRPr lang="en-US" dirty="0"/>
          </a:p>
          <a:p>
            <a:endParaRPr lang="en-US" dirty="0"/>
          </a:p>
          <a:p>
            <a:pPr marL="0" indent="0">
              <a:buNone/>
            </a:pPr>
            <a:endParaRPr lang="en-US" sz="400" dirty="0"/>
          </a:p>
          <a:p>
            <a:r>
              <a:rPr lang="en-US" dirty="0"/>
              <a:t>Technical security mechanisms must be deployed at:</a:t>
            </a:r>
          </a:p>
          <a:p>
            <a:pPr lvl="1"/>
            <a:r>
              <a:rPr lang="en-US" dirty="0"/>
              <a:t>Compute level</a:t>
            </a:r>
          </a:p>
          <a:p>
            <a:pPr lvl="1"/>
            <a:r>
              <a:rPr lang="en-US" dirty="0"/>
              <a:t>Network level</a:t>
            </a:r>
          </a:p>
          <a:p>
            <a:pPr lvl="1"/>
            <a:r>
              <a:rPr lang="en-US" dirty="0"/>
              <a:t>Storage level</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236404335"/>
              </p:ext>
            </p:extLst>
          </p:nvPr>
        </p:nvGraphicFramePr>
        <p:xfrm>
          <a:off x="838201" y="1515110"/>
          <a:ext cx="7467599" cy="1285240"/>
        </p:xfrm>
        <a:graphic>
          <a:graphicData uri="http://schemas.openxmlformats.org/drawingml/2006/table">
            <a:tbl>
              <a:tblPr firstRow="1" bandRow="1">
                <a:tableStyleId>{5C22544A-7EE6-4342-B048-85BDC9FD1C3A}</a:tableStyleId>
              </a:tblPr>
              <a:tblGrid>
                <a:gridCol w="1773554">
                  <a:extLst>
                    <a:ext uri="{9D8B030D-6E8A-4147-A177-3AD203B41FA5}">
                      <a16:colId xmlns:a16="http://schemas.microsoft.com/office/drawing/2014/main" val="20000"/>
                    </a:ext>
                  </a:extLst>
                </a:gridCol>
                <a:gridCol w="5694045">
                  <a:extLst>
                    <a:ext uri="{9D8B030D-6E8A-4147-A177-3AD203B41FA5}">
                      <a16:colId xmlns:a16="http://schemas.microsoft.com/office/drawing/2014/main" val="20001"/>
                    </a:ext>
                  </a:extLst>
                </a:gridCol>
              </a:tblGrid>
              <a:tr h="370840">
                <a:tc>
                  <a:txBody>
                    <a:bodyPr/>
                    <a:lstStyle/>
                    <a:p>
                      <a:pPr algn="l"/>
                      <a:r>
                        <a:rPr lang="en-US" sz="1300" dirty="0">
                          <a:latin typeface="+mn-lt"/>
                        </a:rPr>
                        <a:t>Mechanisms</a:t>
                      </a:r>
                    </a:p>
                  </a:txBody>
                  <a:tcPr anchor="ctr"/>
                </a:tc>
                <a:tc>
                  <a:txBody>
                    <a:bodyPr/>
                    <a:lstStyle/>
                    <a:p>
                      <a:pPr algn="l"/>
                      <a:r>
                        <a:rPr lang="en-US" sz="1300" dirty="0">
                          <a:latin typeface="+mn-lt"/>
                        </a:rPr>
                        <a:t>Description</a:t>
                      </a:r>
                    </a:p>
                  </a:txBody>
                  <a:tcPr anchor="ct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Administrative</a:t>
                      </a:r>
                    </a:p>
                  </a:txBody>
                  <a:tcPr anchor="ct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Security and personnel policies or standard procedures to direct the safe execution of various operations</a:t>
                      </a:r>
                    </a:p>
                  </a:txBody>
                  <a:tcPr anchor="ctr"/>
                </a:tc>
                <a:extLst>
                  <a:ext uri="{0D108BD9-81ED-4DB2-BD59-A6C34878D82A}">
                    <a16:rowId xmlns:a16="http://schemas.microsoft.com/office/drawing/2014/main" val="10001"/>
                  </a:ext>
                </a:extLst>
              </a:tr>
              <a:tr h="370840">
                <a:tc>
                  <a:txBody>
                    <a:bodyPr/>
                    <a:lstStyle/>
                    <a:p>
                      <a:r>
                        <a:rPr lang="en-US" sz="1200" dirty="0">
                          <a:latin typeface="+mn-lt"/>
                        </a:rPr>
                        <a:t>Technical</a:t>
                      </a:r>
                    </a:p>
                  </a:txBody>
                  <a:tcPr anchor="ct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Usually implemented through tools or devices deployed on computer systems, networks, or storage</a:t>
                      </a:r>
                    </a:p>
                  </a:txBody>
                  <a:tcPr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819518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r>
            <a:br>
              <a:rPr lang="en-US" dirty="0"/>
            </a:br>
            <a:endParaRPr lang="en-IN" dirty="0"/>
          </a:p>
        </p:txBody>
      </p:sp>
      <p:sp>
        <p:nvSpPr>
          <p:cNvPr id="3" name="Content Placeholder 2"/>
          <p:cNvSpPr>
            <a:spLocks noGrp="1"/>
          </p:cNvSpPr>
          <p:nvPr>
            <p:ph sz="quarter" idx="10"/>
          </p:nvPr>
        </p:nvSpPr>
        <p:spPr/>
        <p:txBody>
          <a:bodyPr/>
          <a:lstStyle/>
          <a:p>
            <a:r>
              <a:rPr lang="en-US" dirty="0" smtClean="0"/>
              <a:t>Physical </a:t>
            </a:r>
            <a:r>
              <a:rPr lang="en-US" dirty="0"/>
              <a:t>security</a:t>
            </a:r>
          </a:p>
          <a:p>
            <a:r>
              <a:rPr lang="en-US" dirty="0"/>
              <a:t>IAM concepts as given below:-</a:t>
            </a:r>
          </a:p>
          <a:p>
            <a:r>
              <a:rPr lang="en-US" dirty="0"/>
              <a:t>OAuth</a:t>
            </a:r>
          </a:p>
          <a:p>
            <a:r>
              <a:rPr lang="en-US" dirty="0"/>
              <a:t>Multi-factor authentication</a:t>
            </a:r>
          </a:p>
          <a:p>
            <a:r>
              <a:rPr lang="en-US" dirty="0"/>
              <a:t>Kerberos and CHAP</a:t>
            </a:r>
          </a:p>
          <a:p>
            <a:r>
              <a:rPr lang="en-US" dirty="0" err="1"/>
              <a:t>OpenID</a:t>
            </a:r>
            <a:endParaRPr lang="en-US" dirty="0"/>
          </a:p>
          <a:p>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3052550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Physical Security</a:t>
            </a:r>
          </a:p>
        </p:txBody>
      </p:sp>
      <p:sp>
        <p:nvSpPr>
          <p:cNvPr id="3" name="Content Placeholder 2"/>
          <p:cNvSpPr>
            <a:spLocks noGrp="1"/>
          </p:cNvSpPr>
          <p:nvPr>
            <p:ph sz="quarter" idx="10"/>
          </p:nvPr>
        </p:nvSpPr>
        <p:spPr/>
        <p:txBody>
          <a:bodyPr/>
          <a:lstStyle/>
          <a:p>
            <a:r>
              <a:rPr lang="en-US" dirty="0"/>
              <a:t>Foundation of overall IT security strategy</a:t>
            </a:r>
          </a:p>
          <a:p>
            <a:r>
              <a:rPr lang="en-US" dirty="0"/>
              <a:t>Some of the measures to secure cloud infrastructure are: </a:t>
            </a:r>
          </a:p>
          <a:p>
            <a:pPr lvl="1"/>
            <a:r>
              <a:rPr lang="en-US" dirty="0"/>
              <a:t>Disabling all unused devices and ports</a:t>
            </a:r>
          </a:p>
          <a:p>
            <a:pPr lvl="1"/>
            <a:r>
              <a:rPr lang="en-US" dirty="0"/>
              <a:t>24/7/365 onsite security</a:t>
            </a:r>
          </a:p>
          <a:p>
            <a:pPr lvl="1"/>
            <a:r>
              <a:rPr lang="en-US" dirty="0"/>
              <a:t>Biometric or security badge-based authentication to grant access to the facilities</a:t>
            </a:r>
          </a:p>
          <a:p>
            <a:pPr lvl="1"/>
            <a:r>
              <a:rPr lang="en-US" dirty="0"/>
              <a:t>Surveillance cameras to monitor activity throughout the facility</a:t>
            </a:r>
          </a:p>
          <a:p>
            <a:pPr lvl="1"/>
            <a:r>
              <a:rPr lang="en-US" dirty="0"/>
              <a:t>Sensors and alarms to detect motion and fire</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3531526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2000" dirty="0"/>
              <a:t>Identity and Access </a:t>
            </a:r>
            <a:r>
              <a:rPr lang="en-US" sz="2000" dirty="0" smtClean="0"/>
              <a:t>Management concepts :Slide 25 to  31</a:t>
            </a:r>
            <a:endParaRPr lang="en-US" sz="2000" dirty="0"/>
          </a:p>
        </p:txBody>
      </p:sp>
      <p:sp>
        <p:nvSpPr>
          <p:cNvPr id="3" name="Content Placeholder 2"/>
          <p:cNvSpPr>
            <a:spLocks noGrp="1"/>
          </p:cNvSpPr>
          <p:nvPr>
            <p:ph sz="quarter" idx="10"/>
          </p:nvPr>
        </p:nvSpPr>
        <p:spPr>
          <a:xfrm>
            <a:off x="379413" y="2019300"/>
            <a:ext cx="8458200" cy="2457450"/>
          </a:xfrm>
        </p:spPr>
        <p:txBody>
          <a:bodyPr/>
          <a:lstStyle/>
          <a:p>
            <a:r>
              <a:rPr lang="en-US" dirty="0"/>
              <a:t>Cloud providers deploy both traditional and new authentication and authorization mechanisms</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9" name="Group 8"/>
          <p:cNvGrpSpPr/>
          <p:nvPr/>
        </p:nvGrpSpPr>
        <p:grpSpPr>
          <a:xfrm>
            <a:off x="175740" y="853609"/>
            <a:ext cx="8495413" cy="1032341"/>
            <a:chOff x="175740" y="853609"/>
            <a:chExt cx="8495413" cy="1032341"/>
          </a:xfrm>
        </p:grpSpPr>
        <p:sp>
          <p:nvSpPr>
            <p:cNvPr id="6" name="Rectangle 5"/>
            <p:cNvSpPr/>
            <p:nvPr/>
          </p:nvSpPr>
          <p:spPr>
            <a:xfrm>
              <a:off x="441553" y="1052339"/>
              <a:ext cx="8229600" cy="8336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 process of managing consumers’ identifiers, and their authentication and authorization to access cloud resources. </a:t>
              </a: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a:solidFill>
                    <a:schemeClr val="bg1"/>
                  </a:solidFill>
                  <a:ea typeface="Verdana" panose="020B0604030504040204" pitchFamily="34" charset="0"/>
                  <a:cs typeface="Verdana" panose="020B0604030504040204" pitchFamily="34" charset="0"/>
                </a:rPr>
                <a:t>Identity and Access Management</a:t>
              </a:r>
            </a:p>
          </p:txBody>
        </p:sp>
      </p:grpSp>
      <p:graphicFrame>
        <p:nvGraphicFramePr>
          <p:cNvPr id="8" name="Table 7"/>
          <p:cNvGraphicFramePr>
            <a:graphicFrameLocks noGrp="1"/>
          </p:cNvGraphicFramePr>
          <p:nvPr>
            <p:extLst>
              <p:ext uri="{D42A27DB-BD31-4B8C-83A1-F6EECF244321}">
                <p14:modId xmlns:p14="http://schemas.microsoft.com/office/powerpoint/2010/main" val="3630112428"/>
              </p:ext>
            </p:extLst>
          </p:nvPr>
        </p:nvGraphicFramePr>
        <p:xfrm>
          <a:off x="490602" y="2647950"/>
          <a:ext cx="8162797" cy="1690361"/>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209797">
                  <a:extLst>
                    <a:ext uri="{9D8B030D-6E8A-4147-A177-3AD203B41FA5}">
                      <a16:colId xmlns:a16="http://schemas.microsoft.com/office/drawing/2014/main" val="20002"/>
                    </a:ext>
                  </a:extLst>
                </a:gridCol>
              </a:tblGrid>
              <a:tr h="358667">
                <a:tc>
                  <a:txBody>
                    <a:bodyPr/>
                    <a:lstStyle/>
                    <a:p>
                      <a:pPr algn="ctr"/>
                      <a:r>
                        <a:rPr lang="en-US" sz="1400" dirty="0">
                          <a:latin typeface="+mn-lt"/>
                        </a:rPr>
                        <a:t>Mechanisms</a:t>
                      </a: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latin typeface="+mn-lt"/>
                        </a:rPr>
                        <a:t>Description</a:t>
                      </a:r>
                    </a:p>
                    <a:p>
                      <a:pPr algn="ctr"/>
                      <a:endParaRPr lang="en-US" sz="1400" dirty="0">
                        <a:latin typeface="+mn-lt"/>
                      </a:endParaRPr>
                    </a:p>
                  </a:txBody>
                  <a:tcPr anchor="ctr"/>
                </a:tc>
                <a:tc>
                  <a:txBody>
                    <a:bodyPr/>
                    <a:lstStyle/>
                    <a:p>
                      <a:pPr algn="ctr"/>
                      <a:r>
                        <a:rPr lang="en-US" sz="1400" dirty="0">
                          <a:latin typeface="+mn-lt"/>
                        </a:rPr>
                        <a:t>Examples</a:t>
                      </a:r>
                    </a:p>
                  </a:txBody>
                  <a:tcPr anchor="ctr"/>
                </a:tc>
                <a:extLst>
                  <a:ext uri="{0D108BD9-81ED-4DB2-BD59-A6C34878D82A}">
                    <a16:rowId xmlns:a16="http://schemas.microsoft.com/office/drawing/2014/main" val="10000"/>
                  </a:ext>
                </a:extLst>
              </a:tr>
              <a:tr h="419852">
                <a:tc>
                  <a:txBody>
                    <a:bodyPr/>
                    <a:lstStyle/>
                    <a:p>
                      <a:pPr algn="ctr"/>
                      <a:r>
                        <a:rPr lang="en-US" sz="1400" dirty="0">
                          <a:latin typeface="+mn-lt"/>
                        </a:rPr>
                        <a:t>Authorization </a:t>
                      </a:r>
                    </a:p>
                  </a:txBody>
                  <a:tcPr anchor="ctr"/>
                </a:tc>
                <a:tc>
                  <a:txBody>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lang="en-US" sz="1400" dirty="0">
                          <a:latin typeface="+mn-lt"/>
                        </a:rPr>
                        <a:t>Restricts accessibility and sharing of files and folders</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a:latin typeface="+mn-lt"/>
                        </a:rPr>
                        <a:t>Windows ACLs, UNIX permissions, and </a:t>
                      </a:r>
                      <a:r>
                        <a:rPr lang="en-US" sz="1400" dirty="0" err="1">
                          <a:latin typeface="+mn-lt"/>
                        </a:rPr>
                        <a:t>OAuth</a:t>
                      </a:r>
                      <a:endParaRPr lang="en-US" sz="1400" dirty="0">
                        <a:latin typeface="+mn-lt"/>
                      </a:endParaRPr>
                    </a:p>
                  </a:txBody>
                  <a:tcPr anchor="ctr"/>
                </a:tc>
                <a:extLst>
                  <a:ext uri="{0D108BD9-81ED-4DB2-BD59-A6C34878D82A}">
                    <a16:rowId xmlns:a16="http://schemas.microsoft.com/office/drawing/2014/main" val="10001"/>
                  </a:ext>
                </a:extLst>
              </a:tr>
              <a:tr h="654041">
                <a:tc>
                  <a:txBody>
                    <a:bodyPr/>
                    <a:lstStyle/>
                    <a:p>
                      <a:pPr algn="ctr"/>
                      <a:r>
                        <a:rPr lang="en-US" sz="1400" dirty="0">
                          <a:latin typeface="+mn-lt"/>
                        </a:rPr>
                        <a:t>Authentication </a:t>
                      </a:r>
                    </a:p>
                  </a:txBody>
                  <a:tcPr anchor="ct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1400" dirty="0">
                          <a:latin typeface="+mn-lt"/>
                        </a:rPr>
                        <a:t>Enables authentication among client and server</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a:latin typeface="+mn-lt"/>
                        </a:rPr>
                        <a:t>Multi-factor authentication, Kerberos, CHAP,  and </a:t>
                      </a:r>
                      <a:r>
                        <a:rPr lang="en-US" sz="1400" dirty="0" err="1">
                          <a:latin typeface="+mn-lt"/>
                        </a:rPr>
                        <a:t>OpenID</a:t>
                      </a:r>
                      <a:endParaRPr lang="en-US" sz="1400" dirty="0">
                        <a:latin typeface="+mn-lt"/>
                      </a:endParaRPr>
                    </a:p>
                  </a:txBody>
                  <a:tcPr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306549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OAuth</a:t>
            </a:r>
            <a:endParaRPr lang="en-US" dirty="0"/>
          </a:p>
        </p:txBody>
      </p:sp>
      <p:sp>
        <p:nvSpPr>
          <p:cNvPr id="3" name="Content Placeholder 2"/>
          <p:cNvSpPr>
            <a:spLocks noGrp="1"/>
          </p:cNvSpPr>
          <p:nvPr>
            <p:ph sz="quarter" idx="10"/>
          </p:nvPr>
        </p:nvSpPr>
        <p:spPr>
          <a:xfrm>
            <a:off x="379413" y="2114550"/>
            <a:ext cx="3430587" cy="2305050"/>
          </a:xfrm>
        </p:spPr>
        <p:txBody>
          <a:bodyPr/>
          <a:lstStyle/>
          <a:p>
            <a:r>
              <a:rPr lang="en-US" dirty="0"/>
              <a:t>Entities involved in authorization:</a:t>
            </a:r>
          </a:p>
          <a:p>
            <a:pPr lvl="1"/>
            <a:r>
              <a:rPr lang="en-US" dirty="0"/>
              <a:t>Resource owner </a:t>
            </a:r>
          </a:p>
          <a:p>
            <a:pPr lvl="1"/>
            <a:r>
              <a:rPr lang="en-US" dirty="0"/>
              <a:t>Resource server </a:t>
            </a:r>
          </a:p>
          <a:p>
            <a:pPr lvl="1"/>
            <a:r>
              <a:rPr lang="en-US" dirty="0"/>
              <a:t>Client</a:t>
            </a:r>
          </a:p>
          <a:p>
            <a:pPr lvl="1"/>
            <a:r>
              <a:rPr lang="en-US" dirty="0"/>
              <a:t>Authorization server</a:t>
            </a:r>
          </a:p>
          <a:p>
            <a:pPr lvl="1"/>
            <a:endParaRPr lang="en-US" dirty="0"/>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8" name="Group 7"/>
          <p:cNvGrpSpPr/>
          <p:nvPr/>
        </p:nvGrpSpPr>
        <p:grpSpPr>
          <a:xfrm>
            <a:off x="175740" y="853609"/>
            <a:ext cx="8495413" cy="1032341"/>
            <a:chOff x="175740" y="853609"/>
            <a:chExt cx="8495413" cy="1032341"/>
          </a:xfrm>
        </p:grpSpPr>
        <p:sp>
          <p:nvSpPr>
            <p:cNvPr id="6" name="Rectangle 5"/>
            <p:cNvSpPr/>
            <p:nvPr/>
          </p:nvSpPr>
          <p:spPr>
            <a:xfrm>
              <a:off x="441553" y="1052339"/>
              <a:ext cx="8229600" cy="8336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An open authorization mechanism allows a client to access protected resources from a resource server on behalf of a resource owner.</a:t>
              </a: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err="1">
                  <a:solidFill>
                    <a:schemeClr val="bg1"/>
                  </a:solidFill>
                  <a:ea typeface="Verdana" panose="020B0604030504040204" pitchFamily="34" charset="0"/>
                  <a:cs typeface="Verdana" panose="020B0604030504040204" pitchFamily="34" charset="0"/>
                </a:rPr>
                <a:t>OAuth</a:t>
              </a:r>
              <a:endParaRPr lang="en-US" sz="1600" b="1" kern="0" dirty="0">
                <a:solidFill>
                  <a:schemeClr val="bg1"/>
                </a:solidFill>
                <a:ea typeface="Verdana" panose="020B0604030504040204" pitchFamily="34" charset="0"/>
                <a:cs typeface="Verdana" panose="020B0604030504040204" pitchFamily="34" charset="0"/>
              </a:endParaRPr>
            </a:p>
          </p:txBody>
        </p:sp>
      </p:gr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2048393"/>
            <a:ext cx="3749040" cy="2352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62561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OAuth</a:t>
            </a:r>
            <a:endParaRPr lang="en-US" dirty="0"/>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9" name="Content Placeholder 2"/>
          <p:cNvSpPr>
            <a:spLocks noGrp="1"/>
          </p:cNvSpPr>
          <p:nvPr>
            <p:ph sz="quarter" idx="10"/>
          </p:nvPr>
        </p:nvSpPr>
        <p:spPr>
          <a:xfrm>
            <a:off x="379413" y="2114550"/>
            <a:ext cx="3430587" cy="2305050"/>
          </a:xfrm>
        </p:spPr>
        <p:txBody>
          <a:bodyPr/>
          <a:lstStyle/>
          <a:p>
            <a:r>
              <a:rPr lang="en-US" dirty="0"/>
              <a:t>Entities involved in authorization:</a:t>
            </a:r>
          </a:p>
          <a:p>
            <a:pPr lvl="1"/>
            <a:r>
              <a:rPr lang="en-US" dirty="0"/>
              <a:t>Resource owner </a:t>
            </a:r>
          </a:p>
          <a:p>
            <a:pPr lvl="1"/>
            <a:r>
              <a:rPr lang="en-US" dirty="0"/>
              <a:t>Resource server </a:t>
            </a:r>
          </a:p>
          <a:p>
            <a:pPr lvl="1"/>
            <a:r>
              <a:rPr lang="en-US" dirty="0"/>
              <a:t>Client</a:t>
            </a:r>
          </a:p>
          <a:p>
            <a:pPr lvl="1"/>
            <a:r>
              <a:rPr lang="en-US" dirty="0"/>
              <a:t>Authorization server</a:t>
            </a:r>
          </a:p>
          <a:p>
            <a:pPr lvl="1"/>
            <a:endParaRPr lang="en-US" dirty="0"/>
          </a:p>
        </p:txBody>
      </p:sp>
      <p:sp>
        <p:nvSpPr>
          <p:cNvPr id="14" name="Rectangle 13"/>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15" name="Group 14"/>
          <p:cNvGrpSpPr/>
          <p:nvPr/>
        </p:nvGrpSpPr>
        <p:grpSpPr>
          <a:xfrm>
            <a:off x="175740" y="853609"/>
            <a:ext cx="8495413" cy="1032341"/>
            <a:chOff x="175740" y="853609"/>
            <a:chExt cx="8495413" cy="1032341"/>
          </a:xfrm>
        </p:grpSpPr>
        <p:sp>
          <p:nvSpPr>
            <p:cNvPr id="16" name="Rectangle 15"/>
            <p:cNvSpPr/>
            <p:nvPr/>
          </p:nvSpPr>
          <p:spPr>
            <a:xfrm>
              <a:off x="441553" y="1052339"/>
              <a:ext cx="8229600" cy="8336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An open authorization mechanism allows a client to access protected resources from a resource server on behalf of a resource owner.</a:t>
              </a:r>
            </a:p>
          </p:txBody>
        </p:sp>
        <p:sp>
          <p:nvSpPr>
            <p:cNvPr id="17" name="Rectangle 1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err="1">
                  <a:solidFill>
                    <a:schemeClr val="bg1"/>
                  </a:solidFill>
                  <a:ea typeface="Verdana" panose="020B0604030504040204" pitchFamily="34" charset="0"/>
                  <a:cs typeface="Verdana" panose="020B0604030504040204" pitchFamily="34" charset="0"/>
                </a:rPr>
                <a:t>OAuth</a:t>
              </a:r>
              <a:endParaRPr lang="en-US" sz="1600" b="1" kern="0" dirty="0">
                <a:solidFill>
                  <a:schemeClr val="bg1"/>
                </a:solidFill>
                <a:ea typeface="Verdana" panose="020B0604030504040204" pitchFamily="34" charset="0"/>
                <a:cs typeface="Verdana" panose="020B0604030504040204" pitchFamily="34" charset="0"/>
              </a:endParaRPr>
            </a:p>
          </p:txBody>
        </p:sp>
      </p:grpSp>
      <p:pic>
        <p:nvPicPr>
          <p:cNvPr id="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2048393"/>
            <a:ext cx="3749040" cy="2352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0953636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Multi-factor Authentication</a:t>
            </a:r>
          </a:p>
        </p:txBody>
      </p:sp>
      <p:sp>
        <p:nvSpPr>
          <p:cNvPr id="3" name="Content Placeholder 2"/>
          <p:cNvSpPr>
            <a:spLocks noGrp="1"/>
          </p:cNvSpPr>
          <p:nvPr>
            <p:ph sz="quarter" idx="10"/>
          </p:nvPr>
        </p:nvSpPr>
        <p:spPr/>
        <p:txBody>
          <a:bodyPr/>
          <a:lstStyle/>
          <a:p>
            <a:r>
              <a:rPr lang="en-US" dirty="0"/>
              <a:t>Multiple factors for authentication:</a:t>
            </a:r>
          </a:p>
          <a:p>
            <a:pPr lvl="1"/>
            <a:r>
              <a:rPr lang="en-US" dirty="0"/>
              <a:t>First factor: What a user knows? For example, a password</a:t>
            </a:r>
          </a:p>
          <a:p>
            <a:pPr lvl="1"/>
            <a:r>
              <a:rPr lang="en-US" dirty="0"/>
              <a:t>Second factor: What the user has? For example, a token</a:t>
            </a:r>
          </a:p>
          <a:p>
            <a:pPr lvl="1"/>
            <a:r>
              <a:rPr lang="en-US" dirty="0"/>
              <a:t>Third factor: Who is the user? or What the user did? For example, a unique ID or user’s past activity </a:t>
            </a:r>
          </a:p>
          <a:p>
            <a:r>
              <a:rPr lang="en-US" dirty="0"/>
              <a:t>Access is granted only when all the factors are validated</a:t>
            </a:r>
          </a:p>
          <a:p>
            <a:endParaRPr lang="en-US" dirty="0"/>
          </a:p>
        </p:txBody>
      </p:sp>
      <p:sp>
        <p:nvSpPr>
          <p:cNvPr id="4" name="Footer Placeholder 3"/>
          <p:cNvSpPr>
            <a:spLocks noGrp="1"/>
          </p:cNvSpPr>
          <p:nvPr>
            <p:ph type="ftr" sz="quarter" idx="3"/>
          </p:nvPr>
        </p:nvSpPr>
        <p:spPr/>
        <p:txBody>
          <a:bodyPr/>
          <a:lstStyle/>
          <a:p>
            <a:pPr algn="r"/>
            <a:r>
              <a:rPr lang="en-US"/>
              <a:t>Module: Security</a:t>
            </a:r>
            <a:endParaRPr lang="en-US" dirty="0"/>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036420"/>
            <a:ext cx="7286625" cy="1973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1372163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Kerberos</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8" name="Group 7"/>
          <p:cNvGrpSpPr/>
          <p:nvPr/>
        </p:nvGrpSpPr>
        <p:grpSpPr>
          <a:xfrm>
            <a:off x="175740" y="853609"/>
            <a:ext cx="8495413" cy="1489541"/>
            <a:chOff x="175740" y="853609"/>
            <a:chExt cx="8495413" cy="1489541"/>
          </a:xfrm>
        </p:grpSpPr>
        <p:sp>
          <p:nvSpPr>
            <p:cNvPr id="6" name="Rectangle 5"/>
            <p:cNvSpPr/>
            <p:nvPr/>
          </p:nvSpPr>
          <p:spPr>
            <a:xfrm>
              <a:off x="441553" y="1052339"/>
              <a:ext cx="8229600" cy="12908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 network authentication protocol, which provides strong authentication for client/server applications by using secret-key cryptography. A client and server can prove their identity to each other across an insecure network connection.</a:t>
              </a: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a:solidFill>
                    <a:schemeClr val="bg1"/>
                  </a:solidFill>
                  <a:ea typeface="Verdana" panose="020B0604030504040204" pitchFamily="34" charset="0"/>
                  <a:cs typeface="Verdana" panose="020B0604030504040204" pitchFamily="34" charset="0"/>
                </a:rPr>
                <a:t>Kerberos</a:t>
              </a:r>
            </a:p>
          </p:txBody>
        </p:sp>
      </p:gr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6578" y="2491582"/>
            <a:ext cx="4830845" cy="244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116894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Kerberos</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3" name="Group 2"/>
          <p:cNvGrpSpPr/>
          <p:nvPr/>
        </p:nvGrpSpPr>
        <p:grpSpPr>
          <a:xfrm>
            <a:off x="175740" y="853609"/>
            <a:ext cx="8495413" cy="1489541"/>
            <a:chOff x="175740" y="853609"/>
            <a:chExt cx="8495413" cy="1489541"/>
          </a:xfrm>
        </p:grpSpPr>
        <p:sp>
          <p:nvSpPr>
            <p:cNvPr id="6" name="Rectangle 5"/>
            <p:cNvSpPr/>
            <p:nvPr/>
          </p:nvSpPr>
          <p:spPr>
            <a:xfrm>
              <a:off x="441553" y="1052339"/>
              <a:ext cx="8229600" cy="12908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 network authentication protocol, which provides strong authentication for client/server applications by using secret-key cryptography. A client and server can prove their identity to each other across an insecure network connection.</a:t>
              </a: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a:solidFill>
                    <a:schemeClr val="bg1"/>
                  </a:solidFill>
                  <a:ea typeface="Verdana" panose="020B0604030504040204" pitchFamily="34" charset="0"/>
                  <a:cs typeface="Verdana" panose="020B0604030504040204" pitchFamily="34" charset="0"/>
                </a:rPr>
                <a:t>Kerberos</a:t>
              </a:r>
            </a:p>
          </p:txBody>
        </p:sp>
      </p:gr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6578" y="2491582"/>
            <a:ext cx="4830845" cy="244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112815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Challenge Handshake Authentication Protocol</a:t>
            </a:r>
          </a:p>
        </p:txBody>
      </p:sp>
      <p:sp>
        <p:nvSpPr>
          <p:cNvPr id="3" name="Content Placeholder 2"/>
          <p:cNvSpPr>
            <a:spLocks noGrp="1"/>
          </p:cNvSpPr>
          <p:nvPr>
            <p:ph sz="quarter" idx="10"/>
          </p:nvPr>
        </p:nvSpPr>
        <p:spPr/>
        <p:txBody>
          <a:bodyPr/>
          <a:lstStyle/>
          <a:p>
            <a:r>
              <a:rPr lang="en-US" dirty="0"/>
              <a:t>Provides a method for initiators and targets to authenticate each other by utilizing a secret code</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2563" y="1724956"/>
            <a:ext cx="6238875" cy="3208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415255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OpenID</a:t>
            </a:r>
            <a:endParaRPr lang="en-US" dirty="0"/>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3" name="Group 2"/>
          <p:cNvGrpSpPr/>
          <p:nvPr/>
        </p:nvGrpSpPr>
        <p:grpSpPr>
          <a:xfrm>
            <a:off x="175740" y="853609"/>
            <a:ext cx="8495413" cy="1032341"/>
            <a:chOff x="175740" y="853609"/>
            <a:chExt cx="8495413" cy="1032341"/>
          </a:xfrm>
        </p:grpSpPr>
        <p:sp>
          <p:nvSpPr>
            <p:cNvPr id="6" name="Rectangle 5"/>
            <p:cNvSpPr/>
            <p:nvPr/>
          </p:nvSpPr>
          <p:spPr>
            <a:xfrm>
              <a:off x="441553" y="1052339"/>
              <a:ext cx="8229600" cy="8336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An open standard for authentication in which a service provider uses authentication services from an </a:t>
              </a:r>
              <a:r>
                <a:rPr lang="en-US" sz="1600" dirty="0" err="1">
                  <a:solidFill>
                    <a:schemeClr val="tx1"/>
                  </a:solidFill>
                </a:rPr>
                <a:t>OpenID</a:t>
              </a:r>
              <a:r>
                <a:rPr lang="en-US" sz="1600" dirty="0">
                  <a:solidFill>
                    <a:schemeClr val="tx1"/>
                  </a:solidFill>
                </a:rPr>
                <a:t> provider.</a:t>
              </a: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err="1">
                  <a:solidFill>
                    <a:schemeClr val="bg1"/>
                  </a:solidFill>
                  <a:ea typeface="Verdana" panose="020B0604030504040204" pitchFamily="34" charset="0"/>
                  <a:cs typeface="Verdana" panose="020B0604030504040204" pitchFamily="34" charset="0"/>
                </a:rPr>
                <a:t>OpenID</a:t>
              </a:r>
              <a:endParaRPr lang="en-US" sz="1600" b="1" kern="0" dirty="0">
                <a:solidFill>
                  <a:schemeClr val="bg1"/>
                </a:solidFill>
                <a:ea typeface="Verdana" panose="020B0604030504040204" pitchFamily="34" charset="0"/>
                <a:cs typeface="Verdana" panose="020B0604030504040204" pitchFamily="34" charset="0"/>
              </a:endParaRPr>
            </a:p>
          </p:txBody>
        </p:sp>
      </p:gr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6823" y="2004054"/>
            <a:ext cx="6670354" cy="2905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797171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a:xfrm>
            <a:off x="533399" y="1123950"/>
            <a:ext cx="8077201" cy="3124200"/>
          </a:xfrm>
        </p:spPr>
        <p:txBody>
          <a:bodyPr/>
          <a:lstStyle/>
          <a:p>
            <a:pPr marL="0" indent="0">
              <a:buNone/>
            </a:pPr>
            <a:r>
              <a:rPr lang="en-US" dirty="0"/>
              <a:t>During this lesson the following topics were covered:</a:t>
            </a:r>
          </a:p>
          <a:p>
            <a:r>
              <a:rPr lang="en-US" dirty="0"/>
              <a:t>Physical </a:t>
            </a:r>
            <a:r>
              <a:rPr lang="en-US" dirty="0" smtClean="0"/>
              <a:t>security</a:t>
            </a:r>
          </a:p>
          <a:p>
            <a:r>
              <a:rPr lang="en-US" dirty="0" smtClean="0"/>
              <a:t>IAM concepts as given below:-</a:t>
            </a:r>
            <a:endParaRPr lang="en-US" dirty="0"/>
          </a:p>
          <a:p>
            <a:r>
              <a:rPr lang="en-US" dirty="0" smtClean="0"/>
              <a:t>OAuth</a:t>
            </a:r>
            <a:endParaRPr lang="en-US" dirty="0"/>
          </a:p>
          <a:p>
            <a:r>
              <a:rPr lang="en-US" dirty="0"/>
              <a:t>Multi-factor authentication</a:t>
            </a:r>
          </a:p>
          <a:p>
            <a:r>
              <a:rPr lang="en-US" dirty="0"/>
              <a:t>Kerberos and CHAP</a:t>
            </a:r>
          </a:p>
          <a:p>
            <a:r>
              <a:rPr lang="en-US" dirty="0" err="1"/>
              <a:t>OpenID</a:t>
            </a:r>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17131272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Security Mechanisms – </a:t>
            </a:r>
            <a:r>
              <a:rPr lang="en-US" dirty="0" smtClean="0"/>
              <a:t>I</a:t>
            </a:r>
            <a:r>
              <a:rPr lang="en-US" dirty="0"/>
              <a:t/>
            </a:r>
            <a:br>
              <a:rPr lang="en-US" dirty="0"/>
            </a:br>
            <a:endParaRPr lang="en-US" dirty="0"/>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Role-based access control</a:t>
            </a:r>
          </a:p>
          <a:p>
            <a:pPr>
              <a:defRPr/>
            </a:pPr>
            <a:r>
              <a:rPr lang="en-US" dirty="0"/>
              <a:t>Network monitoring and analysis</a:t>
            </a:r>
          </a:p>
          <a:p>
            <a:pPr>
              <a:defRPr/>
            </a:pPr>
            <a:r>
              <a:rPr lang="en-US" dirty="0"/>
              <a:t>Firewall and intrusion detection and prevention </a:t>
            </a:r>
            <a:r>
              <a:rPr lang="en-US" dirty="0" smtClean="0"/>
              <a:t>system</a:t>
            </a:r>
            <a:endParaRPr lang="en-US" dirty="0"/>
          </a:p>
        </p:txBody>
      </p:sp>
      <p:sp>
        <p:nvSpPr>
          <p:cNvPr id="2" name="Footer Placeholder 1"/>
          <p:cNvSpPr>
            <a:spLocks noGrp="1"/>
          </p:cNvSpPr>
          <p:nvPr>
            <p:ph type="ftr" sz="quarter" idx="3"/>
          </p:nvPr>
        </p:nvSpPr>
        <p:spPr>
          <a:prstGeom prst="rect">
            <a:avLst/>
          </a:prstGeom>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16724197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ctrTitle"/>
          </p:nvPr>
        </p:nvSpPr>
        <p:spPr/>
        <p:txBody>
          <a:bodyPr/>
          <a:lstStyle/>
          <a:p>
            <a:r>
              <a:rPr lang="en-US" dirty="0"/>
              <a:t>Key Security </a:t>
            </a:r>
            <a:r>
              <a:rPr lang="en-US" dirty="0" smtClean="0"/>
              <a:t>Mechanisms -II</a:t>
            </a:r>
            <a:endParaRPr lang="en-US" dirty="0"/>
          </a:p>
        </p:txBody>
      </p:sp>
      <p:sp>
        <p:nvSpPr>
          <p:cNvPr id="5" name="Content Placeholder 4"/>
          <p:cNvSpPr>
            <a:spLocks noGrp="1"/>
          </p:cNvSpPr>
          <p:nvPr>
            <p:ph sz="quarter" idx="10"/>
          </p:nvPr>
        </p:nvSpPr>
        <p:spPr/>
        <p:txBody>
          <a:bodyPr/>
          <a:lstStyle/>
          <a:p>
            <a:r>
              <a:rPr lang="en-US" sz="1600" dirty="0" smtClean="0"/>
              <a:t>Role-based </a:t>
            </a:r>
            <a:r>
              <a:rPr lang="en-US" sz="1600" dirty="0"/>
              <a:t>access control</a:t>
            </a:r>
          </a:p>
          <a:p>
            <a:r>
              <a:rPr lang="en-US" sz="1600" dirty="0"/>
              <a:t>Network monitoring and analysis</a:t>
            </a:r>
          </a:p>
          <a:p>
            <a:r>
              <a:rPr lang="en-US" sz="1600" dirty="0"/>
              <a:t>Firewall</a:t>
            </a:r>
          </a:p>
          <a:p>
            <a:r>
              <a:rPr lang="en-US" sz="1600" dirty="0"/>
              <a:t>Intrusion detection and prevention </a:t>
            </a:r>
            <a:r>
              <a:rPr lang="en-US" sz="1600" dirty="0" smtClean="0"/>
              <a:t>system</a:t>
            </a:r>
            <a:endParaRPr lang="en-US" sz="1600" dirty="0"/>
          </a:p>
        </p:txBody>
      </p:sp>
      <p:sp>
        <p:nvSpPr>
          <p:cNvPr id="9" name="Content Placeholder 8"/>
          <p:cNvSpPr>
            <a:spLocks noGrp="1"/>
          </p:cNvSpPr>
          <p:nvPr>
            <p:ph sz="quarter" idx="11"/>
          </p:nvPr>
        </p:nvSpPr>
        <p:spPr/>
        <p:txBody>
          <a:bodyPr/>
          <a:lstStyle/>
          <a:p>
            <a:r>
              <a:rPr lang="en-US" sz="1600" dirty="0" smtClean="0"/>
              <a:t>Data related security---</a:t>
            </a:r>
            <a:endParaRPr lang="en-US" sz="1600" dirty="0"/>
          </a:p>
          <a:p>
            <a:r>
              <a:rPr lang="en-US" sz="1600" dirty="0" smtClean="0"/>
              <a:t>Data </a:t>
            </a:r>
            <a:r>
              <a:rPr lang="en-US" sz="1600" dirty="0"/>
              <a:t>encryption</a:t>
            </a:r>
          </a:p>
          <a:p>
            <a:r>
              <a:rPr lang="en-US" sz="1600" dirty="0"/>
              <a:t>Data shredding</a:t>
            </a:r>
          </a:p>
        </p:txBody>
      </p:sp>
      <p:sp>
        <p:nvSpPr>
          <p:cNvPr id="4" name="Footer Placeholder 3"/>
          <p:cNvSpPr>
            <a:spLocks noGrp="1"/>
          </p:cNvSpPr>
          <p:nvPr>
            <p:ph type="ftr" sz="quarter" idx="3"/>
          </p:nvPr>
        </p:nvSpPr>
        <p:spPr>
          <a:xfrm>
            <a:off x="2590800" y="4953000"/>
            <a:ext cx="5181600" cy="133350"/>
          </a:xfrm>
          <a:prstGeom prst="rect">
            <a:avLst/>
          </a:prstGeom>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33331012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Role-based Access Control</a:t>
            </a:r>
          </a:p>
        </p:txBody>
      </p:sp>
      <p:sp>
        <p:nvSpPr>
          <p:cNvPr id="3" name="Content Placeholder 2"/>
          <p:cNvSpPr>
            <a:spLocks noGrp="1"/>
          </p:cNvSpPr>
          <p:nvPr>
            <p:ph sz="quarter" idx="10"/>
          </p:nvPr>
        </p:nvSpPr>
        <p:spPr/>
        <p:txBody>
          <a:bodyPr/>
          <a:lstStyle/>
          <a:p>
            <a:r>
              <a:rPr lang="en-US" dirty="0"/>
              <a:t>An approach to restrict access to authorized users based on their respective roles</a:t>
            </a:r>
          </a:p>
          <a:p>
            <a:pPr lvl="1"/>
            <a:r>
              <a:rPr lang="en-US" dirty="0"/>
              <a:t>Only those privileges are assigned to a role that are required to perform tasks associated with that role</a:t>
            </a:r>
          </a:p>
          <a:p>
            <a:r>
              <a:rPr lang="en-US" dirty="0"/>
              <a:t>Separation of duties ensure that no single individual can both specify an action and carry it out</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1010350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Network Monitoring and Analysis</a:t>
            </a:r>
          </a:p>
        </p:txBody>
      </p:sp>
      <p:sp>
        <p:nvSpPr>
          <p:cNvPr id="3" name="Content Placeholder 2"/>
          <p:cNvSpPr>
            <a:spLocks noGrp="1"/>
          </p:cNvSpPr>
          <p:nvPr>
            <p:ph sz="quarter" idx="10"/>
          </p:nvPr>
        </p:nvSpPr>
        <p:spPr/>
        <p:txBody>
          <a:bodyPr/>
          <a:lstStyle/>
          <a:p>
            <a:r>
              <a:rPr lang="en-US" dirty="0"/>
              <a:t>A proactive measure to detect and prevent network failure or performance problems</a:t>
            </a:r>
          </a:p>
          <a:p>
            <a:r>
              <a:rPr lang="en-US" dirty="0"/>
              <a:t>Network monitoring can be performed in two ways:</a:t>
            </a:r>
          </a:p>
          <a:p>
            <a:endParaRPr lang="en-US" dirty="0"/>
          </a:p>
          <a:p>
            <a:endParaRPr lang="en-US" dirty="0"/>
          </a:p>
          <a:p>
            <a:endParaRPr lang="en-US" dirty="0"/>
          </a:p>
          <a:p>
            <a:r>
              <a:rPr lang="en-US" dirty="0"/>
              <a:t>Mechanisms used to monitor, detect, and prevent attacks are:</a:t>
            </a:r>
          </a:p>
          <a:p>
            <a:pPr lvl="1"/>
            <a:r>
              <a:rPr lang="en-US" dirty="0"/>
              <a:t>Firewalls, IDPS and network analysis/forensics systems</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351696164"/>
              </p:ext>
            </p:extLst>
          </p:nvPr>
        </p:nvGraphicFramePr>
        <p:xfrm>
          <a:off x="685800" y="2190750"/>
          <a:ext cx="7772400" cy="12293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300" dirty="0">
                          <a:latin typeface="+mn-lt"/>
                        </a:rPr>
                        <a:t>Monitoring</a:t>
                      </a:r>
                    </a:p>
                    <a:p>
                      <a:endParaRPr lang="en-US" sz="13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300" dirty="0">
                          <a:latin typeface="+mn-lt"/>
                        </a:rPr>
                        <a:t>Description</a:t>
                      </a:r>
                    </a:p>
                    <a:p>
                      <a:endParaRPr lang="en-US" sz="1300"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Active</a:t>
                      </a:r>
                    </a:p>
                  </a:txBody>
                  <a:tcPr anchor="ct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Monitoring tools transmit data between two endpoints that are monitored</a:t>
                      </a:r>
                    </a:p>
                  </a:txBody>
                  <a:tcPr anchor="ctr"/>
                </a:tc>
                <a:extLst>
                  <a:ext uri="{0D108BD9-81ED-4DB2-BD59-A6C34878D82A}">
                    <a16:rowId xmlns:a16="http://schemas.microsoft.com/office/drawing/2014/main" val="10001"/>
                  </a:ext>
                </a:extLst>
              </a:tr>
              <a:tr h="370840">
                <a:tc>
                  <a:txBody>
                    <a:bodyPr/>
                    <a:lstStyle/>
                    <a:p>
                      <a:pPr algn="l"/>
                      <a:r>
                        <a:rPr lang="en-US" sz="1200" dirty="0">
                          <a:latin typeface="+mn-lt"/>
                        </a:rPr>
                        <a:t>Passive</a:t>
                      </a:r>
                    </a:p>
                  </a:txBody>
                  <a:tcPr anchor="ct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Information about a link or device is collected by probing the link or device</a:t>
                      </a:r>
                    </a:p>
                  </a:txBody>
                  <a:tcPr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1126101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Firewall</a:t>
            </a:r>
          </a:p>
        </p:txBody>
      </p:sp>
      <p:sp>
        <p:nvSpPr>
          <p:cNvPr id="3" name="Content Placeholder 2"/>
          <p:cNvSpPr>
            <a:spLocks noGrp="1"/>
          </p:cNvSpPr>
          <p:nvPr>
            <p:ph sz="quarter" idx="10"/>
          </p:nvPr>
        </p:nvSpPr>
        <p:spPr>
          <a:xfrm>
            <a:off x="379413" y="2095500"/>
            <a:ext cx="8458200" cy="2305050"/>
          </a:xfrm>
        </p:spPr>
        <p:txBody>
          <a:bodyPr/>
          <a:lstStyle/>
          <a:p>
            <a:r>
              <a:rPr lang="en-US" dirty="0"/>
              <a:t>Can be deployed at:</a:t>
            </a:r>
          </a:p>
          <a:p>
            <a:pPr lvl="1"/>
            <a:r>
              <a:rPr lang="en-US" dirty="0"/>
              <a:t>Network level</a:t>
            </a:r>
          </a:p>
          <a:p>
            <a:pPr lvl="1"/>
            <a:r>
              <a:rPr lang="en-US" dirty="0"/>
              <a:t>Compute level</a:t>
            </a:r>
          </a:p>
          <a:p>
            <a:pPr lvl="1"/>
            <a:r>
              <a:rPr lang="en-US" dirty="0"/>
              <a:t>Hypervisor level</a:t>
            </a:r>
          </a:p>
          <a:p>
            <a:r>
              <a:rPr lang="en-US" dirty="0"/>
              <a:t>Can be physical or virtual</a:t>
            </a:r>
          </a:p>
          <a:p>
            <a:r>
              <a:rPr lang="en-US" dirty="0"/>
              <a:t>Uses various parameter for traffic filtering</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grpSp>
        <p:nvGrpSpPr>
          <p:cNvPr id="9" name="Group 8"/>
          <p:cNvGrpSpPr/>
          <p:nvPr/>
        </p:nvGrpSpPr>
        <p:grpSpPr>
          <a:xfrm>
            <a:off x="175740" y="853609"/>
            <a:ext cx="8495413" cy="1127591"/>
            <a:chOff x="175740" y="853609"/>
            <a:chExt cx="8495413" cy="1127591"/>
          </a:xfrm>
        </p:grpSpPr>
        <p:sp>
          <p:nvSpPr>
            <p:cNvPr id="6" name="Rectangle 5"/>
            <p:cNvSpPr/>
            <p:nvPr/>
          </p:nvSpPr>
          <p:spPr>
            <a:xfrm>
              <a:off x="441553" y="1052339"/>
              <a:ext cx="8229600" cy="92886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dirty="0">
                  <a:solidFill>
                    <a:schemeClr val="tx1"/>
                  </a:solidFill>
                  <a:latin typeface="Calibri" pitchFamily="34" charset="0"/>
                </a:rPr>
                <a:t>A security mechanism designed to examine data packets traversing a network and compare them to a set of filtering rules.</a:t>
              </a: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schemeClr val="bg1"/>
                  </a:solidFill>
                  <a:latin typeface="Calibri" panose="020F0502020204030204" pitchFamily="34" charset="0"/>
                  <a:ea typeface="Verdana" panose="020B0604030504040204" pitchFamily="34" charset="0"/>
                  <a:cs typeface="Verdana" panose="020B0604030504040204" pitchFamily="34" charset="0"/>
                </a:rPr>
                <a:t>Firewall</a:t>
              </a:r>
            </a:p>
          </p:txBody>
        </p:sp>
      </p:grpSp>
      <p:sp>
        <p:nvSpPr>
          <p:cNvPr id="8" name="Line Callout 2 7"/>
          <p:cNvSpPr/>
          <p:nvPr/>
        </p:nvSpPr>
        <p:spPr>
          <a:xfrm>
            <a:off x="5486400" y="2571750"/>
            <a:ext cx="3194279" cy="914400"/>
          </a:xfrm>
          <a:prstGeom prst="borderCallout2">
            <a:avLst>
              <a:gd name="adj1" fmla="val 100000"/>
              <a:gd name="adj2" fmla="val 49603"/>
              <a:gd name="adj3" fmla="val 122223"/>
              <a:gd name="adj4" fmla="val 49655"/>
              <a:gd name="adj5" fmla="val 169444"/>
              <a:gd name="adj6" fmla="val 17458"/>
            </a:avLst>
          </a:prstGeom>
          <a:noFill/>
          <a:ln w="28575"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200" b="1" dirty="0">
                <a:solidFill>
                  <a:schemeClr val="tx1"/>
                </a:solidFill>
              </a:rPr>
              <a:t>Examples of filtering parameters:</a:t>
            </a:r>
          </a:p>
          <a:p>
            <a:pPr marL="171450" indent="-171450">
              <a:buFont typeface="Arial" panose="020B0604020202020204" pitchFamily="34" charset="0"/>
              <a:buChar char="•"/>
            </a:pPr>
            <a:r>
              <a:rPr lang="en-US" sz="1200" dirty="0">
                <a:solidFill>
                  <a:schemeClr val="tx1"/>
                </a:solidFill>
              </a:rPr>
              <a:t>Source address</a:t>
            </a:r>
          </a:p>
          <a:p>
            <a:pPr marL="171450" indent="-171450">
              <a:buFont typeface="Arial" panose="020B0604020202020204" pitchFamily="34" charset="0"/>
              <a:buChar char="•"/>
            </a:pPr>
            <a:r>
              <a:rPr lang="en-US" sz="1200" dirty="0">
                <a:solidFill>
                  <a:schemeClr val="tx1"/>
                </a:solidFill>
              </a:rPr>
              <a:t>Destination address</a:t>
            </a:r>
          </a:p>
          <a:p>
            <a:pPr marL="171450" indent="-171450">
              <a:buFont typeface="Arial" panose="020B0604020202020204" pitchFamily="34" charset="0"/>
              <a:buChar char="•"/>
            </a:pPr>
            <a:r>
              <a:rPr lang="en-US" sz="1200" dirty="0">
                <a:solidFill>
                  <a:schemeClr val="tx1"/>
                </a:solidFill>
              </a:rPr>
              <a:t>Port numbers and protocols</a:t>
            </a:r>
          </a:p>
          <a:p>
            <a:endParaRPr lang="en-US" sz="1200" dirty="0">
              <a:solidFill>
                <a:schemeClr val="tx1"/>
              </a:solidFill>
            </a:endParaRPr>
          </a:p>
        </p:txBody>
      </p:sp>
    </p:spTree>
    <p:custDataLst>
      <p:tags r:id="rId1"/>
    </p:custDataLst>
    <p:extLst>
      <p:ext uri="{BB962C8B-B14F-4D97-AF65-F5344CB8AC3E}">
        <p14:creationId xmlns:p14="http://schemas.microsoft.com/office/powerpoint/2010/main" val="1112500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Firewall</a:t>
            </a:r>
          </a:p>
        </p:txBody>
      </p:sp>
      <p:sp>
        <p:nvSpPr>
          <p:cNvPr id="3" name="Content Placeholder 2"/>
          <p:cNvSpPr>
            <a:spLocks noGrp="1"/>
          </p:cNvSpPr>
          <p:nvPr>
            <p:ph sz="quarter" idx="10"/>
          </p:nvPr>
        </p:nvSpPr>
        <p:spPr/>
        <p:txBody>
          <a:bodyPr/>
          <a:lstStyle/>
          <a:p>
            <a:r>
              <a:rPr lang="en-US" dirty="0"/>
              <a:t>Secure internal assets while allowing Internet-based access to resources</a:t>
            </a:r>
          </a:p>
        </p:txBody>
      </p:sp>
      <p:sp>
        <p:nvSpPr>
          <p:cNvPr id="8" name="Subtitle 7"/>
          <p:cNvSpPr>
            <a:spLocks noGrp="1"/>
          </p:cNvSpPr>
          <p:nvPr>
            <p:ph type="subTitle" idx="1"/>
          </p:nvPr>
        </p:nvSpPr>
        <p:spPr/>
        <p:txBody>
          <a:bodyPr/>
          <a:lstStyle/>
          <a:p>
            <a:r>
              <a:rPr lang="en-US" dirty="0"/>
              <a:t>Demilitarized Zone</a:t>
            </a:r>
          </a:p>
        </p:txBody>
      </p:sp>
      <p:sp>
        <p:nvSpPr>
          <p:cNvPr id="4" name="Footer Placeholder 3"/>
          <p:cNvSpPr>
            <a:spLocks noGrp="1"/>
          </p:cNvSpPr>
          <p:nvPr>
            <p:ph type="ftr" sz="quarter" idx="3"/>
          </p:nvPr>
        </p:nvSpPr>
        <p:spPr>
          <a:xfrm>
            <a:off x="2590800" y="4953000"/>
            <a:ext cx="5181600" cy="133350"/>
          </a:xfrm>
          <a:prstGeom prst="rect">
            <a:avLst/>
          </a:prstGeom>
        </p:spPr>
        <p:txBody>
          <a:bodyPr/>
          <a:lstStyle/>
          <a:p>
            <a:pPr algn="r"/>
            <a:r>
              <a:rPr lang="en-US"/>
              <a:t>Module: Security</a:t>
            </a:r>
            <a:endParaRPr lang="en-US" dirty="0"/>
          </a:p>
        </p:txBody>
      </p:sp>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970954"/>
            <a:ext cx="6248400" cy="2810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969842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Intrusion Detection and Prevention System</a:t>
            </a:r>
          </a:p>
        </p:txBody>
      </p:sp>
      <p:sp>
        <p:nvSpPr>
          <p:cNvPr id="3" name="Content Placeholder 2"/>
          <p:cNvSpPr>
            <a:spLocks noGrp="1"/>
          </p:cNvSpPr>
          <p:nvPr>
            <p:ph sz="quarter" idx="10"/>
          </p:nvPr>
        </p:nvSpPr>
        <p:spPr>
          <a:xfrm>
            <a:off x="379413" y="2247900"/>
            <a:ext cx="6021387" cy="2228850"/>
          </a:xfrm>
        </p:spPr>
        <p:txBody>
          <a:bodyPr/>
          <a:lstStyle/>
          <a:p>
            <a:r>
              <a:rPr lang="en-US" dirty="0"/>
              <a:t>Signature-based detection technique</a:t>
            </a:r>
          </a:p>
          <a:p>
            <a:pPr lvl="1"/>
            <a:r>
              <a:rPr lang="en-US" dirty="0"/>
              <a:t>Scans for signatures to detect an intrusion</a:t>
            </a:r>
          </a:p>
          <a:p>
            <a:pPr lvl="1"/>
            <a:r>
              <a:rPr lang="en-US" dirty="0"/>
              <a:t>Effective only for known threats</a:t>
            </a:r>
          </a:p>
          <a:p>
            <a:r>
              <a:rPr lang="en-US" dirty="0"/>
              <a:t>Anomaly-based detection technique</a:t>
            </a:r>
          </a:p>
          <a:p>
            <a:pPr lvl="1"/>
            <a:r>
              <a:rPr lang="en-US" dirty="0"/>
              <a:t>Scans and analyzes events to detect if they are statistically different from normal events</a:t>
            </a:r>
          </a:p>
          <a:p>
            <a:pPr lvl="1"/>
            <a:r>
              <a:rPr lang="en-US" dirty="0"/>
              <a:t>Has the ability to detect various events</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9" name="Group 8"/>
          <p:cNvGrpSpPr/>
          <p:nvPr/>
        </p:nvGrpSpPr>
        <p:grpSpPr>
          <a:xfrm>
            <a:off x="175740" y="853609"/>
            <a:ext cx="8495413" cy="1260941"/>
            <a:chOff x="175740" y="853609"/>
            <a:chExt cx="8495413" cy="1260941"/>
          </a:xfrm>
        </p:grpSpPr>
        <p:sp>
          <p:nvSpPr>
            <p:cNvPr id="6" name="Rectangle 5"/>
            <p:cNvSpPr/>
            <p:nvPr/>
          </p:nvSpPr>
          <p:spPr>
            <a:xfrm>
              <a:off x="441553" y="1052339"/>
              <a:ext cx="8229600" cy="10622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 security tool that automates the process of detecting and preventing events that can compromise the confidentiality, integrity, or availability of IT resources.</a:t>
              </a:r>
            </a:p>
          </p:txBody>
        </p:sp>
        <p:sp>
          <p:nvSpPr>
            <p:cNvPr id="7" name="Rectangle 6"/>
            <p:cNvSpPr/>
            <p:nvPr/>
          </p:nvSpPr>
          <p:spPr>
            <a:xfrm>
              <a:off x="175740" y="853609"/>
              <a:ext cx="531066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a:solidFill>
                    <a:schemeClr val="bg1"/>
                  </a:solidFill>
                  <a:ea typeface="Verdana" panose="020B0604030504040204" pitchFamily="34" charset="0"/>
                  <a:cs typeface="Verdana" panose="020B0604030504040204" pitchFamily="34" charset="0"/>
                </a:rPr>
                <a:t>Intrusion Detection and Prevention System</a:t>
              </a:r>
            </a:p>
          </p:txBody>
        </p:sp>
      </p:grpSp>
      <p:sp>
        <p:nvSpPr>
          <p:cNvPr id="8" name="Line Callout 2 7"/>
          <p:cNvSpPr/>
          <p:nvPr/>
        </p:nvSpPr>
        <p:spPr>
          <a:xfrm>
            <a:off x="6172201" y="2647950"/>
            <a:ext cx="2743199" cy="990600"/>
          </a:xfrm>
          <a:prstGeom prst="borderCallout2">
            <a:avLst>
              <a:gd name="adj1" fmla="val 100000"/>
              <a:gd name="adj2" fmla="val 49603"/>
              <a:gd name="adj3" fmla="val 145300"/>
              <a:gd name="adj4" fmla="val 49655"/>
              <a:gd name="adj5" fmla="val 176923"/>
              <a:gd name="adj6" fmla="val -17913"/>
            </a:avLst>
          </a:prstGeom>
          <a:noFill/>
          <a:ln w="28575"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200" b="1" dirty="0">
                <a:solidFill>
                  <a:schemeClr val="tx1"/>
                </a:solidFill>
              </a:rPr>
              <a:t>Examples of events detected:</a:t>
            </a:r>
          </a:p>
          <a:p>
            <a:pPr marL="171450" indent="-171450">
              <a:buFont typeface="Arial" panose="020B0604020202020204" pitchFamily="34" charset="0"/>
              <a:buChar char="•"/>
            </a:pPr>
            <a:r>
              <a:rPr lang="en-US" sz="1200" dirty="0">
                <a:solidFill>
                  <a:schemeClr val="tx1"/>
                </a:solidFill>
              </a:rPr>
              <a:t>Multiple login failures</a:t>
            </a:r>
          </a:p>
          <a:p>
            <a:pPr marL="171450" indent="-171450">
              <a:buFont typeface="Arial" panose="020B0604020202020204" pitchFamily="34" charset="0"/>
              <a:buChar char="•"/>
            </a:pPr>
            <a:r>
              <a:rPr lang="en-US" sz="1200" dirty="0">
                <a:solidFill>
                  <a:schemeClr val="tx1"/>
                </a:solidFill>
              </a:rPr>
              <a:t>Excessive process failure</a:t>
            </a:r>
          </a:p>
          <a:p>
            <a:pPr marL="171450" indent="-171450">
              <a:buFont typeface="Arial" panose="020B0604020202020204" pitchFamily="34" charset="0"/>
              <a:buChar char="•"/>
            </a:pPr>
            <a:r>
              <a:rPr lang="en-US" sz="1200" dirty="0">
                <a:solidFill>
                  <a:schemeClr val="tx1"/>
                </a:solidFill>
              </a:rPr>
              <a:t>Excessive network bandwidth consumed by an activity</a:t>
            </a:r>
          </a:p>
        </p:txBody>
      </p:sp>
    </p:spTree>
    <p:custDataLst>
      <p:tags r:id="rId1"/>
    </p:custDataLst>
    <p:extLst>
      <p:ext uri="{BB962C8B-B14F-4D97-AF65-F5344CB8AC3E}">
        <p14:creationId xmlns:p14="http://schemas.microsoft.com/office/powerpoint/2010/main" val="5868567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Intrusion Detection and Prevention System</a:t>
            </a:r>
          </a:p>
        </p:txBody>
      </p:sp>
      <p:sp>
        <p:nvSpPr>
          <p:cNvPr id="5" name="Subtitle 4"/>
          <p:cNvSpPr>
            <a:spLocks noGrp="1"/>
          </p:cNvSpPr>
          <p:nvPr>
            <p:ph type="subTitle" idx="1"/>
          </p:nvPr>
        </p:nvSpPr>
        <p:spPr/>
        <p:txBody>
          <a:bodyPr/>
          <a:lstStyle/>
          <a:p>
            <a:r>
              <a:rPr lang="en-US" dirty="0"/>
              <a:t>Types of implementations</a:t>
            </a:r>
          </a:p>
        </p:txBody>
      </p:sp>
      <p:sp>
        <p:nvSpPr>
          <p:cNvPr id="4" name="Footer Placeholder 3"/>
          <p:cNvSpPr>
            <a:spLocks noGrp="1"/>
          </p:cNvSpPr>
          <p:nvPr>
            <p:ph type="ftr" sz="quarter" idx="3"/>
          </p:nvPr>
        </p:nvSpPr>
        <p:spPr>
          <a:xfrm>
            <a:off x="2590800" y="4953000"/>
            <a:ext cx="5181600" cy="133350"/>
          </a:xfrm>
          <a:prstGeom prst="rect">
            <a:avLst/>
          </a:prstGeom>
        </p:spPr>
        <p:txBody>
          <a:bodyPr/>
          <a:lstStyle/>
          <a:p>
            <a:pPr algn="r"/>
            <a:r>
              <a:rPr lang="en-US"/>
              <a:t>Module: Security</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419846007"/>
              </p:ext>
            </p:extLst>
          </p:nvPr>
        </p:nvGraphicFramePr>
        <p:xfrm>
          <a:off x="495300" y="1169670"/>
          <a:ext cx="8153400" cy="31546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90988">
                <a:tc>
                  <a:txBody>
                    <a:bodyPr/>
                    <a:lstStyle/>
                    <a:p>
                      <a:pPr algn="l"/>
                      <a:r>
                        <a:rPr lang="en-US" sz="1400" dirty="0"/>
                        <a:t>IDPS</a:t>
                      </a:r>
                      <a:r>
                        <a:rPr lang="en-US" sz="1400" baseline="0" dirty="0"/>
                        <a:t> Implementation</a:t>
                      </a:r>
                      <a:endParaRPr lang="en-US" sz="1400" dirty="0"/>
                    </a:p>
                  </a:txBody>
                  <a:tcPr/>
                </a:tc>
                <a:tc>
                  <a:txBody>
                    <a:bodyPr/>
                    <a:lstStyle/>
                    <a:p>
                      <a:pPr algn="l"/>
                      <a:r>
                        <a:rPr lang="en-US" sz="1400" dirty="0"/>
                        <a:t>Description</a:t>
                      </a:r>
                    </a:p>
                  </a:txBody>
                  <a:tcPr/>
                </a:tc>
                <a:extLst>
                  <a:ext uri="{0D108BD9-81ED-4DB2-BD59-A6C34878D82A}">
                    <a16:rowId xmlns:a16="http://schemas.microsoft.com/office/drawing/2014/main" val="10000"/>
                  </a:ext>
                </a:extLst>
              </a:tr>
              <a:tr h="77126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Compute system-based </a:t>
                      </a:r>
                    </a:p>
                  </a:txBody>
                  <a:tcPr anchor="ctr"/>
                </a:tc>
                <a:tc>
                  <a:txBody>
                    <a:bodyPr/>
                    <a:lstStyle/>
                    <a:p>
                      <a:pPr marL="285750" indent="-285750">
                        <a:buFont typeface="Arial" panose="020B0604020202020204" pitchFamily="34" charset="0"/>
                        <a:buChar char="•"/>
                      </a:pPr>
                      <a:r>
                        <a:rPr lang="en-US" sz="1400" dirty="0"/>
                        <a:t>Analyzes activity such as system logs and running processes</a:t>
                      </a:r>
                    </a:p>
                    <a:p>
                      <a:pPr marL="285750" indent="-285750">
                        <a:buFont typeface="Arial" panose="020B0604020202020204" pitchFamily="34" charset="0"/>
                        <a:buChar char="•"/>
                      </a:pPr>
                      <a:r>
                        <a:rPr lang="en-US" sz="1400" dirty="0"/>
                        <a:t>IDPS software is susceptible to attacks</a:t>
                      </a:r>
                    </a:p>
                  </a:txBody>
                  <a:tcPr/>
                </a:tc>
                <a:extLst>
                  <a:ext uri="{0D108BD9-81ED-4DB2-BD59-A6C34878D82A}">
                    <a16:rowId xmlns:a16="http://schemas.microsoft.com/office/drawing/2014/main" val="10001"/>
                  </a:ext>
                </a:extLst>
              </a:tr>
              <a:tr h="1446118">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a:t>Network-based</a:t>
                      </a:r>
                    </a:p>
                  </a:txBody>
                  <a:tcPr anchor="ctr"/>
                </a:tc>
                <a:tc>
                  <a:txBody>
                    <a:bodyPr/>
                    <a:lstStyle/>
                    <a:p>
                      <a:pPr marL="285750" indent="-285750">
                        <a:buFont typeface="Arial" panose="020B0604020202020204" pitchFamily="34" charset="0"/>
                        <a:buChar char="•"/>
                      </a:pPr>
                      <a:r>
                        <a:rPr lang="en-US" sz="1400" dirty="0"/>
                        <a:t>Monitors and analyzes network traffic, network devices, network protocol, and application protocol behavior</a:t>
                      </a:r>
                    </a:p>
                    <a:p>
                      <a:pPr marL="285750" indent="-285750">
                        <a:buFont typeface="Arial" panose="020B0604020202020204" pitchFamily="34" charset="0"/>
                        <a:buChar char="•"/>
                      </a:pPr>
                      <a:r>
                        <a:rPr lang="en-US" sz="1400" dirty="0"/>
                        <a:t>Deployed in the form of appliance or software on compute system</a:t>
                      </a:r>
                    </a:p>
                    <a:p>
                      <a:pPr marL="285750" indent="-285750">
                        <a:buFont typeface="Arial" panose="020B0604020202020204" pitchFamily="34" charset="0"/>
                        <a:buChar char="•"/>
                      </a:pPr>
                      <a:r>
                        <a:rPr lang="en-US" sz="1400" dirty="0"/>
                        <a:t>Usually isolated from malicious applications on compute systems</a:t>
                      </a:r>
                    </a:p>
                  </a:txBody>
                  <a:tcPr/>
                </a:tc>
                <a:extLst>
                  <a:ext uri="{0D108BD9-81ED-4DB2-BD59-A6C34878D82A}">
                    <a16:rowId xmlns:a16="http://schemas.microsoft.com/office/drawing/2014/main" val="10002"/>
                  </a:ext>
                </a:extLst>
              </a:tr>
              <a:tr h="546311">
                <a:tc>
                  <a:txBody>
                    <a:bodyPr/>
                    <a:lstStyle/>
                    <a:p>
                      <a:r>
                        <a:rPr lang="en-US" sz="1400" dirty="0"/>
                        <a:t>Hypervisor-based</a:t>
                      </a:r>
                    </a:p>
                  </a:txBody>
                  <a:tcPr anchor="ctr"/>
                </a:tc>
                <a:tc>
                  <a:txBody>
                    <a:bodyPr/>
                    <a:lstStyle/>
                    <a:p>
                      <a:pPr marL="285750" indent="-285750">
                        <a:buFont typeface="Arial" panose="020B0604020202020204" pitchFamily="34" charset="0"/>
                        <a:buChar char="•"/>
                      </a:pPr>
                      <a:r>
                        <a:rPr lang="en-US" sz="1400" dirty="0"/>
                        <a:t>Monitors for anomalies in a hypervisor</a:t>
                      </a:r>
                    </a:p>
                    <a:p>
                      <a:pPr marL="285750" indent="-285750">
                        <a:buFont typeface="Arial" panose="020B0604020202020204" pitchFamily="34" charset="0"/>
                        <a:buChar char="•"/>
                      </a:pPr>
                      <a:r>
                        <a:rPr lang="en-US" sz="1400" dirty="0"/>
                        <a:t>Detection policies are typically kernel-specific</a:t>
                      </a:r>
                    </a:p>
                  </a:txBody>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6879122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Security Mechanisms – III</a:t>
            </a:r>
            <a:br>
              <a:rPr lang="en-US" dirty="0"/>
            </a:br>
            <a:endParaRPr lang="en-US" dirty="0"/>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r>
              <a:rPr lang="en-US" dirty="0" smtClean="0"/>
              <a:t>Data </a:t>
            </a:r>
            <a:r>
              <a:rPr lang="en-US" dirty="0"/>
              <a:t>encryption</a:t>
            </a:r>
          </a:p>
          <a:p>
            <a:r>
              <a:rPr lang="en-US" dirty="0"/>
              <a:t>Data </a:t>
            </a:r>
            <a:r>
              <a:rPr lang="en-US" dirty="0" smtClean="0"/>
              <a:t>shredding</a:t>
            </a:r>
          </a:p>
          <a:p>
            <a:r>
              <a:rPr lang="en-US" dirty="0" smtClean="0"/>
              <a:t>-</a:t>
            </a:r>
            <a:r>
              <a:rPr lang="en-US" smtClean="0"/>
              <a:t>Security controls</a:t>
            </a:r>
            <a:endParaRPr lang="en-US" dirty="0"/>
          </a:p>
        </p:txBody>
      </p:sp>
      <p:sp>
        <p:nvSpPr>
          <p:cNvPr id="2" name="Footer Placeholder 1"/>
          <p:cNvSpPr>
            <a:spLocks noGrp="1"/>
          </p:cNvSpPr>
          <p:nvPr>
            <p:ph type="ftr" sz="quarter" idx="3"/>
          </p:nvPr>
        </p:nvSpPr>
        <p:spPr>
          <a:prstGeom prst="rect">
            <a:avLst/>
          </a:prstGeom>
        </p:spPr>
        <p:txBody>
          <a:bodyPr/>
          <a:lstStyle/>
          <a:p>
            <a:pPr algn="r"/>
            <a:r>
              <a:rPr lang="en-US"/>
              <a:t>Module: Security</a:t>
            </a:r>
            <a:endParaRPr lang="en-US" dirty="0"/>
          </a:p>
        </p:txBody>
      </p:sp>
    </p:spTree>
    <p:custDataLst>
      <p:tags r:id="rId1"/>
    </p:custDataLst>
    <p:extLst>
      <p:ext uri="{BB962C8B-B14F-4D97-AF65-F5344CB8AC3E}">
        <p14:creationId xmlns:p14="http://schemas.microsoft.com/office/powerpoint/2010/main" val="3896958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Encryption</a:t>
            </a:r>
          </a:p>
        </p:txBody>
      </p:sp>
      <p:sp>
        <p:nvSpPr>
          <p:cNvPr id="3" name="Content Placeholder 2"/>
          <p:cNvSpPr>
            <a:spLocks noGrp="1"/>
          </p:cNvSpPr>
          <p:nvPr>
            <p:ph sz="quarter" idx="10"/>
          </p:nvPr>
        </p:nvSpPr>
        <p:spPr>
          <a:xfrm>
            <a:off x="379413" y="2019300"/>
            <a:ext cx="7680960" cy="2457450"/>
          </a:xfrm>
        </p:spPr>
        <p:txBody>
          <a:bodyPr/>
          <a:lstStyle/>
          <a:p>
            <a:r>
              <a:rPr lang="en-US" dirty="0"/>
              <a:t>Enables securing data in-flight and at-rest</a:t>
            </a:r>
          </a:p>
          <a:p>
            <a:r>
              <a:rPr lang="en-US" dirty="0"/>
              <a:t>Provides protection from threats</a:t>
            </a:r>
            <a:r>
              <a:rPr lang="en-US" dirty="0">
                <a:solidFill>
                  <a:srgbClr val="FF0000"/>
                </a:solidFill>
              </a:rPr>
              <a:t>,</a:t>
            </a:r>
            <a:r>
              <a:rPr lang="en-US" dirty="0"/>
              <a:t> such as data tampering, media theft, and sniffing attacks</a:t>
            </a:r>
          </a:p>
          <a:p>
            <a:r>
              <a:rPr lang="en-US" dirty="0"/>
              <a:t>Data encryption mechanism can be deployed at compute, network, and storage</a:t>
            </a:r>
          </a:p>
          <a:p>
            <a:r>
              <a:rPr lang="en-US" dirty="0"/>
              <a:t>Data should be encrypted as close to its origin as possible</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8" name="Group 7"/>
          <p:cNvGrpSpPr/>
          <p:nvPr/>
        </p:nvGrpSpPr>
        <p:grpSpPr>
          <a:xfrm>
            <a:off x="175740" y="853609"/>
            <a:ext cx="8495413" cy="1032341"/>
            <a:chOff x="175740" y="853609"/>
            <a:chExt cx="8495413" cy="1032341"/>
          </a:xfrm>
        </p:grpSpPr>
        <p:sp>
          <p:nvSpPr>
            <p:cNvPr id="6" name="Rectangle 5"/>
            <p:cNvSpPr/>
            <p:nvPr/>
          </p:nvSpPr>
          <p:spPr>
            <a:xfrm>
              <a:off x="441553" y="1052339"/>
              <a:ext cx="8229600" cy="8336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 cryptographic technique in which data is encoded and made indecipherable to eavesdroppers or hackers.</a:t>
              </a: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a:solidFill>
                    <a:schemeClr val="bg1"/>
                  </a:solidFill>
                  <a:ea typeface="Verdana" panose="020B0604030504040204" pitchFamily="34" charset="0"/>
                  <a:cs typeface="Verdana" panose="020B0604030504040204" pitchFamily="34" charset="0"/>
                </a:rPr>
                <a:t>Data Encryption</a:t>
              </a:r>
            </a:p>
          </p:txBody>
        </p:sp>
      </p:grpSp>
    </p:spTree>
    <p:custDataLst>
      <p:tags r:id="rId1"/>
    </p:custDataLst>
    <p:extLst>
      <p:ext uri="{BB962C8B-B14F-4D97-AF65-F5344CB8AC3E}">
        <p14:creationId xmlns:p14="http://schemas.microsoft.com/office/powerpoint/2010/main" val="10654706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Shredding</a:t>
            </a:r>
          </a:p>
        </p:txBody>
      </p:sp>
      <p:sp>
        <p:nvSpPr>
          <p:cNvPr id="3" name="Content Placeholder 2"/>
          <p:cNvSpPr>
            <a:spLocks noGrp="1"/>
          </p:cNvSpPr>
          <p:nvPr>
            <p:ph sz="quarter" idx="10"/>
          </p:nvPr>
        </p:nvSpPr>
        <p:spPr>
          <a:xfrm>
            <a:off x="379413" y="2019300"/>
            <a:ext cx="7680960" cy="2457450"/>
          </a:xfrm>
        </p:spPr>
        <p:txBody>
          <a:bodyPr/>
          <a:lstStyle/>
          <a:p>
            <a:r>
              <a:rPr lang="en-US" sz="1800" dirty="0"/>
              <a:t>Techniques for shredding data stored on tapes:</a:t>
            </a:r>
          </a:p>
          <a:p>
            <a:pPr lvl="1"/>
            <a:r>
              <a:rPr lang="en-US" sz="1600" dirty="0"/>
              <a:t>Overwriting tapes with invalid data</a:t>
            </a:r>
          </a:p>
          <a:p>
            <a:pPr lvl="1"/>
            <a:r>
              <a:rPr lang="en-US" sz="1600" dirty="0"/>
              <a:t>Degaussing media </a:t>
            </a:r>
          </a:p>
          <a:p>
            <a:pPr lvl="1"/>
            <a:r>
              <a:rPr lang="en-US" sz="1600" dirty="0"/>
              <a:t>Destroying tapes</a:t>
            </a:r>
          </a:p>
          <a:p>
            <a:r>
              <a:rPr lang="en-US" sz="1800" dirty="0"/>
              <a:t>Techniques for shredding data stored on disks and flash drives:</a:t>
            </a:r>
          </a:p>
          <a:p>
            <a:pPr lvl="1"/>
            <a:r>
              <a:rPr lang="en-US" sz="1600" dirty="0"/>
              <a:t>Shredding algorithms</a:t>
            </a:r>
          </a:p>
          <a:p>
            <a:r>
              <a:rPr lang="en-US" sz="1800" dirty="0"/>
              <a:t>Shred all copies of data including backup and replicas</a:t>
            </a:r>
          </a:p>
        </p:txBody>
      </p:sp>
      <p:sp>
        <p:nvSpPr>
          <p:cNvPr id="4" name="Footer Placeholder 3"/>
          <p:cNvSpPr>
            <a:spLocks noGrp="1"/>
          </p:cNvSpPr>
          <p:nvPr>
            <p:ph type="ftr" sz="quarter" idx="3"/>
          </p:nvPr>
        </p:nvSpPr>
        <p:spPr/>
        <p:txBody>
          <a:bodyPr/>
          <a:lstStyle/>
          <a:p>
            <a:pPr algn="r"/>
            <a:r>
              <a:rPr lang="en-US"/>
              <a:t>Module: Security</a:t>
            </a:r>
            <a:endParaRPr lang="en-US" dirty="0"/>
          </a:p>
        </p:txBody>
      </p:sp>
      <p:sp>
        <p:nvSpPr>
          <p:cNvPr id="5" name="Rectangle 4"/>
          <p:cNvSpPr/>
          <p:nvPr/>
        </p:nvSpPr>
        <p:spPr>
          <a:xfrm>
            <a:off x="125970" y="983620"/>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8" name="Group 7"/>
          <p:cNvGrpSpPr/>
          <p:nvPr/>
        </p:nvGrpSpPr>
        <p:grpSpPr>
          <a:xfrm>
            <a:off x="175740" y="853609"/>
            <a:ext cx="8495413" cy="1032341"/>
            <a:chOff x="175740" y="853609"/>
            <a:chExt cx="8495413" cy="1032341"/>
          </a:xfrm>
        </p:grpSpPr>
        <p:sp>
          <p:nvSpPr>
            <p:cNvPr id="6" name="Rectangle 5"/>
            <p:cNvSpPr/>
            <p:nvPr/>
          </p:nvSpPr>
          <p:spPr>
            <a:xfrm>
              <a:off x="441553" y="1052339"/>
              <a:ext cx="8229600" cy="83361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r>
                <a:rPr lang="en-US" sz="1600" dirty="0">
                  <a:solidFill>
                    <a:schemeClr val="tx1"/>
                  </a:solidFill>
                </a:rPr>
                <a:t>A process of deleting data or residual representations (sometimes called </a:t>
              </a:r>
              <a:r>
                <a:rPr lang="en-US" sz="1600" dirty="0" err="1">
                  <a:solidFill>
                    <a:schemeClr val="tx1"/>
                  </a:solidFill>
                </a:rPr>
                <a:t>remanence</a:t>
              </a:r>
              <a:r>
                <a:rPr lang="en-US" sz="1600" dirty="0">
                  <a:solidFill>
                    <a:schemeClr val="tx1"/>
                  </a:solidFill>
                </a:rPr>
                <a:t>) of data and making it unrecoverable</a:t>
              </a:r>
            </a:p>
          </p:txBody>
        </p:sp>
        <p:sp>
          <p:nvSpPr>
            <p:cNvPr id="7" name="Rectangle 6"/>
            <p:cNvSpPr/>
            <p:nvPr/>
          </p:nvSpPr>
          <p:spPr>
            <a:xfrm>
              <a:off x="175740" y="853609"/>
              <a:ext cx="4343400" cy="397459"/>
            </a:xfrm>
            <a:prstGeom prst="rect">
              <a:avLst/>
            </a:prstGeom>
            <a:solidFill>
              <a:srgbClr val="CE313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dirty="0">
                  <a:solidFill>
                    <a:schemeClr val="bg1"/>
                  </a:solidFill>
                  <a:ea typeface="Verdana" panose="020B0604030504040204" pitchFamily="34" charset="0"/>
                  <a:cs typeface="Verdana" panose="020B0604030504040204" pitchFamily="34" charset="0"/>
                </a:rPr>
                <a:t>Data Shredding</a:t>
              </a:r>
            </a:p>
          </p:txBody>
        </p:sp>
      </p:grpSp>
    </p:spTree>
    <p:custDataLst>
      <p:tags r:id="rId1"/>
    </p:custDataLst>
    <p:extLst>
      <p:ext uri="{BB962C8B-B14F-4D97-AF65-F5344CB8AC3E}">
        <p14:creationId xmlns:p14="http://schemas.microsoft.com/office/powerpoint/2010/main" val="26921190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Security Controls – Host Level</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1138526703"/>
              </p:ext>
            </p:extLst>
          </p:nvPr>
        </p:nvGraphicFramePr>
        <p:xfrm>
          <a:off x="396619" y="1352550"/>
          <a:ext cx="8458200" cy="1651000"/>
        </p:xfrm>
        <a:graphic>
          <a:graphicData uri="http://schemas.openxmlformats.org/drawingml/2006/table">
            <a:tbl>
              <a:tblPr firstRow="1" bandRow="1">
                <a:tableStyleId>{5C22544A-7EE6-4342-B048-85BDC9FD1C3A}</a:tableStyleId>
              </a:tblPr>
              <a:tblGrid>
                <a:gridCol w="2135187">
                  <a:extLst>
                    <a:ext uri="{9D8B030D-6E8A-4147-A177-3AD203B41FA5}">
                      <a16:colId xmlns:a16="http://schemas.microsoft.com/office/drawing/2014/main" val="2644470128"/>
                    </a:ext>
                  </a:extLst>
                </a:gridCol>
                <a:gridCol w="6323013">
                  <a:extLst>
                    <a:ext uri="{9D8B030D-6E8A-4147-A177-3AD203B41FA5}">
                      <a16:colId xmlns:a16="http://schemas.microsoft.com/office/drawing/2014/main" val="100581062"/>
                    </a:ext>
                  </a:extLst>
                </a:gridCol>
              </a:tblGrid>
              <a:tr h="370840">
                <a:tc>
                  <a:txBody>
                    <a:bodyPr/>
                    <a:lstStyle/>
                    <a:p>
                      <a:r>
                        <a:rPr lang="en-US" sz="1800" b="1" i="0" u="none" strike="noStrike" kern="1200" baseline="0" dirty="0">
                          <a:solidFill>
                            <a:schemeClr val="lt1"/>
                          </a:solidFill>
                          <a:latin typeface="+mn-lt"/>
                          <a:ea typeface="+mn-ea"/>
                          <a:cs typeface="+mn-cs"/>
                        </a:rPr>
                        <a:t>Threat outlook</a:t>
                      </a:r>
                      <a:endParaRPr lang="en-US" dirty="0"/>
                    </a:p>
                  </a:txBody>
                  <a:tcPr/>
                </a:tc>
                <a:tc>
                  <a:txBody>
                    <a:bodyPr/>
                    <a:lstStyle/>
                    <a:p>
                      <a:r>
                        <a:rPr lang="en-US" sz="1800" b="1" i="0" u="none" strike="noStrike" kern="1200" baseline="0" dirty="0">
                          <a:solidFill>
                            <a:schemeClr val="lt1"/>
                          </a:solidFill>
                          <a:latin typeface="+mn-lt"/>
                          <a:ea typeface="+mn-ea"/>
                          <a:cs typeface="+mn-cs"/>
                        </a:rPr>
                        <a:t>High</a:t>
                      </a:r>
                      <a:endParaRPr lang="en-US" dirty="0"/>
                    </a:p>
                  </a:txBody>
                  <a:tcPr/>
                </a:tc>
                <a:extLst>
                  <a:ext uri="{0D108BD9-81ED-4DB2-BD59-A6C34878D82A}">
                    <a16:rowId xmlns:a16="http://schemas.microsoft.com/office/drawing/2014/main" val="3864655608"/>
                  </a:ext>
                </a:extLst>
              </a:tr>
              <a:tr h="370840">
                <a:tc>
                  <a:txBody>
                    <a:bodyPr/>
                    <a:lstStyle/>
                    <a:p>
                      <a:r>
                        <a:rPr lang="en-US" sz="1800" b="0" i="0" u="none" strike="noStrike" kern="1200" baseline="0" dirty="0">
                          <a:solidFill>
                            <a:schemeClr val="dk1"/>
                          </a:solidFill>
                          <a:latin typeface="+mn-lt"/>
                          <a:ea typeface="+mn-ea"/>
                          <a:cs typeface="+mn-cs"/>
                        </a:rPr>
                        <a:t>Preventive controls</a:t>
                      </a:r>
                      <a:endParaRPr lang="en-US" dirty="0"/>
                    </a:p>
                  </a:txBody>
                  <a:tcPr/>
                </a:tc>
                <a:tc>
                  <a:txBody>
                    <a:bodyPr/>
                    <a:lstStyle/>
                    <a:p>
                      <a:r>
                        <a:rPr lang="en-US" dirty="0"/>
                        <a:t>Host firewall, access control, patching, hardening of system, strong authentication</a:t>
                      </a:r>
                    </a:p>
                  </a:txBody>
                  <a:tcPr/>
                </a:tc>
                <a:extLst>
                  <a:ext uri="{0D108BD9-81ED-4DB2-BD59-A6C34878D82A}">
                    <a16:rowId xmlns:a16="http://schemas.microsoft.com/office/drawing/2014/main" val="3154091053"/>
                  </a:ext>
                </a:extLst>
              </a:tr>
              <a:tr h="370840">
                <a:tc>
                  <a:txBody>
                    <a:bodyPr/>
                    <a:lstStyle/>
                    <a:p>
                      <a:r>
                        <a:rPr lang="en-US" sz="1800" b="0" i="0" u="none" strike="noStrike" kern="1200" baseline="0" dirty="0">
                          <a:solidFill>
                            <a:schemeClr val="dk1"/>
                          </a:solidFill>
                          <a:latin typeface="+mn-lt"/>
                          <a:ea typeface="+mn-ea"/>
                          <a:cs typeface="+mn-cs"/>
                        </a:rPr>
                        <a:t>Detective controls</a:t>
                      </a:r>
                      <a:endParaRPr lang="en-US" dirty="0"/>
                    </a:p>
                  </a:txBody>
                  <a:tcPr/>
                </a:tc>
                <a:tc>
                  <a:txBody>
                    <a:bodyPr/>
                    <a:lstStyle/>
                    <a:p>
                      <a:r>
                        <a:rPr lang="en-US" dirty="0"/>
                        <a:t>Security event logs, host-based IDS/IPS </a:t>
                      </a:r>
                    </a:p>
                  </a:txBody>
                  <a:tcPr/>
                </a:tc>
                <a:extLst>
                  <a:ext uri="{0D108BD9-81ED-4DB2-BD59-A6C34878D82A}">
                    <a16:rowId xmlns:a16="http://schemas.microsoft.com/office/drawing/2014/main" val="266156112"/>
                  </a:ext>
                </a:extLst>
              </a:tr>
            </a:tbl>
          </a:graphicData>
        </a:graphic>
      </p:graphicFrame>
      <p:sp>
        <p:nvSpPr>
          <p:cNvPr id="4" name="Footer Placeholder 3"/>
          <p:cNvSpPr>
            <a:spLocks noGrp="1"/>
          </p:cNvSpPr>
          <p:nvPr>
            <p:ph type="ftr" sz="quarter" idx="3"/>
          </p:nvPr>
        </p:nvSpPr>
        <p:spPr/>
        <p:txBody>
          <a:bodyPr/>
          <a:lstStyle/>
          <a:p>
            <a:pPr algn="r"/>
            <a:r>
              <a:rPr lang="en-US"/>
              <a:t>Module: Security</a:t>
            </a:r>
            <a:endParaRPr lang="en-US" dirty="0"/>
          </a:p>
        </p:txBody>
      </p:sp>
    </p:spTree>
    <p:extLst>
      <p:ext uri="{BB962C8B-B14F-4D97-AF65-F5344CB8AC3E}">
        <p14:creationId xmlns:p14="http://schemas.microsoft.com/office/powerpoint/2010/main" val="18524767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762000"/>
          </a:xfrm>
        </p:spPr>
        <p:txBody>
          <a:bodyPr/>
          <a:lstStyle/>
          <a:p>
            <a:r>
              <a:rPr lang="en-US" dirty="0" smtClean="0"/>
              <a:t>Identity and Access management-Challenges and standards</a:t>
            </a:r>
            <a:endParaRPr lang="en-IN" dirty="0"/>
          </a:p>
        </p:txBody>
      </p:sp>
      <p:sp>
        <p:nvSpPr>
          <p:cNvPr id="3" name="Content Placeholder 2"/>
          <p:cNvSpPr>
            <a:spLocks noGrp="1"/>
          </p:cNvSpPr>
          <p:nvPr>
            <p:ph sz="quarter" idx="10"/>
          </p:nvPr>
        </p:nvSpPr>
        <p:spPr>
          <a:xfrm>
            <a:off x="379413" y="1276350"/>
            <a:ext cx="8458200" cy="3143250"/>
          </a:xfrm>
        </p:spPr>
        <p:txBody>
          <a:bodyPr/>
          <a:lstStyle/>
          <a:p>
            <a:pPr marL="0" indent="0">
              <a:buNone/>
            </a:pPr>
            <a:r>
              <a:rPr lang="en-US" dirty="0" smtClean="0"/>
              <a:t>  1- Why IAM?</a:t>
            </a:r>
          </a:p>
          <a:p>
            <a:pPr marL="0" indent="0">
              <a:buNone/>
            </a:pPr>
            <a:r>
              <a:rPr lang="en-US" dirty="0"/>
              <a:t> </a:t>
            </a:r>
            <a:r>
              <a:rPr lang="en-US" dirty="0" smtClean="0"/>
              <a:t> 2-  Challenges in IAM</a:t>
            </a:r>
          </a:p>
          <a:p>
            <a:pPr marL="0" indent="0">
              <a:buNone/>
            </a:pPr>
            <a:r>
              <a:rPr lang="en-US" dirty="0"/>
              <a:t> </a:t>
            </a:r>
            <a:r>
              <a:rPr lang="en-US" dirty="0" smtClean="0"/>
              <a:t> 3- IAM standards</a:t>
            </a:r>
          </a:p>
          <a:p>
            <a:pPr marL="0" indent="0">
              <a:buNone/>
            </a:pPr>
            <a:r>
              <a:rPr lang="en-US" dirty="0" smtClean="0"/>
              <a:t>  4 –Securing virtual servers</a:t>
            </a:r>
          </a:p>
          <a:p>
            <a:pPr marL="0" indent="0">
              <a:buNone/>
            </a:pPr>
            <a:r>
              <a:rPr lang="en-US" dirty="0"/>
              <a:t> </a:t>
            </a:r>
            <a:r>
              <a:rPr lang="en-US" dirty="0" smtClean="0"/>
              <a:t> 5-Securing virtual servers</a:t>
            </a:r>
          </a:p>
          <a:p>
            <a:pPr marL="0" indent="0">
              <a:buNone/>
            </a:pPr>
            <a:endParaRPr lang="en-US" dirty="0"/>
          </a:p>
          <a:p>
            <a:pPr marL="0" indent="0">
              <a:buNone/>
            </a:pPr>
            <a:endParaRPr lang="en-US" dirty="0" smtClean="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37419320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Module: Identity and Access </a:t>
            </a:r>
            <a:r>
              <a:rPr lang="en-US" dirty="0" smtClean="0"/>
              <a:t>Management</a:t>
            </a:r>
            <a:endParaRPr lang="en-IN" dirty="0"/>
          </a:p>
        </p:txBody>
      </p:sp>
      <p:sp>
        <p:nvSpPr>
          <p:cNvPr id="3" name="Content Placeholder 2"/>
          <p:cNvSpPr>
            <a:spLocks noGrp="1"/>
          </p:cNvSpPr>
          <p:nvPr>
            <p:ph sz="quarter" idx="10"/>
          </p:nvPr>
        </p:nvSpPr>
        <p:spPr/>
        <p:txBody>
          <a:bodyPr/>
          <a:lstStyle/>
          <a:p>
            <a:pPr marL="0" lvl="0" indent="0">
              <a:buClr>
                <a:srgbClr val="2C95DD"/>
              </a:buClr>
              <a:buNone/>
              <a:defRPr/>
            </a:pPr>
            <a:r>
              <a:rPr lang="en-US" dirty="0">
                <a:solidFill>
                  <a:srgbClr val="000000"/>
                </a:solidFill>
              </a:rPr>
              <a:t>Upon completion of this module, you should be able to:</a:t>
            </a:r>
          </a:p>
          <a:p>
            <a:pPr lvl="0">
              <a:buClr>
                <a:srgbClr val="2C95DD"/>
              </a:buClr>
              <a:defRPr/>
            </a:pPr>
            <a:r>
              <a:rPr lang="en-US" dirty="0">
                <a:solidFill>
                  <a:srgbClr val="000000"/>
                </a:solidFill>
              </a:rPr>
              <a:t>Describe trust boundaries and IAM</a:t>
            </a:r>
          </a:p>
          <a:p>
            <a:pPr lvl="0">
              <a:buClr>
                <a:srgbClr val="2C95DD"/>
              </a:buClr>
              <a:defRPr/>
            </a:pPr>
            <a:r>
              <a:rPr lang="en-US" dirty="0">
                <a:solidFill>
                  <a:srgbClr val="000000"/>
                </a:solidFill>
              </a:rPr>
              <a:t>Discuss IAM challenges</a:t>
            </a:r>
          </a:p>
          <a:p>
            <a:pPr lvl="0">
              <a:buClr>
                <a:srgbClr val="2C95DD"/>
              </a:buClr>
              <a:defRPr/>
            </a:pPr>
            <a:r>
              <a:rPr lang="en-US" dirty="0">
                <a:solidFill>
                  <a:srgbClr val="000000"/>
                </a:solidFill>
              </a:rPr>
              <a:t>Describe IAM standards and protocols for cloud services</a:t>
            </a:r>
          </a:p>
          <a:p>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2382377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Why </a:t>
            </a:r>
            <a:r>
              <a:rPr lang="en-US" dirty="0" smtClean="0">
                <a:solidFill>
                  <a:srgbClr val="2C95DD"/>
                </a:solidFill>
              </a:rPr>
              <a:t>IAM ?</a:t>
            </a:r>
            <a:endParaRPr lang="en-IN" dirty="0"/>
          </a:p>
        </p:txBody>
      </p:sp>
      <p:sp>
        <p:nvSpPr>
          <p:cNvPr id="3" name="Content Placeholder 2"/>
          <p:cNvSpPr>
            <a:spLocks noGrp="1"/>
          </p:cNvSpPr>
          <p:nvPr>
            <p:ph sz="quarter" idx="10"/>
          </p:nvPr>
        </p:nvSpPr>
        <p:spPr/>
        <p:txBody>
          <a:bodyPr/>
          <a:lstStyle/>
          <a:p>
            <a:pPr lvl="0">
              <a:buClr>
                <a:srgbClr val="2C95DD"/>
              </a:buClr>
            </a:pPr>
            <a:r>
              <a:rPr lang="en-US" dirty="0">
                <a:solidFill>
                  <a:srgbClr val="000000"/>
                </a:solidFill>
              </a:rPr>
              <a:t>Accelerates adoption of new cloud services and migration of IT applications from trusted corporate networks into a trusted cloud service model.</a:t>
            </a:r>
          </a:p>
          <a:p>
            <a:pPr lvl="0">
              <a:buClr>
                <a:srgbClr val="2C95DD"/>
              </a:buClr>
            </a:pPr>
            <a:r>
              <a:rPr lang="en-US" dirty="0">
                <a:solidFill>
                  <a:srgbClr val="000000"/>
                </a:solidFill>
              </a:rPr>
              <a:t>Improves operational efficiency</a:t>
            </a:r>
          </a:p>
          <a:p>
            <a:pPr lvl="0">
              <a:buClr>
                <a:srgbClr val="2C95DD"/>
              </a:buClr>
            </a:pPr>
            <a:r>
              <a:rPr lang="en-US" dirty="0">
                <a:solidFill>
                  <a:srgbClr val="000000"/>
                </a:solidFill>
              </a:rPr>
              <a:t>Regulatory compliance management</a:t>
            </a:r>
          </a:p>
          <a:p>
            <a:pPr lvl="0">
              <a:buClr>
                <a:srgbClr val="2C95DD"/>
              </a:buClr>
            </a:pPr>
            <a:r>
              <a:rPr lang="en-US" dirty="0">
                <a:solidFill>
                  <a:srgbClr val="000000"/>
                </a:solidFill>
              </a:rPr>
              <a:t>Enables new IT delivery and deployment models (cloud services)</a:t>
            </a:r>
          </a:p>
          <a:p>
            <a:pPr lvl="0">
              <a:buClr>
                <a:srgbClr val="2C95DD"/>
              </a:buClr>
            </a:pPr>
            <a:r>
              <a:rPr lang="en-US" dirty="0">
                <a:solidFill>
                  <a:srgbClr val="000000"/>
                </a:solidFill>
              </a:rPr>
              <a:t>Enables enterprises and CSP to bridge security domains through web single sign-on and federated user provisioning</a:t>
            </a:r>
          </a:p>
          <a:p>
            <a:pPr marL="0" lvl="0" indent="0">
              <a:buClr>
                <a:srgbClr val="2C95DD"/>
              </a:buClr>
              <a:buNone/>
            </a:pPr>
            <a:endParaRPr lang="en-US" i="1" dirty="0">
              <a:solidFill>
                <a:srgbClr val="000000"/>
              </a:solidFill>
            </a:endParaRPr>
          </a:p>
          <a:p>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41943529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IAM Challenges</a:t>
            </a:r>
            <a:endParaRPr lang="en-IN" dirty="0"/>
          </a:p>
        </p:txBody>
      </p:sp>
      <p:sp>
        <p:nvSpPr>
          <p:cNvPr id="3" name="Content Placeholder 2"/>
          <p:cNvSpPr>
            <a:spLocks noGrp="1"/>
          </p:cNvSpPr>
          <p:nvPr>
            <p:ph sz="quarter" idx="10"/>
          </p:nvPr>
        </p:nvSpPr>
        <p:spPr/>
        <p:txBody>
          <a:bodyPr/>
          <a:lstStyle/>
          <a:p>
            <a:pPr lvl="0">
              <a:buClr>
                <a:srgbClr val="2C95DD"/>
              </a:buClr>
            </a:pPr>
            <a:r>
              <a:rPr lang="en-US" dirty="0">
                <a:solidFill>
                  <a:srgbClr val="000000"/>
                </a:solidFill>
              </a:rPr>
              <a:t>Managing access for diverse user populations (employees, contractors, partners, etc.) accessing internal and externally hosted services</a:t>
            </a:r>
          </a:p>
          <a:p>
            <a:pPr lvl="0">
              <a:buClr>
                <a:srgbClr val="2C95DD"/>
              </a:buClr>
            </a:pPr>
            <a:r>
              <a:rPr lang="en-US" dirty="0">
                <a:solidFill>
                  <a:srgbClr val="000000"/>
                </a:solidFill>
              </a:rPr>
              <a:t>Turnover of users within the organization</a:t>
            </a:r>
          </a:p>
          <a:p>
            <a:pPr lvl="0">
              <a:buClr>
                <a:srgbClr val="2C95DD"/>
              </a:buClr>
            </a:pPr>
            <a:r>
              <a:rPr lang="en-US" dirty="0">
                <a:solidFill>
                  <a:srgbClr val="000000"/>
                </a:solidFill>
              </a:rPr>
              <a:t>Access policies for information are seldom centrally and consistently applied</a:t>
            </a:r>
          </a:p>
          <a:p>
            <a:pPr lvl="0">
              <a:buClr>
                <a:srgbClr val="2C95DD"/>
              </a:buClr>
            </a:pPr>
            <a:r>
              <a:rPr lang="en-US" dirty="0">
                <a:solidFill>
                  <a:srgbClr val="000000"/>
                </a:solidFill>
              </a:rPr>
              <a:t>Initiatives to improve IAM can span several years and incur considerable </a:t>
            </a:r>
            <a:r>
              <a:rPr lang="en-US" dirty="0" smtClean="0">
                <a:solidFill>
                  <a:srgbClr val="000000"/>
                </a:solidFill>
              </a:rPr>
              <a:t>cost</a:t>
            </a:r>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7866481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IAM Standards and Protocols</a:t>
            </a:r>
            <a:endParaRPr lang="en-IN" dirty="0"/>
          </a:p>
        </p:txBody>
      </p:sp>
      <p:pic>
        <p:nvPicPr>
          <p:cNvPr id="5" name="Content Placeholder 4"/>
          <p:cNvPicPr>
            <a:picLocks noGrp="1" noChangeAspect="1"/>
          </p:cNvPicPr>
          <p:nvPr>
            <p:ph sz="quarter" idx="10"/>
          </p:nvPr>
        </p:nvPicPr>
        <p:blipFill>
          <a:blip r:embed="rId3"/>
          <a:stretch>
            <a:fillRect/>
          </a:stretch>
        </p:blipFill>
        <p:spPr>
          <a:xfrm>
            <a:off x="379413" y="1340503"/>
            <a:ext cx="8066634" cy="2602848"/>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911315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Securing Virtual Servers</a:t>
            </a:r>
            <a:endParaRPr lang="en-IN" dirty="0"/>
          </a:p>
        </p:txBody>
      </p:sp>
      <p:sp>
        <p:nvSpPr>
          <p:cNvPr id="3" name="Content Placeholder 2"/>
          <p:cNvSpPr>
            <a:spLocks noGrp="1"/>
          </p:cNvSpPr>
          <p:nvPr>
            <p:ph sz="quarter" idx="10"/>
          </p:nvPr>
        </p:nvSpPr>
        <p:spPr/>
        <p:txBody>
          <a:bodyPr/>
          <a:lstStyle/>
          <a:p>
            <a:r>
              <a:rPr lang="en-US" sz="1800" dirty="0"/>
              <a:t>Do not allow password-based authentication for shell access. </a:t>
            </a:r>
          </a:p>
          <a:p>
            <a:r>
              <a:rPr lang="en-US" sz="1800" dirty="0"/>
              <a:t>Run a host firewall and open only ports necessary to support the services on an instance. </a:t>
            </a:r>
          </a:p>
          <a:p>
            <a:r>
              <a:rPr lang="en-US" sz="1800" dirty="0"/>
              <a:t>Run only the required services and turn off the unused services (e.g., turn off FTP, print services, network file services, and database services if they are not required).  </a:t>
            </a:r>
          </a:p>
          <a:p>
            <a:r>
              <a:rPr lang="en-US" sz="1800" dirty="0"/>
              <a:t>Install a host-based IDS such as OSSEC or Samhain. </a:t>
            </a:r>
          </a:p>
          <a:p>
            <a:r>
              <a:rPr lang="en-US" sz="1800" dirty="0"/>
              <a:t>Enable system auditing, event logging and log the security events to a dedicated log server. Isolate the log server with higher security protection, including accessing controls</a:t>
            </a:r>
            <a:endParaRPr lang="en-IN" sz="1800"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7461326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 RSA algorithm</a:t>
            </a:r>
            <a:endParaRPr lang="en-IN" dirty="0"/>
          </a:p>
        </p:txBody>
      </p:sp>
      <p:pic>
        <p:nvPicPr>
          <p:cNvPr id="6" name="Content Placeholder 5"/>
          <p:cNvPicPr>
            <a:picLocks noGrp="1" noChangeAspect="1"/>
          </p:cNvPicPr>
          <p:nvPr>
            <p:ph sz="quarter" idx="10"/>
          </p:nvPr>
        </p:nvPicPr>
        <p:blipFill>
          <a:blip r:embed="rId3"/>
          <a:stretch>
            <a:fillRect/>
          </a:stretch>
        </p:blipFill>
        <p:spPr>
          <a:xfrm>
            <a:off x="838200" y="1440941"/>
            <a:ext cx="7999413" cy="3048037"/>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0482404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pic>
        <p:nvPicPr>
          <p:cNvPr id="5" name="Content Placeholder 4"/>
          <p:cNvPicPr>
            <a:picLocks noGrp="1" noChangeAspect="1"/>
          </p:cNvPicPr>
          <p:nvPr>
            <p:ph sz="quarter" idx="10"/>
          </p:nvPr>
        </p:nvPicPr>
        <p:blipFill>
          <a:blip r:embed="rId3"/>
          <a:stretch>
            <a:fillRect/>
          </a:stretch>
        </p:blipFill>
        <p:spPr>
          <a:xfrm>
            <a:off x="990600" y="990600"/>
            <a:ext cx="7620000" cy="3429000"/>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36297185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pic>
        <p:nvPicPr>
          <p:cNvPr id="5" name="Content Placeholder 4"/>
          <p:cNvPicPr>
            <a:picLocks noGrp="1" noChangeAspect="1"/>
          </p:cNvPicPr>
          <p:nvPr>
            <p:ph sz="quarter" idx="10"/>
          </p:nvPr>
        </p:nvPicPr>
        <p:blipFill>
          <a:blip r:embed="rId2"/>
          <a:stretch>
            <a:fillRect/>
          </a:stretch>
        </p:blipFill>
        <p:spPr>
          <a:xfrm>
            <a:off x="762000" y="1451610"/>
            <a:ext cx="7467600" cy="2506980"/>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3554113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pic>
        <p:nvPicPr>
          <p:cNvPr id="5" name="Content Placeholder 4"/>
          <p:cNvPicPr>
            <a:picLocks noGrp="1" noChangeAspect="1"/>
          </p:cNvPicPr>
          <p:nvPr>
            <p:ph sz="quarter" idx="10"/>
          </p:nvPr>
        </p:nvPicPr>
        <p:blipFill>
          <a:blip r:embed="rId2"/>
          <a:stretch>
            <a:fillRect/>
          </a:stretch>
        </p:blipFill>
        <p:spPr>
          <a:xfrm>
            <a:off x="685800" y="1034796"/>
            <a:ext cx="6787833" cy="3340608"/>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3988988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 encryption process</a:t>
            </a:r>
            <a:endParaRPr lang="en-IN" dirty="0"/>
          </a:p>
        </p:txBody>
      </p:sp>
      <p:pic>
        <p:nvPicPr>
          <p:cNvPr id="5" name="Content Placeholder 4"/>
          <p:cNvPicPr>
            <a:picLocks noGrp="1" noChangeAspect="1"/>
          </p:cNvPicPr>
          <p:nvPr>
            <p:ph sz="quarter" idx="10"/>
          </p:nvPr>
        </p:nvPicPr>
        <p:blipFill>
          <a:blip r:embed="rId2"/>
          <a:stretch>
            <a:fillRect/>
          </a:stretch>
        </p:blipFill>
        <p:spPr>
          <a:xfrm>
            <a:off x="1143000" y="1456704"/>
            <a:ext cx="6071779" cy="2187261"/>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40292482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 decryption process</a:t>
            </a:r>
            <a:endParaRPr lang="en-IN" dirty="0"/>
          </a:p>
        </p:txBody>
      </p:sp>
      <p:pic>
        <p:nvPicPr>
          <p:cNvPr id="5" name="Content Placeholder 4"/>
          <p:cNvPicPr>
            <a:picLocks noGrp="1" noChangeAspect="1"/>
          </p:cNvPicPr>
          <p:nvPr>
            <p:ph sz="quarter" idx="10"/>
          </p:nvPr>
        </p:nvPicPr>
        <p:blipFill>
          <a:blip r:embed="rId2"/>
          <a:stretch>
            <a:fillRect/>
          </a:stretch>
        </p:blipFill>
        <p:spPr>
          <a:xfrm>
            <a:off x="685801" y="971060"/>
            <a:ext cx="6894770" cy="3047842"/>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213818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r>
              <a:rPr lang="en-IN" sz="3200" dirty="0" smtClean="0"/>
              <a:t>AES Algorithm</a:t>
            </a:r>
            <a:endParaRPr lang="en-IN" sz="3200"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34472771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pic>
        <p:nvPicPr>
          <p:cNvPr id="5" name="Content Placeholder 4"/>
          <p:cNvPicPr>
            <a:picLocks noGrp="1" noChangeAspect="1"/>
          </p:cNvPicPr>
          <p:nvPr>
            <p:ph sz="quarter" idx="10"/>
          </p:nvPr>
        </p:nvPicPr>
        <p:blipFill>
          <a:blip r:embed="rId2"/>
          <a:stretch>
            <a:fillRect/>
          </a:stretch>
        </p:blipFill>
        <p:spPr>
          <a:xfrm>
            <a:off x="244331" y="1504950"/>
            <a:ext cx="7229302" cy="1988058"/>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37871507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Advantages of AES</a:t>
            </a:r>
            <a:endParaRPr lang="en-IN" dirty="0"/>
          </a:p>
        </p:txBody>
      </p:sp>
      <p:pic>
        <p:nvPicPr>
          <p:cNvPr id="5" name="Content Placeholder 4"/>
          <p:cNvPicPr>
            <a:picLocks noGrp="1" noChangeAspect="1"/>
          </p:cNvPicPr>
          <p:nvPr>
            <p:ph sz="quarter" idx="10"/>
          </p:nvPr>
        </p:nvPicPr>
        <p:blipFill>
          <a:blip r:embed="rId2"/>
          <a:stretch>
            <a:fillRect/>
          </a:stretch>
        </p:blipFill>
        <p:spPr>
          <a:xfrm>
            <a:off x="379412" y="1842516"/>
            <a:ext cx="8307387" cy="1725168"/>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1411028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 Disadvantages of AES</a:t>
            </a:r>
            <a:endParaRPr lang="en-IN" dirty="0"/>
          </a:p>
        </p:txBody>
      </p:sp>
      <p:pic>
        <p:nvPicPr>
          <p:cNvPr id="5" name="Content Placeholder 4"/>
          <p:cNvPicPr>
            <a:picLocks noGrp="1" noChangeAspect="1"/>
          </p:cNvPicPr>
          <p:nvPr>
            <p:ph sz="quarter" idx="10"/>
          </p:nvPr>
        </p:nvPicPr>
        <p:blipFill>
          <a:blip r:embed="rId2"/>
          <a:stretch>
            <a:fillRect/>
          </a:stretch>
        </p:blipFill>
        <p:spPr>
          <a:xfrm>
            <a:off x="327946" y="1352550"/>
            <a:ext cx="7145688" cy="2133600"/>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0808703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pic>
        <p:nvPicPr>
          <p:cNvPr id="5" name="Content Placeholder 4"/>
          <p:cNvPicPr>
            <a:picLocks noGrp="1" noChangeAspect="1"/>
          </p:cNvPicPr>
          <p:nvPr>
            <p:ph sz="quarter" idx="10"/>
          </p:nvPr>
        </p:nvPicPr>
        <p:blipFill>
          <a:blip r:embed="rId2"/>
          <a:stretch>
            <a:fillRect/>
          </a:stretch>
        </p:blipFill>
        <p:spPr>
          <a:xfrm>
            <a:off x="2416811" y="1437022"/>
            <a:ext cx="4383404" cy="2536156"/>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35464199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r>
              <a:rPr lang="en-US" dirty="0"/>
              <a:t>AES is a block cipher.</a:t>
            </a:r>
          </a:p>
          <a:p>
            <a:r>
              <a:rPr lang="en-US" dirty="0"/>
              <a:t>The key size can be 128/192/256 bits.</a:t>
            </a:r>
          </a:p>
          <a:p>
            <a:r>
              <a:rPr lang="en-US" dirty="0"/>
              <a:t>Encrypts data in blocks of 128 bits each.</a:t>
            </a:r>
          </a:p>
          <a:p>
            <a:r>
              <a:rPr lang="en-US" dirty="0"/>
              <a:t>That means it takes 128 bits as input and outputs 128 bits of encrypted cipher text as output. AES relies on substitution-permutation network principle which means it is performed using a series of linked operations which involves replacing and shuffling of the input data.</a:t>
            </a:r>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26076819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r>
              <a:rPr lang="en-US" dirty="0"/>
              <a:t>ES performs operations on bytes of data rather than in bits. Since the block size is 128 bits, the cipher processes 128 bits (or 16 bytes) of the input data at a time.</a:t>
            </a:r>
          </a:p>
          <a:p>
            <a:endParaRPr lang="en-US" dirty="0"/>
          </a:p>
          <a:p>
            <a:r>
              <a:rPr lang="en-US" dirty="0"/>
              <a:t>The number of rounds depends on the key length as follows :</a:t>
            </a:r>
          </a:p>
          <a:p>
            <a:endParaRPr lang="en-US" dirty="0"/>
          </a:p>
          <a:p>
            <a:r>
              <a:rPr lang="en-US" dirty="0"/>
              <a:t>128 bit key – 10 rounds</a:t>
            </a:r>
          </a:p>
          <a:p>
            <a:r>
              <a:rPr lang="en-US" dirty="0"/>
              <a:t>192 bit key – 12 rounds</a:t>
            </a:r>
          </a:p>
          <a:p>
            <a:r>
              <a:rPr lang="en-US" dirty="0"/>
              <a:t>256 bit key – 14 rounds</a:t>
            </a:r>
          </a:p>
          <a:p>
            <a:r>
              <a:rPr lang="en-US" dirty="0"/>
              <a:t>Creation of Round keys :</a:t>
            </a:r>
          </a:p>
          <a:p>
            <a:r>
              <a:rPr lang="en-US" dirty="0"/>
              <a:t>A Key Schedule algorithm is used to calculate all the round keys from the key. So the initial key is used to create many different round keys which will be used in the corresponding round of the encryption.</a:t>
            </a:r>
            <a:endParaRPr lang="en-IN" dirty="0"/>
          </a:p>
        </p:txBody>
      </p:sp>
      <p:sp>
        <p:nvSpPr>
          <p:cNvPr id="4" name="Footer Placeholder 3"/>
          <p:cNvSpPr>
            <a:spLocks noGrp="1"/>
          </p:cNvSpPr>
          <p:nvPr>
            <p:ph type="ftr" sz="quarter" idx="3"/>
          </p:nvPr>
        </p:nvSpPr>
        <p:spPr/>
        <p:txBody>
          <a:bodyPr/>
          <a:lstStyle/>
          <a:p>
            <a:pPr algn="r"/>
            <a:r>
              <a:rPr lang="en-US" dirty="0" smtClean="0"/>
              <a:t>Module: Security</a:t>
            </a:r>
            <a:endParaRPr lang="en-US" dirty="0"/>
          </a:p>
        </p:txBody>
      </p:sp>
    </p:spTree>
    <p:extLst>
      <p:ext uri="{BB962C8B-B14F-4D97-AF65-F5344CB8AC3E}">
        <p14:creationId xmlns:p14="http://schemas.microsoft.com/office/powerpoint/2010/main" val="12048962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pic>
        <p:nvPicPr>
          <p:cNvPr id="1026" name="Picture 2" descr="Lightbox"/>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2167214" y="990600"/>
            <a:ext cx="4882597"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5072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r>
              <a:rPr lang="en-US" dirty="0"/>
              <a:t>A Key Schedule algorithm is used to calculate all the round keys from the key. So the initial key is used to create many different round keys which will be used in the corresponding round of the encryption.</a:t>
            </a:r>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22138727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a:xfrm>
            <a:off x="379413" y="990600"/>
            <a:ext cx="8383587" cy="3486150"/>
          </a:xfrm>
        </p:spPr>
        <p:txBody>
          <a:bodyPr/>
          <a:lstStyle/>
          <a:p>
            <a:r>
              <a:rPr lang="en-IN" dirty="0"/>
              <a:t>AES considers each block as a 16 byte (4 byte x 4 byte = 128 ) grid in a column major arrangement.</a:t>
            </a:r>
          </a:p>
          <a:p>
            <a:endParaRPr lang="en-IN" dirty="0"/>
          </a:p>
          <a:p>
            <a:r>
              <a:rPr lang="en-IN" dirty="0"/>
              <a:t>[ b0 | b4 | b8 | b12 |</a:t>
            </a:r>
          </a:p>
          <a:p>
            <a:r>
              <a:rPr lang="en-IN" dirty="0"/>
              <a:t>| b1 | b5 | b9 | b13 |</a:t>
            </a:r>
          </a:p>
          <a:p>
            <a:r>
              <a:rPr lang="en-IN" dirty="0"/>
              <a:t>| b2 | b6 | b10| b14 |</a:t>
            </a:r>
          </a:p>
          <a:p>
            <a:r>
              <a:rPr lang="en-IN" dirty="0"/>
              <a:t>| b3 | b7 | b11| b15 </a:t>
            </a:r>
            <a:r>
              <a:rPr lang="en-IN" dirty="0" smtClean="0"/>
              <a:t>]</a:t>
            </a:r>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24876867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endParaRPr lang="en-IN"/>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
        <p:nvSpPr>
          <p:cNvPr id="5" name="Rectangle 4"/>
          <p:cNvSpPr/>
          <p:nvPr/>
        </p:nvSpPr>
        <p:spPr>
          <a:xfrm>
            <a:off x="2286000" y="1417588"/>
            <a:ext cx="4572000" cy="2308324"/>
          </a:xfrm>
          <a:prstGeom prst="rect">
            <a:avLst/>
          </a:prstGeom>
        </p:spPr>
        <p:txBody>
          <a:bodyPr>
            <a:spAutoFit/>
          </a:bodyPr>
          <a:lstStyle/>
          <a:p>
            <a:r>
              <a:rPr lang="en-US" dirty="0"/>
              <a:t>Each round comprises of 4 steps :</a:t>
            </a:r>
          </a:p>
          <a:p>
            <a:endParaRPr lang="en-US" dirty="0"/>
          </a:p>
          <a:p>
            <a:r>
              <a:rPr lang="en-US" dirty="0" err="1"/>
              <a:t>SubBytes</a:t>
            </a:r>
            <a:endParaRPr lang="en-US" dirty="0"/>
          </a:p>
          <a:p>
            <a:r>
              <a:rPr lang="en-US" dirty="0" err="1"/>
              <a:t>ShiftRows</a:t>
            </a:r>
            <a:endParaRPr lang="en-US" dirty="0"/>
          </a:p>
          <a:p>
            <a:r>
              <a:rPr lang="en-US" dirty="0" err="1"/>
              <a:t>MixColumns</a:t>
            </a:r>
            <a:endParaRPr lang="en-US" dirty="0"/>
          </a:p>
          <a:p>
            <a:r>
              <a:rPr lang="en-US" dirty="0"/>
              <a:t>Add Round Key</a:t>
            </a:r>
          </a:p>
          <a:p>
            <a:r>
              <a:rPr lang="en-US" dirty="0"/>
              <a:t>The last round doesn’t have the </a:t>
            </a:r>
            <a:r>
              <a:rPr lang="en-US" dirty="0" err="1"/>
              <a:t>MixColumns</a:t>
            </a:r>
            <a:r>
              <a:rPr lang="en-US" dirty="0"/>
              <a:t> round.</a:t>
            </a:r>
            <a:endParaRPr lang="en-IN" dirty="0"/>
          </a:p>
        </p:txBody>
      </p:sp>
    </p:spTree>
    <p:extLst>
      <p:ext uri="{BB962C8B-B14F-4D97-AF65-F5344CB8AC3E}">
        <p14:creationId xmlns:p14="http://schemas.microsoft.com/office/powerpoint/2010/main" val="31203514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r>
              <a:rPr lang="en-US" dirty="0" err="1"/>
              <a:t>SubBytes</a:t>
            </a:r>
            <a:r>
              <a:rPr lang="en-US" dirty="0"/>
              <a:t>  :</a:t>
            </a:r>
          </a:p>
          <a:p>
            <a:r>
              <a:rPr lang="en-US" dirty="0"/>
              <a:t>This step implements the substitution.</a:t>
            </a:r>
          </a:p>
          <a:p>
            <a:endParaRPr lang="en-US" dirty="0"/>
          </a:p>
          <a:p>
            <a:r>
              <a:rPr lang="en-US" dirty="0"/>
              <a:t>In this step each byte is substituted by another byte. Its performed using a lookup table also called the S-box. This substitution is done in a way that a byte is never substituted by itself and also not substituted by another byte which is a compliment of the current byte. The result of this step is a 16 byte (4 x 4 ) matrix like before.</a:t>
            </a:r>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4843402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r>
              <a:rPr lang="en-US" dirty="0" err="1"/>
              <a:t>ShiftRows</a:t>
            </a:r>
            <a:r>
              <a:rPr lang="en-US" dirty="0"/>
              <a:t> :</a:t>
            </a:r>
          </a:p>
          <a:p>
            <a:r>
              <a:rPr lang="en-US" dirty="0"/>
              <a:t>This step is just as it sounds. Each row is shifted a particular number of times.</a:t>
            </a:r>
          </a:p>
          <a:p>
            <a:endParaRPr lang="en-US" dirty="0"/>
          </a:p>
          <a:p>
            <a:r>
              <a:rPr lang="en-US" dirty="0"/>
              <a:t>The first row is not shifted</a:t>
            </a:r>
          </a:p>
          <a:p>
            <a:r>
              <a:rPr lang="en-US" dirty="0"/>
              <a:t>The second row is shifted once to the left.</a:t>
            </a:r>
          </a:p>
          <a:p>
            <a:r>
              <a:rPr lang="en-US" dirty="0"/>
              <a:t>The third row is shifted twice to the left.</a:t>
            </a:r>
          </a:p>
          <a:p>
            <a:r>
              <a:rPr lang="en-US" dirty="0"/>
              <a:t>The fourth row is shifted thrice to the left.</a:t>
            </a:r>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32216868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a:xfrm>
            <a:off x="609601" y="895350"/>
            <a:ext cx="7315200" cy="3429000"/>
          </a:xfrm>
        </p:spPr>
        <p:txBody>
          <a:bodyPr/>
          <a:lstStyle/>
          <a:p>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
        <p:nvSpPr>
          <p:cNvPr id="5" name="Rectangle 4"/>
          <p:cNvSpPr/>
          <p:nvPr/>
        </p:nvSpPr>
        <p:spPr>
          <a:xfrm>
            <a:off x="914400" y="1140589"/>
            <a:ext cx="7696200" cy="1754326"/>
          </a:xfrm>
          <a:prstGeom prst="rect">
            <a:avLst/>
          </a:prstGeom>
        </p:spPr>
        <p:txBody>
          <a:bodyPr wrap="square">
            <a:spAutoFit/>
          </a:bodyPr>
          <a:lstStyle/>
          <a:p>
            <a:r>
              <a:rPr lang="en-IN" dirty="0"/>
              <a:t> left circular shift is performed.)</a:t>
            </a:r>
          </a:p>
          <a:p>
            <a:endParaRPr lang="en-IN" dirty="0"/>
          </a:p>
          <a:p>
            <a:r>
              <a:rPr lang="en-IN" dirty="0"/>
              <a:t>[ b0  | b1  | b2  | b3  ]         [ b0  | b1  | b2  | b3  ]</a:t>
            </a:r>
          </a:p>
          <a:p>
            <a:r>
              <a:rPr lang="en-IN" dirty="0"/>
              <a:t>| b4  | b5  | b6  | b7  |    </a:t>
            </a:r>
            <a:r>
              <a:rPr lang="en-IN" dirty="0" smtClean="0"/>
              <a:t>-&gt; </a:t>
            </a:r>
            <a:r>
              <a:rPr lang="en-IN" dirty="0"/>
              <a:t>| b5  | b6  | b7  | b4  |</a:t>
            </a:r>
          </a:p>
          <a:p>
            <a:r>
              <a:rPr lang="en-IN" dirty="0"/>
              <a:t>| b8  | b9  | b10 | b11 |      </a:t>
            </a:r>
            <a:r>
              <a:rPr lang="en-IN" dirty="0" smtClean="0"/>
              <a:t> </a:t>
            </a:r>
            <a:r>
              <a:rPr lang="en-IN" dirty="0"/>
              <a:t>| b10 | b11 | b8  | b9  |</a:t>
            </a:r>
          </a:p>
          <a:p>
            <a:r>
              <a:rPr lang="en-IN" dirty="0"/>
              <a:t>[ b12 | b13 | b14 | b15 </a:t>
            </a:r>
            <a:r>
              <a:rPr lang="en-IN" dirty="0" smtClean="0"/>
              <a:t>]      </a:t>
            </a:r>
            <a:r>
              <a:rPr lang="en-IN" dirty="0"/>
              <a:t>[ b15 | b12 | b13 | b14 ]</a:t>
            </a:r>
          </a:p>
        </p:txBody>
      </p:sp>
    </p:spTree>
    <p:extLst>
      <p:ext uri="{BB962C8B-B14F-4D97-AF65-F5344CB8AC3E}">
        <p14:creationId xmlns:p14="http://schemas.microsoft.com/office/powerpoint/2010/main" val="16543756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a:xfrm>
            <a:off x="379413" y="990600"/>
            <a:ext cx="6173788" cy="3962400"/>
          </a:xfrm>
        </p:spPr>
        <p:txBody>
          <a:bodyPr/>
          <a:lstStyle/>
          <a:p>
            <a:r>
              <a:rPr lang="en-US" sz="1400" dirty="0" err="1" smtClean="0"/>
              <a:t>MixColumns</a:t>
            </a:r>
            <a:r>
              <a:rPr lang="en-US" sz="1400" dirty="0" smtClean="0"/>
              <a:t> </a:t>
            </a:r>
            <a:r>
              <a:rPr lang="en-US" sz="1400" dirty="0"/>
              <a:t>:</a:t>
            </a:r>
          </a:p>
          <a:p>
            <a:r>
              <a:rPr lang="en-US" sz="1400" dirty="0"/>
              <a:t>This step is basically a matrix multiplication. Each column is multiplied with a specific matrix and thus the position of each byte in the column is changed as a result.</a:t>
            </a:r>
          </a:p>
          <a:p>
            <a:endParaRPr lang="en-US" sz="1400" dirty="0"/>
          </a:p>
          <a:p>
            <a:r>
              <a:rPr lang="en-US" sz="1400" dirty="0"/>
              <a:t>This step is skipped in the last round.</a:t>
            </a:r>
          </a:p>
          <a:p>
            <a:endParaRPr lang="en-US" sz="1400" dirty="0"/>
          </a:p>
          <a:p>
            <a:r>
              <a:rPr lang="en-US" sz="1400" dirty="0"/>
              <a:t>[ c0 ]         [ 2  3  1  1 ]  [ b0 ]</a:t>
            </a:r>
          </a:p>
          <a:p>
            <a:r>
              <a:rPr lang="en-US" sz="1400" dirty="0"/>
              <a:t>| c1 |  =      | 1  2  3  1 |     | b1 |</a:t>
            </a:r>
          </a:p>
          <a:p>
            <a:r>
              <a:rPr lang="en-US" sz="1400" dirty="0"/>
              <a:t>| c2 |      | 1  1  2  3 |     | b2 |</a:t>
            </a:r>
          </a:p>
          <a:p>
            <a:r>
              <a:rPr lang="en-US" sz="1400" dirty="0"/>
              <a:t>[ c3 ]      [ 3  1  1  2 ]     [ b3 </a:t>
            </a:r>
            <a:r>
              <a:rPr lang="en-US" dirty="0"/>
              <a:t>]</a:t>
            </a:r>
            <a:endParaRPr lang="en-IN" dirty="0"/>
          </a:p>
        </p:txBody>
      </p:sp>
      <p:sp>
        <p:nvSpPr>
          <p:cNvPr id="4" name="Footer Placeholder 3"/>
          <p:cNvSpPr>
            <a:spLocks noGrp="1"/>
          </p:cNvSpPr>
          <p:nvPr>
            <p:ph type="ftr" sz="quarter" idx="3"/>
          </p:nvPr>
        </p:nvSpPr>
        <p:spPr>
          <a:xfrm>
            <a:off x="2667000" y="4953000"/>
            <a:ext cx="5181600" cy="133350"/>
          </a:xfrm>
        </p:spPr>
        <p:txBody>
          <a:bodyPr/>
          <a:lstStyle/>
          <a:p>
            <a:pPr algn="r"/>
            <a:r>
              <a:rPr lang="en-US" smtClean="0"/>
              <a:t>Module: Security</a:t>
            </a:r>
            <a:endParaRPr lang="en-US" dirty="0"/>
          </a:p>
        </p:txBody>
      </p:sp>
    </p:spTree>
    <p:extLst>
      <p:ext uri="{BB962C8B-B14F-4D97-AF65-F5344CB8AC3E}">
        <p14:creationId xmlns:p14="http://schemas.microsoft.com/office/powerpoint/2010/main" val="26112971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 Add round keys</a:t>
            </a:r>
            <a:endParaRPr lang="en-IN" dirty="0"/>
          </a:p>
        </p:txBody>
      </p:sp>
      <p:pic>
        <p:nvPicPr>
          <p:cNvPr id="5" name="Content Placeholder 4"/>
          <p:cNvPicPr>
            <a:picLocks noGrp="1" noChangeAspect="1"/>
          </p:cNvPicPr>
          <p:nvPr>
            <p:ph sz="quarter" idx="10"/>
          </p:nvPr>
        </p:nvPicPr>
        <p:blipFill>
          <a:blip r:embed="rId2"/>
          <a:stretch>
            <a:fillRect/>
          </a:stretch>
        </p:blipFill>
        <p:spPr>
          <a:xfrm>
            <a:off x="2413152" y="990600"/>
            <a:ext cx="4390722" cy="3429000"/>
          </a:xfrm>
          <a:prstGeom prst="rect">
            <a:avLst/>
          </a:prstGeom>
        </p:spPr>
      </p:pic>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5942157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r>
              <a:rPr lang="en-US" dirty="0"/>
              <a:t>After all these rounds 128 bits of encrypted data is given back as output. This process is repeated until all the data to be encrypted undergoes this process.</a:t>
            </a:r>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8567352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 Decryption</a:t>
            </a:r>
            <a:endParaRPr lang="en-IN" dirty="0"/>
          </a:p>
        </p:txBody>
      </p:sp>
      <p:sp>
        <p:nvSpPr>
          <p:cNvPr id="3" name="Content Placeholder 2"/>
          <p:cNvSpPr>
            <a:spLocks noGrp="1"/>
          </p:cNvSpPr>
          <p:nvPr>
            <p:ph sz="quarter" idx="10"/>
          </p:nvPr>
        </p:nvSpPr>
        <p:spPr/>
        <p:txBody>
          <a:bodyPr/>
          <a:lstStyle/>
          <a:p>
            <a:r>
              <a:rPr lang="en-US" sz="1200" dirty="0"/>
              <a:t>Decryption :</a:t>
            </a:r>
          </a:p>
          <a:p>
            <a:r>
              <a:rPr lang="en-US" sz="1200" dirty="0"/>
              <a:t>The stages in the rounds can be easily undone as these stages have an opposite to it which when performed reverts the </a:t>
            </a:r>
            <a:r>
              <a:rPr lang="en-US" sz="1200" dirty="0" err="1"/>
              <a:t>changes.Each</a:t>
            </a:r>
            <a:r>
              <a:rPr lang="en-US" sz="1200" dirty="0"/>
              <a:t> 128 blocks goes through the 10,12 or 14 rounds depending on the key size.</a:t>
            </a:r>
          </a:p>
          <a:p>
            <a:endParaRPr lang="en-US" sz="1200" dirty="0"/>
          </a:p>
          <a:p>
            <a:r>
              <a:rPr lang="en-US" sz="1200" dirty="0"/>
              <a:t>The stages of each round in decryption is as follows :</a:t>
            </a:r>
          </a:p>
          <a:p>
            <a:endParaRPr lang="en-US" sz="1200" dirty="0"/>
          </a:p>
          <a:p>
            <a:r>
              <a:rPr lang="en-US" sz="1200" dirty="0"/>
              <a:t>Add round key</a:t>
            </a:r>
          </a:p>
          <a:p>
            <a:r>
              <a:rPr lang="en-US" sz="1200" dirty="0"/>
              <a:t>Inverse </a:t>
            </a:r>
            <a:r>
              <a:rPr lang="en-US" sz="1200" dirty="0" err="1"/>
              <a:t>MixColumns</a:t>
            </a:r>
            <a:endParaRPr lang="en-US" sz="1200" dirty="0"/>
          </a:p>
          <a:p>
            <a:r>
              <a:rPr lang="en-US" sz="1200" dirty="0" err="1"/>
              <a:t>ShiftRows</a:t>
            </a:r>
            <a:endParaRPr lang="en-US" sz="1200" dirty="0"/>
          </a:p>
          <a:p>
            <a:r>
              <a:rPr lang="en-US" sz="1200" dirty="0"/>
              <a:t>Inverse </a:t>
            </a:r>
            <a:r>
              <a:rPr lang="en-US" sz="1200" dirty="0" err="1"/>
              <a:t>SubByte</a:t>
            </a:r>
            <a:endParaRPr lang="en-IN" sz="1200"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0448869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r>
              <a:rPr lang="en-US" sz="1400" dirty="0"/>
              <a:t>Inverse </a:t>
            </a:r>
            <a:r>
              <a:rPr lang="en-US" sz="1400" dirty="0" err="1"/>
              <a:t>MixColumns</a:t>
            </a:r>
            <a:r>
              <a:rPr lang="en-US" sz="1400" dirty="0"/>
              <a:t> :</a:t>
            </a:r>
          </a:p>
          <a:p>
            <a:r>
              <a:rPr lang="en-US" sz="1400" dirty="0"/>
              <a:t> This step is similar to the </a:t>
            </a:r>
            <a:r>
              <a:rPr lang="en-US" sz="1400" dirty="0" err="1"/>
              <a:t>MixColumns</a:t>
            </a:r>
            <a:r>
              <a:rPr lang="en-US" sz="1400" dirty="0"/>
              <a:t> step in encryption, but differs in the matrix used to carry out the operation.</a:t>
            </a:r>
          </a:p>
          <a:p>
            <a:endParaRPr lang="en-US" sz="1400" dirty="0"/>
          </a:p>
          <a:p>
            <a:r>
              <a:rPr lang="en-US" sz="1400" dirty="0"/>
              <a:t>[ b0 ]         [ 14  11  13  9  ]  [ c0 ]</a:t>
            </a:r>
          </a:p>
          <a:p>
            <a:r>
              <a:rPr lang="en-US" sz="1400" dirty="0"/>
              <a:t>| b1 |  =      | 9   14  11  13 |     | c1 |</a:t>
            </a:r>
          </a:p>
          <a:p>
            <a:r>
              <a:rPr lang="en-US" sz="1400" dirty="0"/>
              <a:t>| b2 |      | 13  9   14  11 |     | c2 |</a:t>
            </a:r>
          </a:p>
          <a:p>
            <a:r>
              <a:rPr lang="en-US" sz="1400" dirty="0"/>
              <a:t>[ b3 ]         [ 11  13  9   14 ]     [ c3 ]</a:t>
            </a:r>
          </a:p>
          <a:p>
            <a:r>
              <a:rPr lang="en-US" sz="1400" dirty="0"/>
              <a:t>Inverse </a:t>
            </a:r>
            <a:r>
              <a:rPr lang="en-US" sz="1400" dirty="0" err="1"/>
              <a:t>SubBytes</a:t>
            </a:r>
            <a:r>
              <a:rPr lang="en-US" sz="1400" dirty="0"/>
              <a:t> :</a:t>
            </a:r>
          </a:p>
          <a:p>
            <a:r>
              <a:rPr lang="en-US" sz="1400" dirty="0"/>
              <a:t>Inverse S-box is used as a lookup table and using which the bytes are substituted during decryption</a:t>
            </a:r>
            <a:r>
              <a:rPr lang="en-US" dirty="0"/>
              <a:t>.</a:t>
            </a:r>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0834934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
        <p:nvSpPr>
          <p:cNvPr id="5" name="Rectangle 4"/>
          <p:cNvSpPr/>
          <p:nvPr/>
        </p:nvSpPr>
        <p:spPr>
          <a:xfrm>
            <a:off x="838200" y="990600"/>
            <a:ext cx="5943600" cy="3477875"/>
          </a:xfrm>
          <a:prstGeom prst="rect">
            <a:avLst/>
          </a:prstGeom>
        </p:spPr>
        <p:txBody>
          <a:bodyPr wrap="square">
            <a:spAutoFit/>
          </a:bodyPr>
          <a:lstStyle/>
          <a:p>
            <a:r>
              <a:rPr lang="en-US" sz="1100" dirty="0"/>
              <a:t>Applications:</a:t>
            </a:r>
          </a:p>
          <a:p>
            <a:endParaRPr lang="en-US" sz="1100" dirty="0"/>
          </a:p>
          <a:p>
            <a:r>
              <a:rPr lang="en-US" sz="1100" dirty="0"/>
              <a:t>AES is widely used in many applications which require secure data storage and transmission. Some common use cases include:</a:t>
            </a:r>
          </a:p>
          <a:p>
            <a:endParaRPr lang="en-US" sz="1100" dirty="0"/>
          </a:p>
          <a:p>
            <a:r>
              <a:rPr lang="en-US" sz="1100" dirty="0"/>
              <a:t>Wireless security: AES is used in securing wireless networks, such as Wi-Fi networks, to ensure data confidentiality and prevent unauthorized access.</a:t>
            </a:r>
          </a:p>
          <a:p>
            <a:r>
              <a:rPr lang="en-US" sz="1100" dirty="0"/>
              <a:t>Database Encryption: AES can be applied to encrypt sensitive data stored in databases. This helps protect personal information, financial records, and other confidential data from unauthorized access in case of a data breach.</a:t>
            </a:r>
          </a:p>
          <a:p>
            <a:r>
              <a:rPr lang="en-US" sz="1100" dirty="0"/>
              <a:t>Secure communications: AES is widely used in protocols like such as internet communications, email, instant messaging, and voice/video </a:t>
            </a:r>
            <a:r>
              <a:rPr lang="en-US" sz="1100" dirty="0" err="1"/>
              <a:t>calls.It</a:t>
            </a:r>
            <a:r>
              <a:rPr lang="en-US" sz="1100" dirty="0"/>
              <a:t> ensures that the data remains confidential.</a:t>
            </a:r>
          </a:p>
          <a:p>
            <a:r>
              <a:rPr lang="en-US" sz="1100" dirty="0"/>
              <a:t>Data storage: AES is used to encrypt sensitive data stored on hard drives, USB drives, and other storage media, protecting it from unauthorized access in case of loss or theft.</a:t>
            </a:r>
          </a:p>
          <a:p>
            <a:r>
              <a:rPr lang="en-US" sz="1100" dirty="0"/>
              <a:t>Virtual Private Networks (VPNs): AES is commonly used in VPN protocols to secure the communication between a user’s device and a remote server. It ensures that data sent and received through the VPN remains private and cannot be deciphered by eavesdroppers.</a:t>
            </a:r>
            <a:endParaRPr lang="en-IN" sz="1100" dirty="0"/>
          </a:p>
        </p:txBody>
      </p:sp>
    </p:spTree>
    <p:extLst>
      <p:ext uri="{BB962C8B-B14F-4D97-AF65-F5344CB8AC3E}">
        <p14:creationId xmlns:p14="http://schemas.microsoft.com/office/powerpoint/2010/main" val="25240792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 URL</a:t>
            </a:r>
            <a:endParaRPr lang="en-IN" dirty="0"/>
          </a:p>
        </p:txBody>
      </p:sp>
      <p:sp>
        <p:nvSpPr>
          <p:cNvPr id="3" name="Content Placeholder 2"/>
          <p:cNvSpPr>
            <a:spLocks noGrp="1"/>
          </p:cNvSpPr>
          <p:nvPr>
            <p:ph sz="quarter" idx="10"/>
          </p:nvPr>
        </p:nvSpPr>
        <p:spPr/>
        <p:txBody>
          <a:bodyPr/>
          <a:lstStyle/>
          <a:p>
            <a:r>
              <a:rPr lang="en-IN" dirty="0">
                <a:hlinkClick r:id="rId2"/>
              </a:rPr>
              <a:t>https://www.geeksforgeeks.org/advanced-encryption-standard-aes</a:t>
            </a:r>
            <a:r>
              <a:rPr lang="en-IN" dirty="0" smtClean="0">
                <a:hlinkClick r:id="rId2"/>
              </a:rPr>
              <a:t>/</a:t>
            </a:r>
            <a:endParaRPr lang="en-IN" dirty="0" smtClean="0"/>
          </a:p>
          <a:p>
            <a:endParaRPr lang="en-IN"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18962412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p:txBody>
          <a:bodyPr/>
          <a:lstStyle/>
          <a:p>
            <a:r>
              <a:rPr lang="en-IN" sz="4000" dirty="0" smtClean="0"/>
              <a:t>THANK YOU</a:t>
            </a:r>
            <a:endParaRPr lang="en-IN" sz="4000" dirty="0"/>
          </a:p>
        </p:txBody>
      </p:sp>
      <p:sp>
        <p:nvSpPr>
          <p:cNvPr id="4" name="Footer Placeholder 3"/>
          <p:cNvSpPr>
            <a:spLocks noGrp="1"/>
          </p:cNvSpPr>
          <p:nvPr>
            <p:ph type="ftr" sz="quarter" idx="3"/>
          </p:nvPr>
        </p:nvSpPr>
        <p:spPr/>
        <p:txBody>
          <a:bodyPr/>
          <a:lstStyle/>
          <a:p>
            <a:pPr algn="r"/>
            <a:r>
              <a:rPr lang="en-US" smtClean="0"/>
              <a:t>Module: Security</a:t>
            </a:r>
            <a:endParaRPr lang="en-US" dirty="0"/>
          </a:p>
        </p:txBody>
      </p:sp>
    </p:spTree>
    <p:extLst>
      <p:ext uri="{BB962C8B-B14F-4D97-AF65-F5344CB8AC3E}">
        <p14:creationId xmlns:p14="http://schemas.microsoft.com/office/powerpoint/2010/main" val="21772578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9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014 Tab templates">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B15D6256FBBA439A36F38EE88BD2AC" ma:contentTypeVersion="3" ma:contentTypeDescription="Create a new document." ma:contentTypeScope="" ma:versionID="c6325cbf402974fda821c753a292e590">
  <xsd:schema xmlns:xsd="http://www.w3.org/2001/XMLSchema" xmlns:xs="http://www.w3.org/2001/XMLSchema" xmlns:p="http://schemas.microsoft.com/office/2006/metadata/properties" xmlns:ns2="acc976f4-dadb-41a7-94d5-36ea14b71f8e" targetNamespace="http://schemas.microsoft.com/office/2006/metadata/properties" ma:root="true" ma:fieldsID="6d9e46238dc6d752bdcae7b3bc232150" ns2:_="">
    <xsd:import namespace="acc976f4-dadb-41a7-94d5-36ea14b71f8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c976f4-dadb-41a7-94d5-36ea14b71f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C85549-DAEE-4B82-AD77-0AA4DBF4D123}"/>
</file>

<file path=customXml/itemProps2.xml><?xml version="1.0" encoding="utf-8"?>
<ds:datastoreItem xmlns:ds="http://schemas.openxmlformats.org/officeDocument/2006/customXml" ds:itemID="{D8755C2F-4DFC-4E04-A9B9-F735040118C6}"/>
</file>

<file path=customXml/itemProps3.xml><?xml version="1.0" encoding="utf-8"?>
<ds:datastoreItem xmlns:ds="http://schemas.openxmlformats.org/officeDocument/2006/customXml" ds:itemID="{68F559A7-9874-4F5C-AB91-D974C87164F3}"/>
</file>

<file path=docProps/app.xml><?xml version="1.0" encoding="utf-8"?>
<Properties xmlns="http://schemas.openxmlformats.org/officeDocument/2006/extended-properties" xmlns:vt="http://schemas.openxmlformats.org/officeDocument/2006/docPropsVTypes">
  <Template/>
  <TotalTime>5315</TotalTime>
  <Words>11089</Words>
  <Application>Microsoft Office PowerPoint</Application>
  <PresentationFormat>On-screen Show (16:9)</PresentationFormat>
  <Paragraphs>704</Paragraphs>
  <Slides>78</Slides>
  <Notes>47</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Calibri</vt:lpstr>
      <vt:lpstr>Lucida Grande</vt:lpstr>
      <vt:lpstr>Verdana</vt:lpstr>
      <vt:lpstr>Wingdings</vt:lpstr>
      <vt:lpstr>2014 Tab templates</vt:lpstr>
      <vt:lpstr>Module: Security</vt:lpstr>
      <vt:lpstr>Cloud Computing Reference Model</vt:lpstr>
      <vt:lpstr>Drivers for Securing Cloud Infrastructure</vt:lpstr>
      <vt:lpstr>Information Security</vt:lpstr>
      <vt:lpstr>Key Security Threats in a Cloud Environment</vt:lpstr>
      <vt:lpstr>Data Leakage</vt:lpstr>
      <vt:lpstr>Data Leakage</vt:lpstr>
      <vt:lpstr>Data Loss</vt:lpstr>
      <vt:lpstr>Account Hijacking</vt:lpstr>
      <vt:lpstr>Insecure APIs</vt:lpstr>
      <vt:lpstr>Denial of Service (DoS) Attack</vt:lpstr>
      <vt:lpstr>Distributed Denial of Service (DoS) Attack</vt:lpstr>
      <vt:lpstr>Malicious Insiders</vt:lpstr>
      <vt:lpstr>Abuse of Cloud Services</vt:lpstr>
      <vt:lpstr>Insufficient Due Diligence</vt:lpstr>
      <vt:lpstr>Shared Technology Vulnerabilities</vt:lpstr>
      <vt:lpstr>Loss of Compliance</vt:lpstr>
      <vt:lpstr>Loss of Governance</vt:lpstr>
      <vt:lpstr>Lesson Summary</vt:lpstr>
      <vt:lpstr>Lesson: Security Mechanisms – I </vt:lpstr>
      <vt:lpstr>Introduction to Security Mechanisms</vt:lpstr>
      <vt:lpstr> </vt:lpstr>
      <vt:lpstr>Physical Security</vt:lpstr>
      <vt:lpstr>Identity and Access Management concepts :Slide 25 to  31</vt:lpstr>
      <vt:lpstr>OAuth</vt:lpstr>
      <vt:lpstr>OAuth</vt:lpstr>
      <vt:lpstr>Multi-factor Authentication</vt:lpstr>
      <vt:lpstr>Kerberos</vt:lpstr>
      <vt:lpstr>Kerberos</vt:lpstr>
      <vt:lpstr>Challenge Handshake Authentication Protocol</vt:lpstr>
      <vt:lpstr>OpenID</vt:lpstr>
      <vt:lpstr>Lesson Summary</vt:lpstr>
      <vt:lpstr>Lesson: Security Mechanisms – I </vt:lpstr>
      <vt:lpstr>Key Security Mechanisms -II</vt:lpstr>
      <vt:lpstr>Role-based Access Control</vt:lpstr>
      <vt:lpstr>Network Monitoring and Analysis</vt:lpstr>
      <vt:lpstr>Firewall</vt:lpstr>
      <vt:lpstr>Firewall</vt:lpstr>
      <vt:lpstr>Intrusion Detection and Prevention System</vt:lpstr>
      <vt:lpstr>Intrusion Detection and Prevention System</vt:lpstr>
      <vt:lpstr>Lesson: Security Mechanisms – III </vt:lpstr>
      <vt:lpstr>Data Encryption</vt:lpstr>
      <vt:lpstr>Data Shredding</vt:lpstr>
      <vt:lpstr>Security Controls – Host Level</vt:lpstr>
      <vt:lpstr>Identity and Access management-Challenges and standards</vt:lpstr>
      <vt:lpstr>Module: Identity and Access Management</vt:lpstr>
      <vt:lpstr>Why IAM ?</vt:lpstr>
      <vt:lpstr>IAM Challenges</vt:lpstr>
      <vt:lpstr>IAM Standards and Protocols</vt:lpstr>
      <vt:lpstr>Securing Virtual Servers</vt:lpstr>
      <vt:lpstr> RSA algorithm</vt:lpstr>
      <vt:lpstr>PowerPoint Presentation</vt:lpstr>
      <vt:lpstr>PowerPoint Presentation</vt:lpstr>
      <vt:lpstr>PowerPoint Presentation</vt:lpstr>
      <vt:lpstr> encryption process</vt:lpstr>
      <vt:lpstr> decryption process</vt:lpstr>
      <vt:lpstr>PowerPoint Presentation</vt:lpstr>
      <vt:lpstr>PowerPoint Presentation</vt:lpstr>
      <vt:lpstr>Advantages of AES</vt:lpstr>
      <vt:lpstr> Disadvantages of AES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Add round keys</vt:lpstr>
      <vt:lpstr>PowerPoint Presentation</vt:lpstr>
      <vt:lpstr> Decryption</vt:lpstr>
      <vt:lpstr>PowerPoint Presentation</vt:lpstr>
      <vt:lpstr>PowerPoint Presentation</vt:lpstr>
      <vt:lpstr> URL</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There Are 4 Sets Of Templates In The Layout Masters</dc:title>
  <dc:creator>Sanjay Deshmukh (MPSTME)</dc:creator>
  <cp:lastModifiedBy>Mpstme Student</cp:lastModifiedBy>
  <cp:revision>598</cp:revision>
  <cp:lastPrinted>2013-12-05T19:23:46Z</cp:lastPrinted>
  <dcterms:created xsi:type="dcterms:W3CDTF">2014-05-14T20:26:06Z</dcterms:created>
  <dcterms:modified xsi:type="dcterms:W3CDTF">2023-10-09T07:26:01Z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CAF1FF04-999F-4E95-9F8F-8B3DA587C448</vt:lpwstr>
  </property>
  <property fmtid="{D5CDD505-2E9C-101B-9397-08002B2CF9AE}" pid="3" name="ArticulatePath">
    <vt:lpwstr>2014 Template</vt:lpwstr>
  </property>
  <property fmtid="{D5CDD505-2E9C-101B-9397-08002B2CF9AE}" pid="4" name="ContentTypeId">
    <vt:lpwstr>0x010100E4B15D6256FBBA439A36F38EE88BD2AC</vt:lpwstr>
  </property>
  <property fmtid="{D5CDD505-2E9C-101B-9397-08002B2CF9AE}" pid="5" name="Order">
    <vt:r8>1500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