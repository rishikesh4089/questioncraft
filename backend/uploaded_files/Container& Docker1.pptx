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87" r:id="rId4"/>
    <p:sldId id="281" r:id="rId5"/>
    <p:sldId id="288" r:id="rId6"/>
    <p:sldId id="282" r:id="rId7"/>
    <p:sldId id="285" r:id="rId8"/>
    <p:sldId id="268" r:id="rId9"/>
    <p:sldId id="270" r:id="rId10"/>
    <p:sldId id="289" r:id="rId11"/>
    <p:sldId id="291" r:id="rId12"/>
    <p:sldId id="292" r:id="rId13"/>
    <p:sldId id="274" r:id="rId14"/>
    <p:sldId id="275" r:id="rId15"/>
    <p:sldId id="276" r:id="rId16"/>
    <p:sldId id="277" r:id="rId17"/>
    <p:sldId id="293" r:id="rId18"/>
    <p:sldId id="294" r:id="rId19"/>
    <p:sldId id="295" r:id="rId20"/>
    <p:sldId id="296" r:id="rId21"/>
    <p:sldId id="298" r:id="rId22"/>
    <p:sldId id="299" r:id="rId23"/>
    <p:sldId id="300" r:id="rId24"/>
    <p:sldId id="301" r:id="rId25"/>
    <p:sldId id="297" r:id="rId26"/>
    <p:sldId id="302" r:id="rId27"/>
    <p:sldId id="30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239A-DC12-81B8-EB02-CF6CA50085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A0F7E4-E807-F0BF-BBB7-2045A3F0D3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577CAC-2007-2B94-3177-A39B8D417815}"/>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5" name="Footer Placeholder 4">
            <a:extLst>
              <a:ext uri="{FF2B5EF4-FFF2-40B4-BE49-F238E27FC236}">
                <a16:creationId xmlns:a16="http://schemas.microsoft.com/office/drawing/2014/main" id="{69E0F800-DCD2-1582-0A7B-0F14E82925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80FEBC-858A-B08B-034B-7A730E68916D}"/>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199951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62FF-A5E7-19C2-759A-E397AA3A10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990707-1D9A-D8B8-DFB4-C3028F3BCA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756C6A-E044-8248-0558-66065DF5789E}"/>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5" name="Footer Placeholder 4">
            <a:extLst>
              <a:ext uri="{FF2B5EF4-FFF2-40B4-BE49-F238E27FC236}">
                <a16:creationId xmlns:a16="http://schemas.microsoft.com/office/drawing/2014/main" id="{FF5C7E39-D8CE-9B8D-E744-FB8F39BEA5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0132FD-1ACE-67F6-E056-9971F62D0421}"/>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2323996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1D86-B7AE-D9BB-EBFF-16733C1E81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2EA3A2-C3B9-E637-E989-85DA4C14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4B144A-CA39-BEAF-2B2C-3938A90BDBC2}"/>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5" name="Footer Placeholder 4">
            <a:extLst>
              <a:ext uri="{FF2B5EF4-FFF2-40B4-BE49-F238E27FC236}">
                <a16:creationId xmlns:a16="http://schemas.microsoft.com/office/drawing/2014/main" id="{FE816BC3-0916-A78B-2300-E592B1BF6F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86A9D5-A8EE-A8E2-2369-8FFBFAE87B6A}"/>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603337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E911-8753-FCF0-6088-12F7644389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AC4A7C-3EC7-86B0-6348-3994E95364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8A0883-982C-C8A4-F2FF-6D12CFE1A9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EB2C4F-308F-C2F9-450D-211269441515}"/>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6" name="Footer Placeholder 5">
            <a:extLst>
              <a:ext uri="{FF2B5EF4-FFF2-40B4-BE49-F238E27FC236}">
                <a16:creationId xmlns:a16="http://schemas.microsoft.com/office/drawing/2014/main" id="{7627705D-2A21-3810-D504-9AAC1B875C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D414BB-83DD-4579-6380-915F4085246E}"/>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323858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12BFD-4B49-39CB-4FD3-6E58916F80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D2CCF2-0F24-62AA-AB14-87DBFB75C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C3DECE-EBFB-BCEA-769D-683DB1BB63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B15105-F733-5017-FB73-F079E8C4EA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05805-672B-62F7-EB6B-91DD2F1450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93FD31-FD84-94CA-A759-013CA99AA4CB}"/>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8" name="Footer Placeholder 7">
            <a:extLst>
              <a:ext uri="{FF2B5EF4-FFF2-40B4-BE49-F238E27FC236}">
                <a16:creationId xmlns:a16="http://schemas.microsoft.com/office/drawing/2014/main" id="{527902A7-8348-1245-1211-0FED9B31D52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8799CEA-E867-4935-054C-300F9231F9DD}"/>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814849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28CD-E2F7-C722-38CB-4BAC1D6329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A05A5B-4BDF-90CE-3D0A-7AEAB47B45DC}"/>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4" name="Footer Placeholder 3">
            <a:extLst>
              <a:ext uri="{FF2B5EF4-FFF2-40B4-BE49-F238E27FC236}">
                <a16:creationId xmlns:a16="http://schemas.microsoft.com/office/drawing/2014/main" id="{C7BB0213-82CE-494F-AF90-393907D5FD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DCA871-9E9B-F65D-857A-091306784211}"/>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2968249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58B44-0079-E9C4-236C-97B7C477D5ED}"/>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3" name="Footer Placeholder 2">
            <a:extLst>
              <a:ext uri="{FF2B5EF4-FFF2-40B4-BE49-F238E27FC236}">
                <a16:creationId xmlns:a16="http://schemas.microsoft.com/office/drawing/2014/main" id="{F6473DD4-7868-D3E0-20FC-644C7EF04E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0A2697-8FFC-B497-96A5-A4C71779EB14}"/>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522717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DB775-6997-A380-0C36-33EF0EACAA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45BAA7-A565-B237-75F8-596346353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4C9B8D-4AEF-E827-D7DC-C55458890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B8F5DF-9044-B414-1897-B040EC70BBF6}"/>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6" name="Footer Placeholder 5">
            <a:extLst>
              <a:ext uri="{FF2B5EF4-FFF2-40B4-BE49-F238E27FC236}">
                <a16:creationId xmlns:a16="http://schemas.microsoft.com/office/drawing/2014/main" id="{A2AB0813-49AA-2F97-5324-49AEE34130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8DD86E-E4FD-7607-9CE1-DE7C0E1E97CB}"/>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4070991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555B3-8C92-046B-2653-EA2650AB2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A99486-86C5-6921-3662-1A19B3732E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B2E225-27C7-C101-3400-D2C0A951AE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381DE-1B19-20B2-60BB-B8F41A1D30C3}"/>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6" name="Footer Placeholder 5">
            <a:extLst>
              <a:ext uri="{FF2B5EF4-FFF2-40B4-BE49-F238E27FC236}">
                <a16:creationId xmlns:a16="http://schemas.microsoft.com/office/drawing/2014/main" id="{D7193E61-315B-7203-D4CE-42927F25F0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0372E2-5409-2231-94B4-3DB6C34A8D04}"/>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2145659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3F17-7027-E10E-933F-53C9A8DE42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DE8305-566D-53AE-2C58-0C0F5E0CF2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3F8BA6-E303-114C-FC71-AC343AEC5865}"/>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5" name="Footer Placeholder 4">
            <a:extLst>
              <a:ext uri="{FF2B5EF4-FFF2-40B4-BE49-F238E27FC236}">
                <a16:creationId xmlns:a16="http://schemas.microsoft.com/office/drawing/2014/main" id="{A95A8B71-9AE2-21DC-BAEC-8566F273E2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EE0DA8-565E-9FA7-F036-BAF4D958C8C1}"/>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2173338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A10C99-BF85-4A36-BFE3-DE503C7E87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245DE8-E41A-1367-A9FA-3C6D789E2B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54E835-D9B2-C882-3F49-7903CCA733A8}"/>
              </a:ext>
            </a:extLst>
          </p:cNvPr>
          <p:cNvSpPr>
            <a:spLocks noGrp="1"/>
          </p:cNvSpPr>
          <p:nvPr>
            <p:ph type="dt" sz="half" idx="10"/>
          </p:nvPr>
        </p:nvSpPr>
        <p:spPr/>
        <p:txBody>
          <a:bodyPr/>
          <a:lstStyle/>
          <a:p>
            <a:fld id="{E6D240CE-387F-43D2-979A-F67D6B75A90D}" type="datetimeFigureOut">
              <a:rPr lang="en-IN" smtClean="0"/>
              <a:t>06-10-2023</a:t>
            </a:fld>
            <a:endParaRPr lang="en-IN"/>
          </a:p>
        </p:txBody>
      </p:sp>
      <p:sp>
        <p:nvSpPr>
          <p:cNvPr id="5" name="Footer Placeholder 4">
            <a:extLst>
              <a:ext uri="{FF2B5EF4-FFF2-40B4-BE49-F238E27FC236}">
                <a16:creationId xmlns:a16="http://schemas.microsoft.com/office/drawing/2014/main" id="{EE5290A1-6986-2CF2-5565-FFE9948D67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D61596-7CF9-DDFB-727E-D84326D29AAA}"/>
              </a:ext>
            </a:extLst>
          </p:cNvPr>
          <p:cNvSpPr>
            <a:spLocks noGrp="1"/>
          </p:cNvSpPr>
          <p:nvPr>
            <p:ph type="sldNum" sz="quarter" idx="12"/>
          </p:nvPr>
        </p:nvSpPr>
        <p:spPr/>
        <p:txBody>
          <a:bodyPr/>
          <a:lstStyle/>
          <a:p>
            <a:fld id="{97DD3E3E-C9F6-4952-8130-A9FD8E3E31C6}" type="slidenum">
              <a:rPr lang="en-IN" smtClean="0"/>
              <a:t>‹#›</a:t>
            </a:fld>
            <a:endParaRPr lang="en-IN"/>
          </a:p>
        </p:txBody>
      </p:sp>
    </p:spTree>
    <p:extLst>
      <p:ext uri="{BB962C8B-B14F-4D97-AF65-F5344CB8AC3E}">
        <p14:creationId xmlns:p14="http://schemas.microsoft.com/office/powerpoint/2010/main" val="4036538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617D2E-4CD2-9DA7-98A9-01C0F0F23D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443637-795F-D570-BA06-3C2071CB36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78945C-FF2C-E96F-85C3-649BA84F5C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D240CE-387F-43D2-979A-F67D6B75A90D}" type="datetimeFigureOut">
              <a:rPr lang="en-IN" smtClean="0"/>
              <a:t>06-10-2023</a:t>
            </a:fld>
            <a:endParaRPr lang="en-IN"/>
          </a:p>
        </p:txBody>
      </p:sp>
      <p:sp>
        <p:nvSpPr>
          <p:cNvPr id="5" name="Footer Placeholder 4">
            <a:extLst>
              <a:ext uri="{FF2B5EF4-FFF2-40B4-BE49-F238E27FC236}">
                <a16:creationId xmlns:a16="http://schemas.microsoft.com/office/drawing/2014/main" id="{D1D70BB7-A5E8-BEEF-C71B-CD086B9676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897B04-CC42-3982-2F30-73F6D58E25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DD3E3E-C9F6-4952-8130-A9FD8E3E31C6}" type="slidenum">
              <a:rPr lang="en-IN" smtClean="0"/>
              <a:t>‹#›</a:t>
            </a:fld>
            <a:endParaRPr lang="en-IN"/>
          </a:p>
        </p:txBody>
      </p:sp>
    </p:spTree>
    <p:extLst>
      <p:ext uri="{BB962C8B-B14F-4D97-AF65-F5344CB8AC3E}">
        <p14:creationId xmlns:p14="http://schemas.microsoft.com/office/powerpoint/2010/main" val="3660138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xcubelabs.com/blog/building-and-deploying-microservices-with-containers-and-container-orchestr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ocs.docker.com/engine/reference/builde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ws.amazon.com/ec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ocs.docker.com/get-started/overview/#what-can-i-use-docker-fo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5027-1923-F9C2-B03D-80962566DED5}"/>
              </a:ext>
            </a:extLst>
          </p:cNvPr>
          <p:cNvSpPr>
            <a:spLocks noGrp="1"/>
          </p:cNvSpPr>
          <p:nvPr>
            <p:ph type="ctrTitle"/>
          </p:nvPr>
        </p:nvSpPr>
        <p:spPr/>
        <p:txBody>
          <a:bodyPr/>
          <a:lstStyle/>
          <a:p>
            <a:r>
              <a:rPr lang="en-IN" dirty="0"/>
              <a:t>Container &amp; Docker</a:t>
            </a:r>
          </a:p>
        </p:txBody>
      </p:sp>
      <p:sp>
        <p:nvSpPr>
          <p:cNvPr id="3" name="Subtitle 2">
            <a:extLst>
              <a:ext uri="{FF2B5EF4-FFF2-40B4-BE49-F238E27FC236}">
                <a16:creationId xmlns:a16="http://schemas.microsoft.com/office/drawing/2014/main" id="{D585D517-F517-47F8-AAF3-FB8E4AA9566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77183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Container - diagram</a:t>
            </a:r>
            <a:endParaRPr lang="en-IN" dirty="0"/>
          </a:p>
        </p:txBody>
      </p:sp>
      <p:pic>
        <p:nvPicPr>
          <p:cNvPr id="2050" name="Picture 2" descr="What Is Containers Architecture?. How Are Containers Different Than… | by  Farhad Malik | FinTechExplained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72311" y="1825625"/>
            <a:ext cx="444737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68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containers</a:t>
            </a:r>
            <a:endParaRPr lang="en-IN" dirty="0"/>
          </a:p>
        </p:txBody>
      </p:sp>
      <p:sp>
        <p:nvSpPr>
          <p:cNvPr id="3" name="Content Placeholder 2"/>
          <p:cNvSpPr>
            <a:spLocks noGrp="1"/>
          </p:cNvSpPr>
          <p:nvPr>
            <p:ph idx="1"/>
          </p:nvPr>
        </p:nvSpPr>
        <p:spPr/>
        <p:txBody>
          <a:bodyPr/>
          <a:lstStyle/>
          <a:p>
            <a:r>
              <a:rPr lang="en-US" dirty="0">
                <a:solidFill>
                  <a:srgbClr val="202124"/>
                </a:solidFill>
                <a:latin typeface="Google Sans"/>
              </a:rPr>
              <a:t>Containers are lightweight packages of your application code together with dependencies such as specific versions of programming language runtimes and libraries required to run your software services.</a:t>
            </a:r>
            <a:endParaRPr lang="en-IN" dirty="0"/>
          </a:p>
        </p:txBody>
      </p:sp>
    </p:spTree>
    <p:extLst>
      <p:ext uri="{BB962C8B-B14F-4D97-AF65-F5344CB8AC3E}">
        <p14:creationId xmlns:p14="http://schemas.microsoft.com/office/powerpoint/2010/main" val="289976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Containers- benefits</a:t>
            </a:r>
            <a:endParaRPr lang="en-IN" dirty="0"/>
          </a:p>
        </p:txBody>
      </p:sp>
      <p:sp>
        <p:nvSpPr>
          <p:cNvPr id="3" name="Content Placeholder 2"/>
          <p:cNvSpPr>
            <a:spLocks noGrp="1"/>
          </p:cNvSpPr>
          <p:nvPr>
            <p:ph idx="1"/>
          </p:nvPr>
        </p:nvSpPr>
        <p:spPr/>
        <p:txBody>
          <a:bodyPr>
            <a:normAutofit lnSpcReduction="10000"/>
          </a:bodyPr>
          <a:lstStyle/>
          <a:p>
            <a:r>
              <a:rPr lang="en-US" dirty="0">
                <a:solidFill>
                  <a:srgbClr val="5F6368"/>
                </a:solidFill>
                <a:latin typeface="Google Sans Text"/>
              </a:rPr>
              <a:t>Like virtual machines, containers allow you to package your application together with libraries and other dependencies, providing isolated environments for running your software services. As you’ll see below, however, the similarities end here as containers offer a far more lightweight unit for developers and IT Ops teams to work with, carrying a myriad of benefits.</a:t>
            </a:r>
          </a:p>
          <a:p>
            <a:r>
              <a:rPr lang="en-US" dirty="0">
                <a:solidFill>
                  <a:srgbClr val="5F6368"/>
                </a:solidFill>
                <a:latin typeface="Google Sans Text"/>
              </a:rPr>
              <a:t>Containers are much more lightweight than VMs</a:t>
            </a:r>
          </a:p>
          <a:p>
            <a:r>
              <a:rPr lang="en-US" dirty="0">
                <a:solidFill>
                  <a:srgbClr val="5F6368"/>
                </a:solidFill>
                <a:latin typeface="Google Sans Text"/>
              </a:rPr>
              <a:t>Containers virtualize at the OS level while VMs virtualize at the hardware level</a:t>
            </a:r>
          </a:p>
          <a:p>
            <a:r>
              <a:rPr lang="en-US" dirty="0">
                <a:solidFill>
                  <a:srgbClr val="5F6368"/>
                </a:solidFill>
                <a:latin typeface="Google Sans Text"/>
              </a:rPr>
              <a:t>Containers share the OS kernel and use a fraction of the memory VMs require</a:t>
            </a:r>
          </a:p>
          <a:p>
            <a:endParaRPr lang="en-IN" dirty="0"/>
          </a:p>
        </p:txBody>
      </p:sp>
    </p:spTree>
    <p:extLst>
      <p:ext uri="{BB962C8B-B14F-4D97-AF65-F5344CB8AC3E}">
        <p14:creationId xmlns:p14="http://schemas.microsoft.com/office/powerpoint/2010/main" val="975916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–continued </a:t>
            </a:r>
            <a:endParaRPr lang="en-IN" dirty="0"/>
          </a:p>
        </p:txBody>
      </p:sp>
      <p:sp>
        <p:nvSpPr>
          <p:cNvPr id="3" name="Content Placeholder 2"/>
          <p:cNvSpPr>
            <a:spLocks noGrp="1"/>
          </p:cNvSpPr>
          <p:nvPr>
            <p:ph idx="1"/>
          </p:nvPr>
        </p:nvSpPr>
        <p:spPr/>
        <p:txBody>
          <a:bodyPr>
            <a:normAutofit fontScale="62500" lnSpcReduction="20000"/>
          </a:bodyPr>
          <a:lstStyle/>
          <a:p>
            <a:pPr fontAlgn="base"/>
            <a:r>
              <a:rPr lang="en-US" b="1" dirty="0" smtClean="0">
                <a:solidFill>
                  <a:srgbClr val="000000"/>
                </a:solidFill>
                <a:latin typeface="Helvetica Neue"/>
              </a:rPr>
              <a:t>Less </a:t>
            </a:r>
            <a:r>
              <a:rPr lang="en-US" b="1" dirty="0">
                <a:solidFill>
                  <a:srgbClr val="000000"/>
                </a:solidFill>
                <a:latin typeface="Helvetica Neue"/>
              </a:rPr>
              <a:t>overhead</a:t>
            </a:r>
            <a:r>
              <a:rPr lang="en-US" dirty="0">
                <a:solidFill>
                  <a:srgbClr val="000000"/>
                </a:solidFill>
                <a:latin typeface="Helvetica Neue"/>
              </a:rPr>
              <a:t/>
            </a:r>
            <a:br>
              <a:rPr lang="en-US" dirty="0">
                <a:solidFill>
                  <a:srgbClr val="000000"/>
                </a:solidFill>
                <a:latin typeface="Helvetica Neue"/>
              </a:rPr>
            </a:br>
            <a:r>
              <a:rPr lang="en-US" dirty="0">
                <a:solidFill>
                  <a:srgbClr val="000000"/>
                </a:solidFill>
                <a:latin typeface="Helvetica Neue"/>
              </a:rPr>
              <a:t>Containers require less system resources than traditional or hardware virtual machine environments because they don’t include operating system images.</a:t>
            </a:r>
            <a:br>
              <a:rPr lang="en-US" dirty="0">
                <a:solidFill>
                  <a:srgbClr val="000000"/>
                </a:solidFill>
                <a:latin typeface="Helvetica Neue"/>
              </a:rPr>
            </a:br>
            <a:endParaRPr lang="en-US" dirty="0">
              <a:solidFill>
                <a:srgbClr val="000000"/>
              </a:solidFill>
              <a:latin typeface="Helvetica Neue"/>
            </a:endParaRPr>
          </a:p>
          <a:p>
            <a:pPr fontAlgn="base"/>
            <a:r>
              <a:rPr lang="en-US" b="1" dirty="0">
                <a:solidFill>
                  <a:srgbClr val="000000"/>
                </a:solidFill>
                <a:latin typeface="Helvetica Neue"/>
              </a:rPr>
              <a:t>Increased portability</a:t>
            </a:r>
            <a:r>
              <a:rPr lang="en-US" dirty="0">
                <a:solidFill>
                  <a:srgbClr val="000000"/>
                </a:solidFill>
                <a:latin typeface="Helvetica Neue"/>
              </a:rPr>
              <a:t/>
            </a:r>
            <a:br>
              <a:rPr lang="en-US" dirty="0">
                <a:solidFill>
                  <a:srgbClr val="000000"/>
                </a:solidFill>
                <a:latin typeface="Helvetica Neue"/>
              </a:rPr>
            </a:br>
            <a:r>
              <a:rPr lang="en-US" dirty="0">
                <a:solidFill>
                  <a:srgbClr val="000000"/>
                </a:solidFill>
                <a:latin typeface="Helvetica Neue"/>
              </a:rPr>
              <a:t>Applications running in containers can be deployed easily to multiple different operating systems and hardware platforms.</a:t>
            </a:r>
            <a:br>
              <a:rPr lang="en-US" dirty="0">
                <a:solidFill>
                  <a:srgbClr val="000000"/>
                </a:solidFill>
                <a:latin typeface="Helvetica Neue"/>
              </a:rPr>
            </a:br>
            <a:endParaRPr lang="en-US" dirty="0">
              <a:solidFill>
                <a:srgbClr val="000000"/>
              </a:solidFill>
              <a:latin typeface="Helvetica Neue"/>
            </a:endParaRPr>
          </a:p>
          <a:p>
            <a:pPr fontAlgn="base"/>
            <a:r>
              <a:rPr lang="en-US" b="1" dirty="0">
                <a:solidFill>
                  <a:srgbClr val="000000"/>
                </a:solidFill>
                <a:latin typeface="Helvetica Neue"/>
              </a:rPr>
              <a:t>More consistent operation</a:t>
            </a:r>
            <a:r>
              <a:rPr lang="en-US" dirty="0">
                <a:solidFill>
                  <a:srgbClr val="000000"/>
                </a:solidFill>
                <a:latin typeface="Helvetica Neue"/>
              </a:rPr>
              <a:t/>
            </a:r>
            <a:br>
              <a:rPr lang="en-US" dirty="0">
                <a:solidFill>
                  <a:srgbClr val="000000"/>
                </a:solidFill>
                <a:latin typeface="Helvetica Neue"/>
              </a:rPr>
            </a:br>
            <a:r>
              <a:rPr lang="en-US" dirty="0">
                <a:solidFill>
                  <a:srgbClr val="000000"/>
                </a:solidFill>
                <a:latin typeface="Helvetica Neue"/>
              </a:rPr>
              <a:t>DevOps teams know applications in containers will run the same, regardless of where they are deployed.</a:t>
            </a:r>
            <a:br>
              <a:rPr lang="en-US" dirty="0">
                <a:solidFill>
                  <a:srgbClr val="000000"/>
                </a:solidFill>
                <a:latin typeface="Helvetica Neue"/>
              </a:rPr>
            </a:br>
            <a:endParaRPr lang="en-US" dirty="0">
              <a:solidFill>
                <a:srgbClr val="000000"/>
              </a:solidFill>
              <a:latin typeface="Helvetica Neue"/>
            </a:endParaRPr>
          </a:p>
          <a:p>
            <a:pPr fontAlgn="base"/>
            <a:r>
              <a:rPr lang="en-US" b="1" dirty="0">
                <a:solidFill>
                  <a:srgbClr val="000000"/>
                </a:solidFill>
                <a:latin typeface="Helvetica Neue"/>
              </a:rPr>
              <a:t>Greater efficiency</a:t>
            </a:r>
            <a:r>
              <a:rPr lang="en-US" dirty="0">
                <a:solidFill>
                  <a:srgbClr val="000000"/>
                </a:solidFill>
                <a:latin typeface="Helvetica Neue"/>
              </a:rPr>
              <a:t/>
            </a:r>
            <a:br>
              <a:rPr lang="en-US" dirty="0">
                <a:solidFill>
                  <a:srgbClr val="000000"/>
                </a:solidFill>
                <a:latin typeface="Helvetica Neue"/>
              </a:rPr>
            </a:br>
            <a:r>
              <a:rPr lang="en-US" dirty="0">
                <a:solidFill>
                  <a:srgbClr val="000000"/>
                </a:solidFill>
                <a:latin typeface="Helvetica Neue"/>
              </a:rPr>
              <a:t>Containers allow applications to be more rapidly deployed, patched, or scaled.</a:t>
            </a:r>
            <a:br>
              <a:rPr lang="en-US" dirty="0">
                <a:solidFill>
                  <a:srgbClr val="000000"/>
                </a:solidFill>
                <a:latin typeface="Helvetica Neue"/>
              </a:rPr>
            </a:br>
            <a:endParaRPr lang="en-US" dirty="0">
              <a:solidFill>
                <a:srgbClr val="000000"/>
              </a:solidFill>
              <a:latin typeface="Helvetica Neue"/>
            </a:endParaRPr>
          </a:p>
          <a:p>
            <a:pPr fontAlgn="base"/>
            <a:r>
              <a:rPr lang="en-US" b="1" dirty="0">
                <a:solidFill>
                  <a:srgbClr val="000000"/>
                </a:solidFill>
                <a:latin typeface="Helvetica Neue"/>
              </a:rPr>
              <a:t>Better application development</a:t>
            </a:r>
            <a:r>
              <a:rPr lang="en-US" dirty="0">
                <a:solidFill>
                  <a:srgbClr val="000000"/>
                </a:solidFill>
                <a:latin typeface="Helvetica Neue"/>
              </a:rPr>
              <a:t/>
            </a:r>
            <a:br>
              <a:rPr lang="en-US" dirty="0">
                <a:solidFill>
                  <a:srgbClr val="000000"/>
                </a:solidFill>
                <a:latin typeface="Helvetica Neue"/>
              </a:rPr>
            </a:br>
            <a:r>
              <a:rPr lang="en-US" dirty="0">
                <a:solidFill>
                  <a:srgbClr val="000000"/>
                </a:solidFill>
                <a:latin typeface="Helvetica Neue"/>
              </a:rPr>
              <a:t>Containers support agile and DevOps efforts to accelerate development, test, and production cycles.</a:t>
            </a:r>
          </a:p>
          <a:p>
            <a:endParaRPr lang="en-IN" dirty="0"/>
          </a:p>
        </p:txBody>
      </p:sp>
    </p:spTree>
    <p:extLst>
      <p:ext uri="{BB962C8B-B14F-4D97-AF65-F5344CB8AC3E}">
        <p14:creationId xmlns:p14="http://schemas.microsoft.com/office/powerpoint/2010/main" val="3163843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containers</a:t>
            </a:r>
            <a:endParaRPr lang="en-IN" dirty="0"/>
          </a:p>
        </p:txBody>
      </p:sp>
      <p:sp>
        <p:nvSpPr>
          <p:cNvPr id="3" name="Content Placeholder 2"/>
          <p:cNvSpPr>
            <a:spLocks noGrp="1"/>
          </p:cNvSpPr>
          <p:nvPr>
            <p:ph idx="1"/>
          </p:nvPr>
        </p:nvSpPr>
        <p:spPr/>
        <p:txBody>
          <a:bodyPr>
            <a:normAutofit lnSpcReduction="10000"/>
          </a:bodyPr>
          <a:lstStyle/>
          <a:p>
            <a:r>
              <a:rPr lang="en-US" dirty="0" smtClean="0"/>
              <a:t>1--Agile </a:t>
            </a:r>
            <a:r>
              <a:rPr lang="en-US" dirty="0"/>
              <a:t>development</a:t>
            </a:r>
          </a:p>
          <a:p>
            <a:r>
              <a:rPr lang="en-US" dirty="0"/>
              <a:t>Containers allow your developers to move much more quickly by avoiding concerns about dependencies and environments</a:t>
            </a:r>
            <a:r>
              <a:rPr lang="en-US" dirty="0" smtClean="0"/>
              <a:t>.</a:t>
            </a:r>
          </a:p>
          <a:p>
            <a:r>
              <a:rPr lang="en-US" dirty="0" smtClean="0">
                <a:solidFill>
                  <a:srgbClr val="202124"/>
                </a:solidFill>
                <a:latin typeface="Google Sans"/>
              </a:rPr>
              <a:t>2--Efficient </a:t>
            </a:r>
            <a:r>
              <a:rPr lang="en-US" dirty="0">
                <a:solidFill>
                  <a:srgbClr val="202124"/>
                </a:solidFill>
                <a:latin typeface="Google Sans"/>
              </a:rPr>
              <a:t>operations</a:t>
            </a:r>
          </a:p>
          <a:p>
            <a:r>
              <a:rPr lang="en-US" dirty="0">
                <a:solidFill>
                  <a:srgbClr val="5F6368"/>
                </a:solidFill>
                <a:latin typeface="Google Sans Text"/>
              </a:rPr>
              <a:t>Containers are lightweight and allow you to use just the computing resources you need. This lets you run your applications efficiently</a:t>
            </a:r>
            <a:r>
              <a:rPr lang="en-US" dirty="0" smtClean="0">
                <a:solidFill>
                  <a:srgbClr val="5F6368"/>
                </a:solidFill>
                <a:latin typeface="Google Sans Text"/>
              </a:rPr>
              <a:t>.</a:t>
            </a:r>
          </a:p>
          <a:p>
            <a:r>
              <a:rPr lang="en-US" dirty="0">
                <a:solidFill>
                  <a:srgbClr val="202124"/>
                </a:solidFill>
                <a:latin typeface="Google Sans"/>
              </a:rPr>
              <a:t>Run anywhere</a:t>
            </a:r>
          </a:p>
          <a:p>
            <a:r>
              <a:rPr lang="en-US" dirty="0">
                <a:solidFill>
                  <a:srgbClr val="5F6368"/>
                </a:solidFill>
                <a:latin typeface="Google Sans Text"/>
              </a:rPr>
              <a:t>Containers are able to run virtually anywhere. Wherever you want to run your software, you can use containers.</a:t>
            </a:r>
          </a:p>
          <a:p>
            <a:pPr marL="0" indent="0">
              <a:buNone/>
            </a:pPr>
            <a:endParaRPr lang="en-US" dirty="0">
              <a:solidFill>
                <a:srgbClr val="5F6368"/>
              </a:solidFill>
              <a:latin typeface="Google Sans Text"/>
            </a:endParaRPr>
          </a:p>
          <a:p>
            <a:pPr marL="0" indent="0">
              <a:buNone/>
            </a:pPr>
            <a:endParaRPr lang="en-US" dirty="0"/>
          </a:p>
          <a:p>
            <a:endParaRPr lang="en-IN" dirty="0"/>
          </a:p>
        </p:txBody>
      </p:sp>
    </p:spTree>
    <p:extLst>
      <p:ext uri="{BB962C8B-B14F-4D97-AF65-F5344CB8AC3E}">
        <p14:creationId xmlns:p14="http://schemas.microsoft.com/office/powerpoint/2010/main" val="2633998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containers</a:t>
            </a:r>
            <a:endParaRPr lang="en-IN" dirty="0"/>
          </a:p>
        </p:txBody>
      </p:sp>
      <p:sp>
        <p:nvSpPr>
          <p:cNvPr id="3" name="Content Placeholder 2"/>
          <p:cNvSpPr>
            <a:spLocks noGrp="1"/>
          </p:cNvSpPr>
          <p:nvPr>
            <p:ph idx="1"/>
          </p:nvPr>
        </p:nvSpPr>
        <p:spPr/>
        <p:txBody>
          <a:bodyPr>
            <a:normAutofit fontScale="92500"/>
          </a:bodyPr>
          <a:lstStyle/>
          <a:p>
            <a:pPr algn="just" fontAlgn="t"/>
            <a:r>
              <a:rPr lang="en-US" dirty="0">
                <a:solidFill>
                  <a:srgbClr val="2A2A2A"/>
                </a:solidFill>
                <a:latin typeface="roboto"/>
              </a:rPr>
              <a:t>1</a:t>
            </a:r>
            <a:r>
              <a:rPr lang="en-US" sz="2300" dirty="0">
                <a:solidFill>
                  <a:srgbClr val="2A2A2A"/>
                </a:solidFill>
                <a:latin typeface="roboto"/>
              </a:rPr>
              <a:t>. Security: Containers share the same host kernel, which can pose a security risk. If a container is compromised, it can potentially affect other containers on the same host. </a:t>
            </a:r>
            <a:endParaRPr lang="en-US" sz="2300" dirty="0" smtClean="0">
              <a:solidFill>
                <a:srgbClr val="2A2A2A"/>
              </a:solidFill>
              <a:latin typeface="roboto"/>
            </a:endParaRPr>
          </a:p>
          <a:p>
            <a:pPr algn="just" fontAlgn="t"/>
            <a:r>
              <a:rPr lang="en-US" sz="2300" dirty="0" smtClean="0">
                <a:solidFill>
                  <a:srgbClr val="2A2A2A"/>
                </a:solidFill>
                <a:latin typeface="roboto"/>
              </a:rPr>
              <a:t>2</a:t>
            </a:r>
            <a:r>
              <a:rPr lang="en-US" sz="2300" dirty="0">
                <a:solidFill>
                  <a:srgbClr val="2A2A2A"/>
                </a:solidFill>
                <a:latin typeface="roboto"/>
              </a:rPr>
              <a:t>. Complexity: Containers can be complex to set up and manage, especially in large-scale environments. </a:t>
            </a:r>
            <a:r>
              <a:rPr lang="en-US" sz="2300" dirty="0">
                <a:solidFill>
                  <a:srgbClr val="5BAEF5"/>
                </a:solidFill>
                <a:latin typeface="roboto"/>
                <a:hlinkClick r:id="rId2"/>
              </a:rPr>
              <a:t>Container orchestration</a:t>
            </a:r>
            <a:r>
              <a:rPr lang="en-US" sz="2300" dirty="0">
                <a:solidFill>
                  <a:srgbClr val="2A2A2A"/>
                </a:solidFill>
                <a:latin typeface="roboto"/>
              </a:rPr>
              <a:t> tools, such as Kubernetes, can help to simplify the process, but they can also add complexity.</a:t>
            </a:r>
          </a:p>
          <a:p>
            <a:pPr algn="just" fontAlgn="t"/>
            <a:r>
              <a:rPr lang="en-US" sz="2300" dirty="0">
                <a:solidFill>
                  <a:srgbClr val="2A2A2A"/>
                </a:solidFill>
                <a:latin typeface="roboto"/>
              </a:rPr>
              <a:t>3. Storage: Containers are designed to be stateless, meaning they don’t store data or state. This can make managing persistent data, such as databases, a complex within a container environment</a:t>
            </a:r>
            <a:r>
              <a:rPr lang="en-US" sz="2300" dirty="0" smtClean="0">
                <a:solidFill>
                  <a:srgbClr val="2A2A2A"/>
                </a:solidFill>
                <a:latin typeface="roboto"/>
              </a:rPr>
              <a:t>.</a:t>
            </a:r>
            <a:endParaRPr lang="en-US" sz="2300" dirty="0">
              <a:solidFill>
                <a:srgbClr val="2A2A2A"/>
              </a:solidFill>
              <a:latin typeface="roboto"/>
            </a:endParaRPr>
          </a:p>
          <a:p>
            <a:pPr algn="just" fontAlgn="t"/>
            <a:r>
              <a:rPr lang="en-US" sz="2300" dirty="0">
                <a:solidFill>
                  <a:srgbClr val="2A2A2A"/>
                </a:solidFill>
                <a:latin typeface="roboto"/>
              </a:rPr>
              <a:t>4. Networking: Containers can be challenging to network, especially across multiple hosts or environments. Container networking can be complex, and it requires careful planning and management to ensure that containers can communicate with each other and with external services.</a:t>
            </a:r>
          </a:p>
          <a:p>
            <a:endParaRPr lang="en-IN" sz="2300" dirty="0"/>
          </a:p>
        </p:txBody>
      </p:sp>
    </p:spTree>
    <p:extLst>
      <p:ext uri="{BB962C8B-B14F-4D97-AF65-F5344CB8AC3E}">
        <p14:creationId xmlns:p14="http://schemas.microsoft.com/office/powerpoint/2010/main" val="1842094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C31E5-598C-88E0-0F23-01E83C54F234}"/>
              </a:ext>
            </a:extLst>
          </p:cNvPr>
          <p:cNvSpPr>
            <a:spLocks noGrp="1"/>
          </p:cNvSpPr>
          <p:nvPr>
            <p:ph type="title"/>
          </p:nvPr>
        </p:nvSpPr>
        <p:spPr/>
        <p:txBody>
          <a:bodyPr/>
          <a:lstStyle/>
          <a:p>
            <a:r>
              <a:rPr lang="en-IN" dirty="0"/>
              <a:t>What is a </a:t>
            </a:r>
            <a:r>
              <a:rPr lang="en-IN" dirty="0" err="1"/>
              <a:t>dockerfile</a:t>
            </a:r>
            <a:r>
              <a:rPr lang="en-IN" dirty="0"/>
              <a:t>?</a:t>
            </a:r>
          </a:p>
        </p:txBody>
      </p:sp>
      <p:sp>
        <p:nvSpPr>
          <p:cNvPr id="3" name="Content Placeholder 2">
            <a:extLst>
              <a:ext uri="{FF2B5EF4-FFF2-40B4-BE49-F238E27FC236}">
                <a16:creationId xmlns:a16="http://schemas.microsoft.com/office/drawing/2014/main" id="{77ED58A0-7285-6B17-DE01-ED0F25BD0E1C}"/>
              </a:ext>
            </a:extLst>
          </p:cNvPr>
          <p:cNvSpPr>
            <a:spLocks noGrp="1"/>
          </p:cNvSpPr>
          <p:nvPr>
            <p:ph idx="1"/>
          </p:nvPr>
        </p:nvSpPr>
        <p:spPr/>
        <p:txBody>
          <a:bodyPr/>
          <a:lstStyle/>
          <a:p>
            <a:pPr algn="l"/>
            <a:r>
              <a:rPr lang="en-US" b="0" i="0" dirty="0">
                <a:solidFill>
                  <a:srgbClr val="000000"/>
                </a:solidFill>
                <a:effectLst/>
                <a:latin typeface="Roboto" panose="02000000000000000000" pitchFamily="2" charset="0"/>
              </a:rPr>
              <a:t>Docker builds images automatically by reading the instructions from a </a:t>
            </a:r>
            <a:r>
              <a:rPr lang="en-US" b="0" i="0" dirty="0" err="1">
                <a:solidFill>
                  <a:srgbClr val="000000"/>
                </a:solidFill>
                <a:effectLst/>
                <a:latin typeface="Roboto" panose="02000000000000000000" pitchFamily="2" charset="0"/>
              </a:rPr>
              <a:t>Dockerfile</a:t>
            </a:r>
            <a:r>
              <a:rPr lang="en-US" b="0" i="0" dirty="0">
                <a:solidFill>
                  <a:srgbClr val="000000"/>
                </a:solidFill>
                <a:effectLst/>
                <a:latin typeface="Roboto" panose="02000000000000000000" pitchFamily="2" charset="0"/>
              </a:rPr>
              <a:t> which is a text file that contains all commands, in order, needed to build a given image. A </a:t>
            </a:r>
            <a:r>
              <a:rPr lang="en-US" b="0" i="0" dirty="0" err="1">
                <a:solidFill>
                  <a:srgbClr val="000000"/>
                </a:solidFill>
                <a:effectLst/>
                <a:latin typeface="Roboto" panose="02000000000000000000" pitchFamily="2" charset="0"/>
              </a:rPr>
              <a:t>Dockerfile</a:t>
            </a:r>
            <a:r>
              <a:rPr lang="en-US" b="0" i="0" dirty="0">
                <a:solidFill>
                  <a:srgbClr val="000000"/>
                </a:solidFill>
                <a:effectLst/>
                <a:latin typeface="Roboto" panose="02000000000000000000" pitchFamily="2" charset="0"/>
              </a:rPr>
              <a:t> adheres to a specific format and set of instructions which you can find at </a:t>
            </a:r>
            <a:r>
              <a:rPr lang="en-US" b="0" i="0" u="sng" dirty="0" err="1">
                <a:solidFill>
                  <a:srgbClr val="000000"/>
                </a:solidFill>
                <a:effectLst/>
                <a:latin typeface="Roboto" panose="02000000000000000000" pitchFamily="2" charset="0"/>
                <a:hlinkClick r:id="rId2"/>
              </a:rPr>
              <a:t>Dockerfile</a:t>
            </a:r>
            <a:r>
              <a:rPr lang="en-US" b="0" i="0" u="sng" dirty="0">
                <a:solidFill>
                  <a:srgbClr val="000000"/>
                </a:solidFill>
                <a:effectLst/>
                <a:latin typeface="Roboto" panose="02000000000000000000" pitchFamily="2" charset="0"/>
                <a:hlinkClick r:id="rId2"/>
              </a:rPr>
              <a:t> reference</a:t>
            </a:r>
            <a:r>
              <a:rPr lang="en-US" b="0" i="0" dirty="0">
                <a:solidFill>
                  <a:srgbClr val="000000"/>
                </a:solidFill>
                <a:effectLst/>
                <a:latin typeface="Roboto" panose="02000000000000000000" pitchFamily="2" charset="0"/>
              </a:rPr>
              <a:t>.</a:t>
            </a:r>
          </a:p>
          <a:p>
            <a:pPr algn="l"/>
            <a:r>
              <a:rPr lang="en-US" b="0" i="0" dirty="0">
                <a:solidFill>
                  <a:srgbClr val="000000"/>
                </a:solidFill>
                <a:effectLst/>
                <a:latin typeface="Roboto" panose="02000000000000000000" pitchFamily="2" charset="0"/>
              </a:rPr>
              <a:t>A Docker image consists of read-only layers each of which represents a </a:t>
            </a:r>
            <a:r>
              <a:rPr lang="en-US" b="0" i="0" dirty="0" err="1">
                <a:solidFill>
                  <a:srgbClr val="000000"/>
                </a:solidFill>
                <a:effectLst/>
                <a:latin typeface="Roboto" panose="02000000000000000000" pitchFamily="2" charset="0"/>
              </a:rPr>
              <a:t>Dockerfile</a:t>
            </a:r>
            <a:r>
              <a:rPr lang="en-US" b="0" i="0" dirty="0">
                <a:solidFill>
                  <a:srgbClr val="000000"/>
                </a:solidFill>
                <a:effectLst/>
                <a:latin typeface="Roboto" panose="02000000000000000000" pitchFamily="2" charset="0"/>
              </a:rPr>
              <a:t> instruction. The layers are stacked and each one is a delta of the changes from the previous </a:t>
            </a:r>
            <a:r>
              <a:rPr lang="en-US" b="0" i="0" dirty="0" err="1">
                <a:solidFill>
                  <a:srgbClr val="000000"/>
                </a:solidFill>
                <a:effectLst/>
                <a:latin typeface="Roboto" panose="02000000000000000000" pitchFamily="2" charset="0"/>
              </a:rPr>
              <a:t>laye</a:t>
            </a:r>
            <a:endParaRPr lang="en-US" b="0" i="0" dirty="0">
              <a:solidFill>
                <a:srgbClr val="000000"/>
              </a:solidFill>
              <a:effectLst/>
              <a:latin typeface="Roboto" panose="02000000000000000000" pitchFamily="2" charset="0"/>
            </a:endParaRPr>
          </a:p>
          <a:p>
            <a:endParaRPr lang="en-IN" dirty="0"/>
          </a:p>
        </p:txBody>
      </p:sp>
    </p:spTree>
    <p:extLst>
      <p:ext uri="{BB962C8B-B14F-4D97-AF65-F5344CB8AC3E}">
        <p14:creationId xmlns:p14="http://schemas.microsoft.com/office/powerpoint/2010/main" val="2171120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29C4E-00E0-0E5A-96C9-A6EB316CA060}"/>
              </a:ext>
            </a:extLst>
          </p:cNvPr>
          <p:cNvSpPr>
            <a:spLocks noGrp="1"/>
          </p:cNvSpPr>
          <p:nvPr>
            <p:ph type="title"/>
          </p:nvPr>
        </p:nvSpPr>
        <p:spPr/>
        <p:txBody>
          <a:bodyPr/>
          <a:lstStyle/>
          <a:p>
            <a:r>
              <a:rPr lang="en-IN" dirty="0"/>
              <a:t>Contents of file</a:t>
            </a:r>
          </a:p>
        </p:txBody>
      </p:sp>
      <p:sp>
        <p:nvSpPr>
          <p:cNvPr id="4" name="Rectangle 1">
            <a:extLst>
              <a:ext uri="{FF2B5EF4-FFF2-40B4-BE49-F238E27FC236}">
                <a16:creationId xmlns:a16="http://schemas.microsoft.com/office/drawing/2014/main" id="{378B3EB9-4A5D-36C1-7B8E-B702C60DDAD7}"/>
              </a:ext>
            </a:extLst>
          </p:cNvPr>
          <p:cNvSpPr>
            <a:spLocks noGrp="1" noChangeArrowheads="1"/>
          </p:cNvSpPr>
          <p:nvPr>
            <p:ph idx="1"/>
          </p:nvPr>
        </p:nvSpPr>
        <p:spPr bwMode="auto">
          <a:prstGeom prst="rect">
            <a:avLst/>
          </a:prstGeom>
          <a:solidFill>
            <a:srgbClr val="E1E2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Roboto" panose="02000000000000000000" pitchFamily="2" charset="0"/>
              </a:rPr>
              <a:t>In the example above, each instruction creates one layer:</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Roboto Mono" panose="00000009000000000000" pitchFamily="49" charset="0"/>
              </a:rPr>
              <a:t>FROM</a:t>
            </a:r>
            <a:r>
              <a:rPr kumimoji="0" lang="en-US" altLang="en-US" sz="1200" b="0" i="0" u="none" strike="noStrike" cap="none" normalizeH="0" baseline="0" dirty="0">
                <a:ln>
                  <a:noFill/>
                </a:ln>
                <a:solidFill>
                  <a:srgbClr val="000000"/>
                </a:solidFill>
                <a:effectLst/>
                <a:latin typeface="Roboto" panose="02000000000000000000" pitchFamily="2" charset="0"/>
              </a:rPr>
              <a:t> creates a layer from the </a:t>
            </a:r>
            <a:r>
              <a:rPr kumimoji="0" lang="en-US" altLang="en-US" b="0" i="0" u="none" strike="noStrike" cap="none" normalizeH="0" baseline="0" dirty="0">
                <a:ln>
                  <a:noFill/>
                </a:ln>
                <a:solidFill>
                  <a:srgbClr val="000000"/>
                </a:solidFill>
                <a:effectLst/>
                <a:latin typeface="Roboto Mono" panose="00000009000000000000" pitchFamily="49" charset="0"/>
              </a:rPr>
              <a:t>ubuntu:22.04</a:t>
            </a:r>
            <a:r>
              <a:rPr kumimoji="0" lang="en-US" altLang="en-US" sz="1200" b="0" i="0" u="none" strike="noStrike" cap="none" normalizeH="0" baseline="0" dirty="0">
                <a:ln>
                  <a:noFill/>
                </a:ln>
                <a:solidFill>
                  <a:srgbClr val="000000"/>
                </a:solidFill>
                <a:effectLst/>
                <a:latin typeface="Roboto" panose="02000000000000000000" pitchFamily="2" charset="0"/>
              </a:rPr>
              <a:t> Docker image.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Roboto Mono" panose="00000009000000000000" pitchFamily="49" charset="0"/>
              </a:rPr>
              <a:t>COPY</a:t>
            </a:r>
            <a:r>
              <a:rPr kumimoji="0" lang="en-US" altLang="en-US" sz="1200" b="0" i="0" u="none" strike="noStrike" cap="none" normalizeH="0" baseline="0" dirty="0">
                <a:ln>
                  <a:noFill/>
                </a:ln>
                <a:solidFill>
                  <a:srgbClr val="000000"/>
                </a:solidFill>
                <a:effectLst/>
                <a:latin typeface="Roboto" panose="02000000000000000000" pitchFamily="2" charset="0"/>
              </a:rPr>
              <a:t> adds files from your Docker client's current directory.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Roboto Mono" panose="00000009000000000000" pitchFamily="49" charset="0"/>
              </a:rPr>
              <a:t>RUN</a:t>
            </a:r>
            <a:r>
              <a:rPr kumimoji="0" lang="en-US" altLang="en-US" sz="1200" b="0" i="0" u="none" strike="noStrike" cap="none" normalizeH="0" baseline="0" dirty="0">
                <a:ln>
                  <a:noFill/>
                </a:ln>
                <a:solidFill>
                  <a:srgbClr val="000000"/>
                </a:solidFill>
                <a:effectLst/>
                <a:latin typeface="Roboto" panose="02000000000000000000" pitchFamily="2" charset="0"/>
              </a:rPr>
              <a:t> builds your application with </a:t>
            </a:r>
            <a:r>
              <a:rPr kumimoji="0" lang="en-US" altLang="en-US" b="0" i="0" u="none" strike="noStrike" cap="none" normalizeH="0" baseline="0" dirty="0">
                <a:ln>
                  <a:noFill/>
                </a:ln>
                <a:solidFill>
                  <a:srgbClr val="000000"/>
                </a:solidFill>
                <a:effectLst/>
                <a:latin typeface="Roboto Mono" panose="00000009000000000000" pitchFamily="49" charset="0"/>
              </a:rPr>
              <a:t>make</a:t>
            </a:r>
            <a:r>
              <a:rPr kumimoji="0" lang="en-US" altLang="en-US" sz="1200" b="0" i="0" u="none" strike="noStrike" cap="none" normalizeH="0" baseline="0" dirty="0">
                <a:ln>
                  <a:noFill/>
                </a:ln>
                <a:solidFill>
                  <a:srgbClr val="000000"/>
                </a:solidFill>
                <a:effectLst/>
                <a:latin typeface="Roboto" panose="020000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Roboto Mono" panose="00000009000000000000" pitchFamily="49" charset="0"/>
              </a:rPr>
              <a:t>CMD</a:t>
            </a:r>
            <a:r>
              <a:rPr kumimoji="0" lang="en-US" altLang="en-US" sz="1200" b="0" i="0" u="none" strike="noStrike" cap="none" normalizeH="0" baseline="0" dirty="0">
                <a:ln>
                  <a:noFill/>
                </a:ln>
                <a:solidFill>
                  <a:srgbClr val="000000"/>
                </a:solidFill>
                <a:effectLst/>
                <a:latin typeface="Roboto" panose="02000000000000000000" pitchFamily="2" charset="0"/>
              </a:rPr>
              <a:t> specifies what command to run within the container.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8677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a:t>
            </a:r>
            <a:r>
              <a:rPr lang="en-US" dirty="0" err="1" smtClean="0"/>
              <a:t>docker</a:t>
            </a:r>
            <a:r>
              <a:rPr lang="en-US" dirty="0" smtClean="0"/>
              <a:t> ?</a:t>
            </a:r>
            <a:endParaRPr lang="en-IN" dirty="0"/>
          </a:p>
        </p:txBody>
      </p:sp>
      <p:sp>
        <p:nvSpPr>
          <p:cNvPr id="3" name="Content Placeholder 2"/>
          <p:cNvSpPr>
            <a:spLocks noGrp="1"/>
          </p:cNvSpPr>
          <p:nvPr>
            <p:ph idx="1"/>
          </p:nvPr>
        </p:nvSpPr>
        <p:spPr/>
        <p:txBody>
          <a:bodyPr/>
          <a:lstStyle/>
          <a:p>
            <a:r>
              <a:rPr lang="en-US" dirty="0" smtClean="0">
                <a:solidFill>
                  <a:srgbClr val="333333"/>
                </a:solidFill>
                <a:latin typeface="AmazonEmber"/>
              </a:rPr>
              <a:t>Docker </a:t>
            </a:r>
            <a:r>
              <a:rPr lang="en-US" dirty="0">
                <a:solidFill>
                  <a:srgbClr val="333333"/>
                </a:solidFill>
                <a:latin typeface="AmazonEmber"/>
              </a:rPr>
              <a:t>works by providing a standard way to run your code. Docker is an operating system for containers. Similar to how a </a:t>
            </a:r>
            <a:r>
              <a:rPr lang="en-US" u="sng" dirty="0">
                <a:solidFill>
                  <a:srgbClr val="033160"/>
                </a:solidFill>
                <a:latin typeface="AmazonEmber"/>
                <a:hlinkClick r:id="rId2"/>
              </a:rPr>
              <a:t>virtual machine</a:t>
            </a:r>
            <a:r>
              <a:rPr lang="en-US" dirty="0">
                <a:solidFill>
                  <a:srgbClr val="333333"/>
                </a:solidFill>
                <a:latin typeface="AmazonEmber"/>
              </a:rPr>
              <a:t> virtualizes (removes the need to directly manage) server hardware, containers virtualize the operating system of a server. Docker is installed on each server and provides simple commands you can use to build, start, or stop containers.</a:t>
            </a:r>
            <a:endParaRPr lang="en-IN" dirty="0"/>
          </a:p>
        </p:txBody>
      </p:sp>
    </p:spTree>
    <p:extLst>
      <p:ext uri="{BB962C8B-B14F-4D97-AF65-F5344CB8AC3E}">
        <p14:creationId xmlns:p14="http://schemas.microsoft.com/office/powerpoint/2010/main" val="166631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solidFill>
                  <a:srgbClr val="707070"/>
                </a:solidFill>
                <a:latin typeface="HelveticaNowDisplay"/>
              </a:rPr>
              <a:t>Components of Docker Software</a:t>
            </a:r>
            <a:endParaRPr lang="en-US" dirty="0">
              <a:solidFill>
                <a:srgbClr val="707070"/>
              </a:solidFill>
              <a:latin typeface="HelveticaNowDisplay"/>
            </a:endParaRPr>
          </a:p>
          <a:p>
            <a:pPr>
              <a:buFont typeface="+mj-lt"/>
              <a:buAutoNum type="arabicPeriod"/>
            </a:pPr>
            <a:r>
              <a:rPr lang="en-US" b="1" dirty="0">
                <a:solidFill>
                  <a:srgbClr val="707070"/>
                </a:solidFill>
                <a:latin typeface="HelveticaNowDisplay"/>
              </a:rPr>
              <a:t>Software</a:t>
            </a:r>
            <a:endParaRPr lang="en-US" dirty="0">
              <a:solidFill>
                <a:srgbClr val="707070"/>
              </a:solidFill>
              <a:latin typeface="HelveticaNowDisplay"/>
            </a:endParaRPr>
          </a:p>
          <a:p>
            <a:pPr>
              <a:buFont typeface="+mj-lt"/>
              <a:buAutoNum type="arabicPeriod"/>
            </a:pPr>
            <a:r>
              <a:rPr lang="en-US" b="1" dirty="0">
                <a:solidFill>
                  <a:srgbClr val="707070"/>
                </a:solidFill>
                <a:latin typeface="HelveticaNowDisplay"/>
              </a:rPr>
              <a:t>Objects</a:t>
            </a:r>
            <a:endParaRPr lang="en-US" dirty="0">
              <a:solidFill>
                <a:srgbClr val="707070"/>
              </a:solidFill>
              <a:latin typeface="HelveticaNowDisplay"/>
            </a:endParaRPr>
          </a:p>
          <a:p>
            <a:pPr>
              <a:buFont typeface="+mj-lt"/>
              <a:buAutoNum type="arabicPeriod"/>
            </a:pPr>
            <a:r>
              <a:rPr lang="en-US" b="1" dirty="0">
                <a:solidFill>
                  <a:srgbClr val="707070"/>
                </a:solidFill>
                <a:latin typeface="HelveticaNowDisplay"/>
              </a:rPr>
              <a:t>Registry</a:t>
            </a:r>
            <a:endParaRPr lang="en-US" dirty="0">
              <a:solidFill>
                <a:srgbClr val="707070"/>
              </a:solidFill>
              <a:latin typeface="HelveticaNowDisplay"/>
            </a:endParaRPr>
          </a:p>
          <a:p>
            <a:endParaRPr lang="en-IN" dirty="0"/>
          </a:p>
        </p:txBody>
      </p:sp>
    </p:spTree>
    <p:extLst>
      <p:ext uri="{BB962C8B-B14F-4D97-AF65-F5344CB8AC3E}">
        <p14:creationId xmlns:p14="http://schemas.microsoft.com/office/powerpoint/2010/main" val="2767941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a:t>
            </a:r>
            <a:r>
              <a:rPr lang="en-US" dirty="0" err="1" smtClean="0"/>
              <a:t>docker</a:t>
            </a:r>
            <a:r>
              <a:rPr lang="en-US" dirty="0" smtClean="0"/>
              <a:t> </a:t>
            </a:r>
            <a:endParaRPr lang="en-IN" dirty="0"/>
          </a:p>
        </p:txBody>
      </p:sp>
      <p:sp>
        <p:nvSpPr>
          <p:cNvPr id="3" name="Content Placeholder 2"/>
          <p:cNvSpPr>
            <a:spLocks noGrp="1"/>
          </p:cNvSpPr>
          <p:nvPr>
            <p:ph idx="1"/>
          </p:nvPr>
        </p:nvSpPr>
        <p:spPr/>
        <p:txBody>
          <a:bodyPr>
            <a:normAutofit fontScale="70000" lnSpcReduction="20000"/>
          </a:bodyPr>
          <a:lstStyle/>
          <a:p>
            <a:pPr>
              <a:buFont typeface="+mj-lt"/>
              <a:buAutoNum type="arabicPeriod"/>
            </a:pPr>
            <a:r>
              <a:rPr lang="en-US" b="1" dirty="0">
                <a:solidFill>
                  <a:srgbClr val="707070"/>
                </a:solidFill>
                <a:latin typeface="HelveticaNowDisplay"/>
              </a:rPr>
              <a:t>Tailor-made:</a:t>
            </a:r>
            <a:r>
              <a:rPr lang="en-US" dirty="0">
                <a:solidFill>
                  <a:srgbClr val="707070"/>
                </a:solidFill>
                <a:latin typeface="HelveticaNowDisplay"/>
              </a:rPr>
              <a:t> Most industries want to use a purpose-built. The Docker in cloud computing enables its clients to make use of Docker to organize their software infrastructure. </a:t>
            </a:r>
          </a:p>
          <a:p>
            <a:pPr>
              <a:buFont typeface="+mj-lt"/>
              <a:buAutoNum type="arabicPeriod"/>
            </a:pPr>
            <a:r>
              <a:rPr lang="en-US" b="1" dirty="0">
                <a:solidFill>
                  <a:srgbClr val="707070"/>
                </a:solidFill>
                <a:latin typeface="HelveticaNowDisplay"/>
              </a:rPr>
              <a:t>Accessibility:</a:t>
            </a:r>
            <a:r>
              <a:rPr lang="en-US" dirty="0">
                <a:solidFill>
                  <a:srgbClr val="707070"/>
                </a:solidFill>
                <a:latin typeface="HelveticaNowDisplay"/>
              </a:rPr>
              <a:t> As the </a:t>
            </a:r>
            <a:r>
              <a:rPr lang="en-US" dirty="0" err="1">
                <a:solidFill>
                  <a:srgbClr val="707070"/>
                </a:solidFill>
                <a:latin typeface="HelveticaNowDisplay"/>
              </a:rPr>
              <a:t>docker</a:t>
            </a:r>
            <a:r>
              <a:rPr lang="en-US" dirty="0">
                <a:solidFill>
                  <a:srgbClr val="707070"/>
                </a:solidFill>
                <a:latin typeface="HelveticaNowDisplay"/>
              </a:rPr>
              <a:t> is a cloud framework, it is accessible from anywhere, anytime. Has high efficiency.</a:t>
            </a:r>
          </a:p>
          <a:p>
            <a:pPr>
              <a:buFont typeface="+mj-lt"/>
              <a:buAutoNum type="arabicPeriod"/>
            </a:pPr>
            <a:r>
              <a:rPr lang="en-US" b="1" dirty="0">
                <a:solidFill>
                  <a:srgbClr val="707070"/>
                </a:solidFill>
                <a:latin typeface="HelveticaNowDisplay"/>
              </a:rPr>
              <a:t>Operating System Support:</a:t>
            </a:r>
            <a:r>
              <a:rPr lang="en-US" dirty="0">
                <a:solidFill>
                  <a:srgbClr val="707070"/>
                </a:solidFill>
                <a:latin typeface="HelveticaNowDisplay"/>
              </a:rPr>
              <a:t> It takes less space. They are lightweight and can operate several containers simultaneously.</a:t>
            </a:r>
          </a:p>
          <a:p>
            <a:pPr>
              <a:buFont typeface="+mj-lt"/>
              <a:buAutoNum type="arabicPeriod"/>
            </a:pPr>
            <a:r>
              <a:rPr lang="en-US" b="1" dirty="0">
                <a:solidFill>
                  <a:srgbClr val="707070"/>
                </a:solidFill>
                <a:latin typeface="HelveticaNowDisplay"/>
              </a:rPr>
              <a:t>Performance:</a:t>
            </a:r>
            <a:r>
              <a:rPr lang="en-US" dirty="0">
                <a:solidFill>
                  <a:srgbClr val="707070"/>
                </a:solidFill>
                <a:latin typeface="HelveticaNowDisplay"/>
              </a:rPr>
              <a:t> Containers have better performance as they are hosted in a single </a:t>
            </a:r>
            <a:r>
              <a:rPr lang="en-US" dirty="0" err="1">
                <a:solidFill>
                  <a:srgbClr val="707070"/>
                </a:solidFill>
                <a:latin typeface="HelveticaNowDisplay"/>
              </a:rPr>
              <a:t>docker</a:t>
            </a:r>
            <a:r>
              <a:rPr lang="en-US" dirty="0">
                <a:solidFill>
                  <a:srgbClr val="707070"/>
                </a:solidFill>
                <a:latin typeface="HelveticaNowDisplay"/>
              </a:rPr>
              <a:t> engine.</a:t>
            </a:r>
          </a:p>
          <a:p>
            <a:pPr>
              <a:buFont typeface="+mj-lt"/>
              <a:buAutoNum type="arabicPeriod"/>
            </a:pPr>
            <a:r>
              <a:rPr lang="en-US" b="1" dirty="0">
                <a:solidFill>
                  <a:srgbClr val="707070"/>
                </a:solidFill>
                <a:latin typeface="HelveticaNowDisplay"/>
              </a:rPr>
              <a:t>Speed:</a:t>
            </a:r>
            <a:r>
              <a:rPr lang="en-US" dirty="0">
                <a:solidFill>
                  <a:srgbClr val="707070"/>
                </a:solidFill>
                <a:latin typeface="HelveticaNowDisplay"/>
              </a:rPr>
              <a:t> No requirement for OS to boot. Applications are made online in seconds. As the business environment is constantly changing, technological up-gradation needs to keep pace for smoother workplace transitions. Docker helps organizations with the speedy delivery of service.</a:t>
            </a:r>
          </a:p>
          <a:p>
            <a:pPr>
              <a:buFont typeface="+mj-lt"/>
              <a:buAutoNum type="arabicPeriod"/>
            </a:pPr>
            <a:r>
              <a:rPr lang="en-US" b="1" dirty="0">
                <a:solidFill>
                  <a:srgbClr val="707070"/>
                </a:solidFill>
                <a:latin typeface="HelveticaNowDisplay"/>
              </a:rPr>
              <a:t>Flexibility: </a:t>
            </a:r>
            <a:r>
              <a:rPr lang="en-US" dirty="0">
                <a:solidFill>
                  <a:srgbClr val="707070"/>
                </a:solidFill>
                <a:latin typeface="HelveticaNowDisplay"/>
              </a:rPr>
              <a:t>They are a very agile container platform. It is deployed easily across clouds, providing users with an integrated view of all their applications across different environments. Easily portable across different platforms.</a:t>
            </a:r>
          </a:p>
          <a:p>
            <a:endParaRPr lang="en-IN" dirty="0"/>
          </a:p>
        </p:txBody>
      </p:sp>
    </p:spTree>
    <p:extLst>
      <p:ext uri="{BB962C8B-B14F-4D97-AF65-F5344CB8AC3E}">
        <p14:creationId xmlns:p14="http://schemas.microsoft.com/office/powerpoint/2010/main" val="3693124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Docker--diagram</a:t>
            </a:r>
            <a:endParaRPr lang="en-IN" dirty="0"/>
          </a:p>
        </p:txBody>
      </p:sp>
      <p:pic>
        <p:nvPicPr>
          <p:cNvPr id="4" name="Content Placeholder 3"/>
          <p:cNvPicPr>
            <a:picLocks noGrp="1" noChangeAspect="1"/>
          </p:cNvPicPr>
          <p:nvPr>
            <p:ph idx="1"/>
          </p:nvPr>
        </p:nvPicPr>
        <p:blipFill>
          <a:blip r:embed="rId2"/>
          <a:stretch>
            <a:fillRect/>
          </a:stretch>
        </p:blipFill>
        <p:spPr>
          <a:xfrm>
            <a:off x="3372435" y="1825625"/>
            <a:ext cx="5447129" cy="4351338"/>
          </a:xfrm>
          <a:prstGeom prst="rect">
            <a:avLst/>
          </a:prstGeom>
        </p:spPr>
      </p:pic>
    </p:spTree>
    <p:extLst>
      <p:ext uri="{BB962C8B-B14F-4D97-AF65-F5344CB8AC3E}">
        <p14:creationId xmlns:p14="http://schemas.microsoft.com/office/powerpoint/2010/main" val="12516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on </a:t>
            </a:r>
            <a:r>
              <a:rPr lang="en-US" dirty="0" err="1" smtClean="0"/>
              <a:t>docker</a:t>
            </a:r>
            <a:endParaRPr lang="en-IN" dirty="0"/>
          </a:p>
        </p:txBody>
      </p:sp>
      <p:sp>
        <p:nvSpPr>
          <p:cNvPr id="3" name="Content Placeholder 2"/>
          <p:cNvSpPr>
            <a:spLocks noGrp="1"/>
          </p:cNvSpPr>
          <p:nvPr>
            <p:ph idx="1"/>
          </p:nvPr>
        </p:nvSpPr>
        <p:spPr/>
        <p:txBody>
          <a:bodyPr>
            <a:normAutofit fontScale="92500" lnSpcReduction="10000"/>
          </a:bodyPr>
          <a:lstStyle/>
          <a:p>
            <a:r>
              <a:rPr lang="en-US" dirty="0">
                <a:solidFill>
                  <a:srgbClr val="000000"/>
                </a:solidFill>
                <a:latin typeface="Roboto"/>
              </a:rPr>
              <a:t>Docker provides tooling and a platform to manage the lifecycle of your containers:</a:t>
            </a:r>
          </a:p>
          <a:p>
            <a:r>
              <a:rPr lang="en-US" dirty="0">
                <a:solidFill>
                  <a:srgbClr val="000000"/>
                </a:solidFill>
                <a:latin typeface="Roboto"/>
              </a:rPr>
              <a:t>Develop your application and its supporting components using containers.</a:t>
            </a:r>
          </a:p>
          <a:p>
            <a:r>
              <a:rPr lang="en-US" dirty="0">
                <a:solidFill>
                  <a:srgbClr val="000000"/>
                </a:solidFill>
                <a:latin typeface="Roboto"/>
              </a:rPr>
              <a:t>The container becomes the unit for distributing and testing your application.</a:t>
            </a:r>
          </a:p>
          <a:p>
            <a:r>
              <a:rPr lang="en-US" dirty="0">
                <a:solidFill>
                  <a:srgbClr val="000000"/>
                </a:solidFill>
                <a:latin typeface="Roboto"/>
              </a:rPr>
              <a:t>When you're ready, deploy your application into your production environment, as a container or an orchestrated service. This works the same whether your production environment is a local data center, a cloud provider, or a hybrid of the two.</a:t>
            </a:r>
          </a:p>
          <a:p>
            <a:r>
              <a:rPr lang="en-US" dirty="0">
                <a:solidFill>
                  <a:srgbClr val="000000"/>
                </a:solidFill>
                <a:latin typeface="Roboto"/>
                <a:hlinkClick r:id="rId2"/>
              </a:rPr>
              <a:t>What can I use Docker for?</a:t>
            </a:r>
            <a:endParaRPr lang="en-US" dirty="0">
              <a:solidFill>
                <a:srgbClr val="000000"/>
              </a:solidFill>
              <a:latin typeface="Roboto"/>
            </a:endParaRPr>
          </a:p>
          <a:p>
            <a:endParaRPr lang="en-IN" dirty="0"/>
          </a:p>
        </p:txBody>
      </p:sp>
    </p:spTree>
    <p:extLst>
      <p:ext uri="{BB962C8B-B14F-4D97-AF65-F5344CB8AC3E}">
        <p14:creationId xmlns:p14="http://schemas.microsoft.com/office/powerpoint/2010/main" val="2479275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 architecture</a:t>
            </a:r>
            <a:endParaRPr lang="en-IN" dirty="0"/>
          </a:p>
        </p:txBody>
      </p:sp>
      <p:pic>
        <p:nvPicPr>
          <p:cNvPr id="1026" name="Picture 2" descr="Docker Architecture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5263" y="1825625"/>
            <a:ext cx="824147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040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More on </a:t>
            </a:r>
            <a:r>
              <a:rPr lang="en-US" dirty="0" err="1">
                <a:solidFill>
                  <a:prstClr val="black"/>
                </a:solidFill>
              </a:rPr>
              <a:t>docker</a:t>
            </a:r>
            <a:endParaRPr lang="en-IN" dirty="0"/>
          </a:p>
        </p:txBody>
      </p:sp>
      <p:sp>
        <p:nvSpPr>
          <p:cNvPr id="3" name="Content Placeholder 2"/>
          <p:cNvSpPr>
            <a:spLocks noGrp="1"/>
          </p:cNvSpPr>
          <p:nvPr>
            <p:ph idx="1"/>
          </p:nvPr>
        </p:nvSpPr>
        <p:spPr/>
        <p:txBody>
          <a:bodyPr/>
          <a:lstStyle/>
          <a:p>
            <a:r>
              <a:rPr lang="en-US" dirty="0">
                <a:solidFill>
                  <a:srgbClr val="000000"/>
                </a:solidFill>
                <a:latin typeface="Roboto"/>
              </a:rPr>
              <a:t>Docker uses a client-server architecture. The Docker client talks to the Docker daemon, which does the heavy lifting of building, running, and distributing your Docker containers. The Docker client and daemon can run on the same system, or you can connect a Docker client to a remote Docker daemon. </a:t>
            </a:r>
            <a:endParaRPr lang="en-US" dirty="0" smtClean="0">
              <a:solidFill>
                <a:srgbClr val="000000"/>
              </a:solidFill>
              <a:latin typeface="Roboto"/>
            </a:endParaRPr>
          </a:p>
          <a:p>
            <a:r>
              <a:rPr lang="en-US" dirty="0" smtClean="0">
                <a:solidFill>
                  <a:srgbClr val="000000"/>
                </a:solidFill>
                <a:latin typeface="Roboto"/>
              </a:rPr>
              <a:t>The </a:t>
            </a:r>
            <a:r>
              <a:rPr lang="en-US" dirty="0">
                <a:solidFill>
                  <a:srgbClr val="000000"/>
                </a:solidFill>
                <a:latin typeface="Roboto"/>
              </a:rPr>
              <a:t>Docker client and daemon communicate using a REST API, over UNIX sockets or a network interface. Another Docker client is Docker Compose, that lets you work with applications consisting of a set of containers.</a:t>
            </a:r>
            <a:endParaRPr lang="en-IN" dirty="0"/>
          </a:p>
        </p:txBody>
      </p:sp>
    </p:spTree>
    <p:extLst>
      <p:ext uri="{BB962C8B-B14F-4D97-AF65-F5344CB8AC3E}">
        <p14:creationId xmlns:p14="http://schemas.microsoft.com/office/powerpoint/2010/main" val="868099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 in </a:t>
            </a:r>
            <a:r>
              <a:rPr lang="en-US" dirty="0" err="1" smtClean="0"/>
              <a:t>docker</a:t>
            </a:r>
            <a:endParaRPr lang="en-IN" dirty="0"/>
          </a:p>
        </p:txBody>
      </p:sp>
      <p:sp>
        <p:nvSpPr>
          <p:cNvPr id="3" name="Content Placeholder 2"/>
          <p:cNvSpPr>
            <a:spLocks noGrp="1"/>
          </p:cNvSpPr>
          <p:nvPr>
            <p:ph idx="1"/>
          </p:nvPr>
        </p:nvSpPr>
        <p:spPr/>
        <p:txBody>
          <a:bodyPr>
            <a:normAutofit fontScale="47500" lnSpcReduction="20000"/>
          </a:bodyPr>
          <a:lstStyle/>
          <a:p>
            <a:pPr fontAlgn="base"/>
            <a:r>
              <a:rPr lang="en-US" b="1" dirty="0">
                <a:solidFill>
                  <a:srgbClr val="273239"/>
                </a:solidFill>
                <a:latin typeface="Nunito"/>
              </a:rPr>
              <a:t>1. Docker Image</a:t>
            </a:r>
          </a:p>
          <a:p>
            <a:pPr fontAlgn="base"/>
            <a:r>
              <a:rPr lang="en-US" dirty="0">
                <a:solidFill>
                  <a:srgbClr val="273239"/>
                </a:solidFill>
                <a:latin typeface="Nunito"/>
              </a:rPr>
              <a:t>It is a file, comprised of multiple layers, used to execute code in a Docker container.</a:t>
            </a:r>
          </a:p>
          <a:p>
            <a:pPr fontAlgn="base"/>
            <a:r>
              <a:rPr lang="en-US" dirty="0">
                <a:solidFill>
                  <a:srgbClr val="273239"/>
                </a:solidFill>
                <a:latin typeface="Nunito"/>
              </a:rPr>
              <a:t>They are a set of instructions used to create </a:t>
            </a:r>
            <a:r>
              <a:rPr lang="en-US" dirty="0" err="1">
                <a:solidFill>
                  <a:srgbClr val="273239"/>
                </a:solidFill>
                <a:latin typeface="Nunito"/>
              </a:rPr>
              <a:t>docker</a:t>
            </a:r>
            <a:r>
              <a:rPr lang="en-US" dirty="0">
                <a:solidFill>
                  <a:srgbClr val="273239"/>
                </a:solidFill>
                <a:latin typeface="Nunito"/>
              </a:rPr>
              <a:t> containers.</a:t>
            </a:r>
          </a:p>
          <a:p>
            <a:pPr fontAlgn="base"/>
            <a:r>
              <a:rPr lang="en-US" b="1" dirty="0">
                <a:solidFill>
                  <a:srgbClr val="273239"/>
                </a:solidFill>
                <a:latin typeface="Nunito"/>
              </a:rPr>
              <a:t>2. Docker Container</a:t>
            </a:r>
          </a:p>
          <a:p>
            <a:pPr fontAlgn="base"/>
            <a:r>
              <a:rPr lang="en-US" dirty="0">
                <a:solidFill>
                  <a:srgbClr val="273239"/>
                </a:solidFill>
                <a:latin typeface="Nunito"/>
              </a:rPr>
              <a:t>It is a runtime instance of an image.</a:t>
            </a:r>
          </a:p>
          <a:p>
            <a:pPr fontAlgn="base"/>
            <a:r>
              <a:rPr lang="en-US" dirty="0">
                <a:solidFill>
                  <a:srgbClr val="273239"/>
                </a:solidFill>
                <a:latin typeface="Nunito"/>
              </a:rPr>
              <a:t>Allows developers to package applications with all parts needed such as libraries and other dependencies.</a:t>
            </a:r>
          </a:p>
          <a:p>
            <a:pPr fontAlgn="base"/>
            <a:r>
              <a:rPr lang="en-US" b="1" dirty="0">
                <a:solidFill>
                  <a:srgbClr val="273239"/>
                </a:solidFill>
                <a:latin typeface="Nunito"/>
              </a:rPr>
              <a:t>3. Docker file</a:t>
            </a:r>
          </a:p>
          <a:p>
            <a:pPr fontAlgn="base"/>
            <a:r>
              <a:rPr lang="en-US" dirty="0">
                <a:solidFill>
                  <a:srgbClr val="273239"/>
                </a:solidFill>
                <a:latin typeface="Nunito"/>
              </a:rPr>
              <a:t>It is a text document that contains necessary commands which on execution helps assemble a Docker Image.</a:t>
            </a:r>
          </a:p>
          <a:p>
            <a:pPr fontAlgn="base"/>
            <a:r>
              <a:rPr lang="en-US" dirty="0">
                <a:solidFill>
                  <a:srgbClr val="273239"/>
                </a:solidFill>
                <a:latin typeface="Nunito"/>
              </a:rPr>
              <a:t>Docker image is created using a Docker file.</a:t>
            </a:r>
          </a:p>
          <a:p>
            <a:pPr fontAlgn="base"/>
            <a:r>
              <a:rPr lang="en-US" b="1" dirty="0">
                <a:solidFill>
                  <a:srgbClr val="273239"/>
                </a:solidFill>
                <a:latin typeface="Nunito"/>
              </a:rPr>
              <a:t>4. Docker Engine</a:t>
            </a:r>
          </a:p>
          <a:p>
            <a:pPr fontAlgn="base"/>
            <a:r>
              <a:rPr lang="en-US" dirty="0">
                <a:solidFill>
                  <a:srgbClr val="273239"/>
                </a:solidFill>
                <a:latin typeface="Nunito"/>
              </a:rPr>
              <a:t>The software that hosts the containers is named Docker Engine.</a:t>
            </a:r>
          </a:p>
          <a:p>
            <a:pPr fontAlgn="base"/>
            <a:r>
              <a:rPr lang="en-US" dirty="0">
                <a:solidFill>
                  <a:srgbClr val="273239"/>
                </a:solidFill>
                <a:latin typeface="Nunito"/>
              </a:rPr>
              <a:t>Docker Engine is a client-server based application</a:t>
            </a:r>
          </a:p>
          <a:p>
            <a:pPr fontAlgn="base"/>
            <a:r>
              <a:rPr lang="en-US" dirty="0">
                <a:solidFill>
                  <a:srgbClr val="273239"/>
                </a:solidFill>
                <a:latin typeface="Nunito"/>
              </a:rPr>
              <a:t>The </a:t>
            </a:r>
            <a:r>
              <a:rPr lang="en-US" dirty="0" err="1">
                <a:solidFill>
                  <a:srgbClr val="273239"/>
                </a:solidFill>
                <a:latin typeface="Nunito"/>
              </a:rPr>
              <a:t>docker</a:t>
            </a:r>
            <a:r>
              <a:rPr lang="en-US" dirty="0">
                <a:solidFill>
                  <a:srgbClr val="273239"/>
                </a:solidFill>
                <a:latin typeface="Nunito"/>
              </a:rPr>
              <a:t> engine has </a:t>
            </a:r>
            <a:r>
              <a:rPr lang="en-US" b="1" dirty="0">
                <a:solidFill>
                  <a:srgbClr val="273239"/>
                </a:solidFill>
                <a:latin typeface="Nunito"/>
              </a:rPr>
              <a:t>3 main</a:t>
            </a:r>
            <a:r>
              <a:rPr lang="en-US" dirty="0">
                <a:solidFill>
                  <a:srgbClr val="273239"/>
                </a:solidFill>
                <a:latin typeface="Nunito"/>
              </a:rPr>
              <a:t> components:</a:t>
            </a:r>
          </a:p>
          <a:p>
            <a:pPr marL="742950" lvl="1" indent="-285750" fontAlgn="base"/>
            <a:r>
              <a:rPr lang="en-US" b="1" dirty="0">
                <a:solidFill>
                  <a:srgbClr val="273239"/>
                </a:solidFill>
                <a:latin typeface="Nunito"/>
              </a:rPr>
              <a:t>Server</a:t>
            </a:r>
            <a:r>
              <a:rPr lang="en-US" dirty="0">
                <a:solidFill>
                  <a:srgbClr val="273239"/>
                </a:solidFill>
                <a:latin typeface="Nunito"/>
              </a:rPr>
              <a:t>: It is responsible for creating and managing Docker images, containers, networks, and volumes on the Docker. It is referred to as a daemon process.</a:t>
            </a:r>
          </a:p>
          <a:p>
            <a:pPr marL="742950" lvl="1" indent="-285750" fontAlgn="base"/>
            <a:r>
              <a:rPr lang="en-US" b="1" dirty="0">
                <a:solidFill>
                  <a:srgbClr val="273239"/>
                </a:solidFill>
                <a:latin typeface="Nunito"/>
              </a:rPr>
              <a:t>REST API</a:t>
            </a:r>
            <a:r>
              <a:rPr lang="en-US" dirty="0">
                <a:solidFill>
                  <a:srgbClr val="273239"/>
                </a:solidFill>
                <a:latin typeface="Nunito"/>
              </a:rPr>
              <a:t>: It specifies how the applications can interact with the Server and instructs it what to do.</a:t>
            </a:r>
          </a:p>
          <a:p>
            <a:pPr marL="742950" lvl="1" indent="-285750" fontAlgn="base"/>
            <a:r>
              <a:rPr lang="en-US" b="1" dirty="0">
                <a:solidFill>
                  <a:srgbClr val="273239"/>
                </a:solidFill>
                <a:latin typeface="Nunito"/>
              </a:rPr>
              <a:t>Client</a:t>
            </a:r>
            <a:r>
              <a:rPr lang="en-US" dirty="0">
                <a:solidFill>
                  <a:srgbClr val="273239"/>
                </a:solidFill>
                <a:latin typeface="Nunito"/>
              </a:rPr>
              <a:t>: The Client is a </a:t>
            </a:r>
            <a:r>
              <a:rPr lang="en-US" dirty="0" err="1">
                <a:solidFill>
                  <a:srgbClr val="273239"/>
                </a:solidFill>
                <a:latin typeface="Nunito"/>
              </a:rPr>
              <a:t>docker</a:t>
            </a:r>
            <a:r>
              <a:rPr lang="en-US" dirty="0">
                <a:solidFill>
                  <a:srgbClr val="273239"/>
                </a:solidFill>
                <a:latin typeface="Nunito"/>
              </a:rPr>
              <a:t> command-line interface (CLI), that allows us to interact with Docker using the </a:t>
            </a:r>
            <a:r>
              <a:rPr lang="en-US" dirty="0" err="1">
                <a:solidFill>
                  <a:srgbClr val="273239"/>
                </a:solidFill>
                <a:latin typeface="Nunito"/>
              </a:rPr>
              <a:t>docker</a:t>
            </a:r>
            <a:r>
              <a:rPr lang="en-US" dirty="0">
                <a:solidFill>
                  <a:srgbClr val="273239"/>
                </a:solidFill>
                <a:latin typeface="Nunito"/>
              </a:rPr>
              <a:t> commands</a:t>
            </a:r>
          </a:p>
          <a:p>
            <a:endParaRPr lang="en-IN" dirty="0"/>
          </a:p>
        </p:txBody>
      </p:sp>
    </p:spTree>
    <p:extLst>
      <p:ext uri="{BB962C8B-B14F-4D97-AF65-F5344CB8AC3E}">
        <p14:creationId xmlns:p14="http://schemas.microsoft.com/office/powerpoint/2010/main" val="755560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4" y="199505"/>
            <a:ext cx="10456025" cy="1491183"/>
          </a:xfrm>
        </p:spPr>
        <p:txBody>
          <a:bodyPr>
            <a:normAutofit fontScale="90000"/>
          </a:bodyPr>
          <a:lstStyle/>
          <a:p>
            <a:pPr fontAlgn="base"/>
            <a:r>
              <a:rPr lang="en-US" sz="3100" b="1" dirty="0">
                <a:solidFill>
                  <a:srgbClr val="273239"/>
                </a:solidFill>
                <a:latin typeface="Nunito"/>
              </a:rPr>
              <a:t>Difference between Docker Containers and Virtual Machines</a:t>
            </a:r>
            <a:r>
              <a:rPr lang="en-US" b="1" dirty="0">
                <a:solidFill>
                  <a:srgbClr val="273239"/>
                </a:solidFill>
                <a:latin typeface="Nunito"/>
              </a:rPr>
              <a:t/>
            </a:r>
            <a:br>
              <a:rPr lang="en-US" b="1" dirty="0">
                <a:solidFill>
                  <a:srgbClr val="273239"/>
                </a:solidFill>
                <a:latin typeface="Nunito"/>
              </a:rPr>
            </a:b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US" b="1" dirty="0">
                <a:solidFill>
                  <a:srgbClr val="273239"/>
                </a:solidFill>
                <a:latin typeface="Nunito"/>
              </a:rPr>
              <a:t>1. Docker Containers</a:t>
            </a:r>
          </a:p>
          <a:p>
            <a:pPr fontAlgn="base"/>
            <a:r>
              <a:rPr lang="en-US" dirty="0">
                <a:solidFill>
                  <a:srgbClr val="273239"/>
                </a:solidFill>
                <a:latin typeface="Nunito"/>
              </a:rPr>
              <a:t>Docker Containers contain binaries, libraries, and configuration files along with the application itself.</a:t>
            </a:r>
          </a:p>
          <a:p>
            <a:pPr fontAlgn="base"/>
            <a:r>
              <a:rPr lang="en-US" dirty="0">
                <a:solidFill>
                  <a:srgbClr val="273239"/>
                </a:solidFill>
                <a:latin typeface="Nunito"/>
              </a:rPr>
              <a:t>They don’t contain a guest OS for each container and rely on the underlying OS kernel, which makes the containers lightweight.</a:t>
            </a:r>
          </a:p>
          <a:p>
            <a:pPr fontAlgn="base"/>
            <a:r>
              <a:rPr lang="en-US" dirty="0">
                <a:solidFill>
                  <a:srgbClr val="273239"/>
                </a:solidFill>
                <a:latin typeface="Nunito"/>
              </a:rPr>
              <a:t>Containers share resources with other containers in the same host OS and provide OS-level process isolation.</a:t>
            </a:r>
          </a:p>
          <a:p>
            <a:pPr fontAlgn="base"/>
            <a:r>
              <a:rPr lang="en-US" b="1" dirty="0">
                <a:solidFill>
                  <a:srgbClr val="273239"/>
                </a:solidFill>
                <a:latin typeface="Nunito"/>
              </a:rPr>
              <a:t>2. Virtual Machines</a:t>
            </a:r>
          </a:p>
          <a:p>
            <a:pPr fontAlgn="base"/>
            <a:r>
              <a:rPr lang="en-US" dirty="0">
                <a:solidFill>
                  <a:srgbClr val="273239"/>
                </a:solidFill>
                <a:latin typeface="Nunito"/>
              </a:rPr>
              <a:t>Virtual Machines (VMs) run on Hypervisors, which allow multiple Virtual Machines to run on a single machine along with its own operating system.</a:t>
            </a:r>
          </a:p>
          <a:p>
            <a:pPr fontAlgn="base"/>
            <a:r>
              <a:rPr lang="en-US" dirty="0">
                <a:solidFill>
                  <a:srgbClr val="273239"/>
                </a:solidFill>
                <a:latin typeface="Nunito"/>
              </a:rPr>
              <a:t>Each VM has its own copy of an operating system along with the application and necessary binaries, which makes it significantly larger and it requires more resources.</a:t>
            </a:r>
          </a:p>
          <a:p>
            <a:pPr fontAlgn="base"/>
            <a:r>
              <a:rPr lang="en-US" dirty="0">
                <a:solidFill>
                  <a:srgbClr val="273239"/>
                </a:solidFill>
                <a:latin typeface="Nunito"/>
              </a:rPr>
              <a:t>They provide Hardware-level process isolation and are slow to boot.</a:t>
            </a:r>
          </a:p>
          <a:p>
            <a:endParaRPr lang="en-IN" dirty="0"/>
          </a:p>
        </p:txBody>
      </p:sp>
    </p:spTree>
    <p:extLst>
      <p:ext uri="{BB962C8B-B14F-4D97-AF65-F5344CB8AC3E}">
        <p14:creationId xmlns:p14="http://schemas.microsoft.com/office/powerpoint/2010/main" val="1379691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Docker file</a:t>
            </a:r>
            <a:endParaRPr lang="en-IN" dirty="0"/>
          </a:p>
        </p:txBody>
      </p:sp>
      <p:sp>
        <p:nvSpPr>
          <p:cNvPr id="3" name="Content Placeholder 2"/>
          <p:cNvSpPr>
            <a:spLocks noGrp="1"/>
          </p:cNvSpPr>
          <p:nvPr>
            <p:ph idx="1"/>
          </p:nvPr>
        </p:nvSpPr>
        <p:spPr/>
        <p:txBody>
          <a:bodyPr/>
          <a:lstStyle/>
          <a:p>
            <a:pPr marL="0" indent="0">
              <a:buNone/>
            </a:pPr>
            <a:endParaRPr lang="en-IN" dirty="0"/>
          </a:p>
        </p:txBody>
      </p:sp>
      <p:sp>
        <p:nvSpPr>
          <p:cNvPr id="8" name="Rectangle 7"/>
          <p:cNvSpPr/>
          <p:nvPr/>
        </p:nvSpPr>
        <p:spPr>
          <a:xfrm>
            <a:off x="1280161" y="2194559"/>
            <a:ext cx="9734204" cy="3970318"/>
          </a:xfrm>
          <a:prstGeom prst="rect">
            <a:avLst/>
          </a:prstGeom>
        </p:spPr>
        <p:txBody>
          <a:bodyPr wrap="square">
            <a:spAutoFit/>
          </a:bodyPr>
          <a:lstStyle/>
          <a:p>
            <a:r>
              <a:rPr lang="en-US" dirty="0"/>
              <a:t>A </a:t>
            </a:r>
            <a:r>
              <a:rPr lang="en-US" dirty="0" err="1"/>
              <a:t>Dockerfile</a:t>
            </a:r>
            <a:r>
              <a:rPr lang="en-US" dirty="0"/>
              <a:t> is a text document that contains commands that are used to assemble an image. We can use any command that call on the command line. Docker builds images automatically by reading the instructions from the </a:t>
            </a:r>
            <a:r>
              <a:rPr lang="en-US" dirty="0" err="1"/>
              <a:t>Dockerfile</a:t>
            </a:r>
            <a:r>
              <a:rPr lang="en-US" dirty="0"/>
              <a:t>.</a:t>
            </a:r>
          </a:p>
          <a:p>
            <a:endParaRPr lang="en-US" dirty="0"/>
          </a:p>
          <a:p>
            <a:r>
              <a:rPr lang="en-US" dirty="0"/>
              <a:t>The </a:t>
            </a:r>
            <a:r>
              <a:rPr lang="en-US" dirty="0" err="1"/>
              <a:t>docker</a:t>
            </a:r>
            <a:r>
              <a:rPr lang="en-US" dirty="0"/>
              <a:t> build command is used to build an image from the </a:t>
            </a:r>
            <a:r>
              <a:rPr lang="en-US" dirty="0" err="1"/>
              <a:t>Dockerfile</a:t>
            </a:r>
            <a:r>
              <a:rPr lang="en-US" dirty="0"/>
              <a:t>. You can use the -f flag with </a:t>
            </a:r>
            <a:r>
              <a:rPr lang="en-US" dirty="0" err="1"/>
              <a:t>docker</a:t>
            </a:r>
            <a:r>
              <a:rPr lang="en-US" dirty="0"/>
              <a:t> build to point to a </a:t>
            </a:r>
            <a:r>
              <a:rPr lang="en-US" dirty="0" err="1"/>
              <a:t>Dockerfile</a:t>
            </a:r>
            <a:r>
              <a:rPr lang="en-US" dirty="0"/>
              <a:t> anywhere in your file system.</a:t>
            </a:r>
          </a:p>
          <a:p>
            <a:endParaRPr lang="en-US" dirty="0"/>
          </a:p>
          <a:p>
            <a:r>
              <a:rPr lang="en-US" dirty="0"/>
              <a:t>$ </a:t>
            </a:r>
            <a:r>
              <a:rPr lang="en-US" dirty="0" err="1"/>
              <a:t>docker</a:t>
            </a:r>
            <a:r>
              <a:rPr lang="en-US" dirty="0"/>
              <a:t> build -f /path/to/a/</a:t>
            </a:r>
            <a:r>
              <a:rPr lang="en-US" dirty="0" err="1"/>
              <a:t>Dockerfile</a:t>
            </a:r>
            <a:r>
              <a:rPr lang="en-US" dirty="0"/>
              <a:t> .   </a:t>
            </a:r>
          </a:p>
          <a:p>
            <a:r>
              <a:rPr lang="en-US" dirty="0" err="1"/>
              <a:t>Dockerfile</a:t>
            </a:r>
            <a:r>
              <a:rPr lang="en-US" dirty="0"/>
              <a:t> Instructions</a:t>
            </a:r>
          </a:p>
          <a:p>
            <a:r>
              <a:rPr lang="en-US" dirty="0"/>
              <a:t>The instructions are not case-sensitive but you must follow conventions which recommend to use uppercase.</a:t>
            </a:r>
          </a:p>
          <a:p>
            <a:endParaRPr lang="en-US" dirty="0"/>
          </a:p>
          <a:p>
            <a:r>
              <a:rPr lang="en-US" dirty="0"/>
              <a:t>Docker runs instructions of </a:t>
            </a:r>
            <a:r>
              <a:rPr lang="en-US" dirty="0" err="1"/>
              <a:t>Dockerfile</a:t>
            </a:r>
            <a:r>
              <a:rPr lang="en-US" dirty="0"/>
              <a:t> in top to bottom order. The first instruction must be FROM in order to specify the Base Image.</a:t>
            </a:r>
          </a:p>
        </p:txBody>
      </p:sp>
    </p:spTree>
    <p:extLst>
      <p:ext uri="{BB962C8B-B14F-4D97-AF65-F5344CB8AC3E}">
        <p14:creationId xmlns:p14="http://schemas.microsoft.com/office/powerpoint/2010/main" val="41509149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a:t>
            </a:r>
            <a:r>
              <a:rPr lang="en-US" dirty="0" err="1" smtClean="0"/>
              <a:t>kubernetes</a:t>
            </a:r>
            <a:endParaRPr lang="en-IN" dirty="0"/>
          </a:p>
        </p:txBody>
      </p:sp>
      <p:sp>
        <p:nvSpPr>
          <p:cNvPr id="3" name="Content Placeholder 2"/>
          <p:cNvSpPr>
            <a:spLocks noGrp="1"/>
          </p:cNvSpPr>
          <p:nvPr>
            <p:ph idx="1"/>
          </p:nvPr>
        </p:nvSpPr>
        <p:spPr/>
        <p:txBody>
          <a:bodyPr/>
          <a:lstStyle/>
          <a:p>
            <a:r>
              <a:rPr lang="en-US" dirty="0">
                <a:solidFill>
                  <a:srgbClr val="222222"/>
                </a:solidFill>
                <a:latin typeface="open sans"/>
              </a:rPr>
              <a:t>Kubernetes is a portable, extensible, open source platform for managing containerized workloads and services, that facilitates both declarative configuration and automation. It has a large, rapidly growing ecosystem. Kubernetes services, support, and tools are widely available.</a:t>
            </a:r>
          </a:p>
          <a:p>
            <a:r>
              <a:rPr lang="en-US" dirty="0">
                <a:solidFill>
                  <a:srgbClr val="222222"/>
                </a:solidFill>
                <a:latin typeface="open sans"/>
              </a:rPr>
              <a:t>The name Kubernetes originates from Greek, meaning helmsman or pilot. K8s as an abbreviation results from counting the eight letters between the "K" and the "s". </a:t>
            </a:r>
          </a:p>
          <a:p>
            <a:endParaRPr lang="en-IN" dirty="0"/>
          </a:p>
        </p:txBody>
      </p:sp>
    </p:spTree>
    <p:extLst>
      <p:ext uri="{BB962C8B-B14F-4D97-AF65-F5344CB8AC3E}">
        <p14:creationId xmlns:p14="http://schemas.microsoft.com/office/powerpoint/2010/main" val="2457569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Kubernetes architecture</a:t>
            </a:r>
            <a:endParaRPr lang="en-IN" dirty="0"/>
          </a:p>
        </p:txBody>
      </p:sp>
      <p:pic>
        <p:nvPicPr>
          <p:cNvPr id="4098" name="Picture 2" descr="kubernetes architecture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5399" y="1825625"/>
            <a:ext cx="736120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607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Describing </a:t>
            </a:r>
            <a:r>
              <a:rPr lang="en-US" dirty="0" err="1" smtClean="0"/>
              <a:t>kubernetes</a:t>
            </a:r>
            <a:endParaRPr lang="en-IN" dirty="0"/>
          </a:p>
        </p:txBody>
      </p:sp>
      <p:sp>
        <p:nvSpPr>
          <p:cNvPr id="3" name="Content Placeholder 2"/>
          <p:cNvSpPr>
            <a:spLocks noGrp="1"/>
          </p:cNvSpPr>
          <p:nvPr>
            <p:ph idx="1"/>
          </p:nvPr>
        </p:nvSpPr>
        <p:spPr/>
        <p:txBody>
          <a:bodyPr/>
          <a:lstStyle/>
          <a:p>
            <a:r>
              <a:rPr lang="en-US" dirty="0">
                <a:solidFill>
                  <a:srgbClr val="000000"/>
                </a:solidFill>
                <a:latin typeface="Noto Sans JP"/>
              </a:rPr>
              <a:t>Kubernetes provides a flexible architecture for discovering services within a cluster while maintaining loose connections. A Kubernetes cluster comprises a set of control planes and compute nodes. The primary role of the control plane is to oversee the entire cluster, expose the API, and manage the scheduling of compute nodes according to the desired settings. The compute nodes run container runtimes such as Docker, alongside a communication agent called </a:t>
            </a:r>
            <a:r>
              <a:rPr lang="en-US" dirty="0" err="1">
                <a:solidFill>
                  <a:srgbClr val="000000"/>
                </a:solidFill>
                <a:latin typeface="Noto Sans JP"/>
              </a:rPr>
              <a:t>kubelet</a:t>
            </a:r>
            <a:r>
              <a:rPr lang="en-US" dirty="0">
                <a:solidFill>
                  <a:srgbClr val="000000"/>
                </a:solidFill>
                <a:latin typeface="Noto Sans JP"/>
              </a:rPr>
              <a:t>, which interacts with the control plane. These nodes can consist of physical servers, virtual machines (VMs) in on-premises or cloud environments.</a:t>
            </a:r>
            <a:endParaRPr lang="en-IN" dirty="0"/>
          </a:p>
        </p:txBody>
      </p:sp>
    </p:spTree>
    <p:extLst>
      <p:ext uri="{BB962C8B-B14F-4D97-AF65-F5344CB8AC3E}">
        <p14:creationId xmlns:p14="http://schemas.microsoft.com/office/powerpoint/2010/main" val="2695911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kuberenetes can do?</a:t>
            </a:r>
            <a:endParaRPr lang="en-IN" dirty="0"/>
          </a:p>
        </p:txBody>
      </p:sp>
      <p:pic>
        <p:nvPicPr>
          <p:cNvPr id="5122" name="Picture 2" descr="https://images.clickittech.com/2020/wp-content/uploads/2022/04/13202311/Diagram-52.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7484" y="1825625"/>
            <a:ext cx="855379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052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IN" dirty="0"/>
          </a:p>
        </p:txBody>
      </p:sp>
      <p:sp>
        <p:nvSpPr>
          <p:cNvPr id="3" name="Content Placeholder 2"/>
          <p:cNvSpPr>
            <a:spLocks noGrp="1"/>
          </p:cNvSpPr>
          <p:nvPr>
            <p:ph idx="1"/>
          </p:nvPr>
        </p:nvSpPr>
        <p:spPr/>
        <p:txBody>
          <a:bodyPr/>
          <a:lstStyle/>
          <a:p>
            <a:endParaRPr lang="en-IN" dirty="0"/>
          </a:p>
        </p:txBody>
      </p:sp>
      <p:pic>
        <p:nvPicPr>
          <p:cNvPr id="6146" name="Picture 2" descr="kubernetes advantages&#10;&#10;&#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9"/>
            <a:ext cx="8738062" cy="4595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22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cases</a:t>
            </a:r>
            <a:endParaRPr lang="en-IN" dirty="0"/>
          </a:p>
        </p:txBody>
      </p:sp>
      <p:pic>
        <p:nvPicPr>
          <p:cNvPr id="7170" name="Picture 2" descr="https://scand.com/wp-content/uploads/2022/11/body_2_Kubernetes-Implementation-Cases.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1023" y="1825625"/>
            <a:ext cx="882995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717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a:t>
            </a:r>
            <a:r>
              <a:rPr lang="en-US" dirty="0" err="1" smtClean="0"/>
              <a:t>kubernetes</a:t>
            </a:r>
            <a:endParaRPr lang="en-IN" dirty="0"/>
          </a:p>
        </p:txBody>
      </p:sp>
      <p:pic>
        <p:nvPicPr>
          <p:cNvPr id="8194" name="Picture 2" descr="https://scand.com/wp-content/uploads/2022/11/body_1_What-is-Kubernetes-used-for.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580267"/>
            <a:ext cx="10515600" cy="2842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974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descr="Creative Thank You Presentation Template - SlideKi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825625"/>
            <a:ext cx="10665229" cy="4844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841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B15D6256FBBA439A36F38EE88BD2AC" ma:contentTypeVersion="3" ma:contentTypeDescription="Create a new document." ma:contentTypeScope="" ma:versionID="c6325cbf402974fda821c753a292e590">
  <xsd:schema xmlns:xsd="http://www.w3.org/2001/XMLSchema" xmlns:xs="http://www.w3.org/2001/XMLSchema" xmlns:p="http://schemas.microsoft.com/office/2006/metadata/properties" xmlns:ns2="acc976f4-dadb-41a7-94d5-36ea14b71f8e" targetNamespace="http://schemas.microsoft.com/office/2006/metadata/properties" ma:root="true" ma:fieldsID="6d9e46238dc6d752bdcae7b3bc232150" ns2:_="">
    <xsd:import namespace="acc976f4-dadb-41a7-94d5-36ea14b71f8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c976f4-dadb-41a7-94d5-36ea14b71f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E15AB6-94A3-41DF-8967-DE5AD0473C4B}"/>
</file>

<file path=customXml/itemProps2.xml><?xml version="1.0" encoding="utf-8"?>
<ds:datastoreItem xmlns:ds="http://schemas.openxmlformats.org/officeDocument/2006/customXml" ds:itemID="{F4AD4CF7-97CD-4C52-94C9-BF6ED2343B8C}"/>
</file>

<file path=customXml/itemProps3.xml><?xml version="1.0" encoding="utf-8"?>
<ds:datastoreItem xmlns:ds="http://schemas.openxmlformats.org/officeDocument/2006/customXml" ds:itemID="{9018DCB8-7574-49ED-A5C5-F9F9FE52FD12}"/>
</file>

<file path=docProps/app.xml><?xml version="1.0" encoding="utf-8"?>
<Properties xmlns="http://schemas.openxmlformats.org/officeDocument/2006/extended-properties" xmlns:vt="http://schemas.openxmlformats.org/officeDocument/2006/docPropsVTypes">
  <TotalTime>63</TotalTime>
  <Words>975</Words>
  <Application>Microsoft Office PowerPoint</Application>
  <PresentationFormat>Widescreen</PresentationFormat>
  <Paragraphs>107</Paragraphs>
  <Slides>27</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27</vt:i4>
      </vt:variant>
    </vt:vector>
  </HeadingPairs>
  <TitlesOfParts>
    <vt:vector size="42" baseType="lpstr">
      <vt:lpstr>AmazonEmber</vt:lpstr>
      <vt:lpstr>Arial</vt:lpstr>
      <vt:lpstr>Calibri</vt:lpstr>
      <vt:lpstr>Calibri Light</vt:lpstr>
      <vt:lpstr>Google Sans</vt:lpstr>
      <vt:lpstr>Google Sans Text</vt:lpstr>
      <vt:lpstr>Helvetica Neue</vt:lpstr>
      <vt:lpstr>HelveticaNowDisplay</vt:lpstr>
      <vt:lpstr>Noto Sans JP</vt:lpstr>
      <vt:lpstr>Nunito</vt:lpstr>
      <vt:lpstr>open sans</vt:lpstr>
      <vt:lpstr>Roboto</vt:lpstr>
      <vt:lpstr>Roboto</vt:lpstr>
      <vt:lpstr>Roboto Mono</vt:lpstr>
      <vt:lpstr>Office Theme</vt:lpstr>
      <vt:lpstr>Container &amp; Docker</vt:lpstr>
      <vt:lpstr>Container - diagram</vt:lpstr>
      <vt:lpstr>Defining containers</vt:lpstr>
      <vt:lpstr>Containers- benefits</vt:lpstr>
      <vt:lpstr>Benefits –continued </vt:lpstr>
      <vt:lpstr>Use of containers</vt:lpstr>
      <vt:lpstr>Disadvantages of  containers</vt:lpstr>
      <vt:lpstr>What is a dockerfile?</vt:lpstr>
      <vt:lpstr>Contents of file</vt:lpstr>
      <vt:lpstr>What is  a docker ?</vt:lpstr>
      <vt:lpstr>PowerPoint Presentation</vt:lpstr>
      <vt:lpstr>Benefits of docker </vt:lpstr>
      <vt:lpstr>Docker--diagram</vt:lpstr>
      <vt:lpstr>More on docker</vt:lpstr>
      <vt:lpstr>Docker architecture</vt:lpstr>
      <vt:lpstr>More on docker</vt:lpstr>
      <vt:lpstr>Terminology in docker</vt:lpstr>
      <vt:lpstr>Difference between Docker Containers and Virtual Machines </vt:lpstr>
      <vt:lpstr>Docker file</vt:lpstr>
      <vt:lpstr>What is a kubernetes</vt:lpstr>
      <vt:lpstr>Kubernetes architecture</vt:lpstr>
      <vt:lpstr>Describing kubernetes</vt:lpstr>
      <vt:lpstr>What kuberenetes can do?</vt:lpstr>
      <vt:lpstr>Advantages</vt:lpstr>
      <vt:lpstr>Use cases</vt:lpstr>
      <vt:lpstr>Benefits of kubernetes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Deshmukh</dc:creator>
  <cp:lastModifiedBy>Sanjay Deshmukh (MPSTME)</cp:lastModifiedBy>
  <cp:revision>10</cp:revision>
  <dcterms:created xsi:type="dcterms:W3CDTF">2023-10-05T11:17:08Z</dcterms:created>
  <dcterms:modified xsi:type="dcterms:W3CDTF">2023-10-06T09:32:23Z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0x010100E4B15D6256FBBA439A36F38EE88BD2AC</vt:lpwstr>
  </property>
  <property fmtid="{D5CDD505-2E9C-101B-9397-08002B2CF9AE}" pid="3" name="Order">
    <vt:r8>1400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